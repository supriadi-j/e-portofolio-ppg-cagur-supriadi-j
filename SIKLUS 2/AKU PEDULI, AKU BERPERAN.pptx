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1" r:id="rId3"/>
    <p:sldId id="256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Francois One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  <p:embeddedFont>
      <p:font typeface="Open Sans Bold Italics" panose="020B0604020202020204" charset="0"/>
      <p:regular r:id="rId18"/>
    </p:embeddedFont>
    <p:embeddedFont>
      <p:font typeface="Open Sans Italics" panose="020B0604020202020204" charset="0"/>
      <p:regular r:id="rId19"/>
    </p:embeddedFont>
    <p:embeddedFont>
      <p:font typeface="Poppi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3030" y="-446387"/>
            <a:ext cx="9607030" cy="11179775"/>
            <a:chOff x="0" y="0"/>
            <a:chExt cx="2530247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30247" cy="2944467"/>
            </a:xfrm>
            <a:custGeom>
              <a:avLst/>
              <a:gdLst/>
              <a:ahLst/>
              <a:cxnLst/>
              <a:rect l="l" t="t" r="r" b="b"/>
              <a:pathLst>
                <a:path w="2530247" h="2944467">
                  <a:moveTo>
                    <a:pt x="0" y="0"/>
                  </a:moveTo>
                  <a:lnTo>
                    <a:pt x="2530247" y="0"/>
                  </a:lnTo>
                  <a:lnTo>
                    <a:pt x="2530247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0247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186495" y="2371844"/>
            <a:ext cx="7072805" cy="5543311"/>
          </a:xfrm>
          <a:custGeom>
            <a:avLst/>
            <a:gdLst/>
            <a:ahLst/>
            <a:cxnLst/>
            <a:rect l="l" t="t" r="r" b="b"/>
            <a:pathLst>
              <a:path w="7072805" h="5543311">
                <a:moveTo>
                  <a:pt x="0" y="0"/>
                </a:moveTo>
                <a:lnTo>
                  <a:pt x="7072805" y="0"/>
                </a:lnTo>
                <a:lnTo>
                  <a:pt x="7072805" y="5543312"/>
                </a:lnTo>
                <a:lnTo>
                  <a:pt x="0" y="554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070350"/>
            <a:ext cx="7250982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“Menurut kalian, apa yang terjadi jika semua orang hanya peduli pada dirinya sendiri?”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8800" y="10287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330" y="5471252"/>
            <a:ext cx="5336009" cy="4815748"/>
          </a:xfrm>
          <a:custGeom>
            <a:avLst/>
            <a:gdLst/>
            <a:ahLst/>
            <a:cxnLst/>
            <a:rect l="l" t="t" r="r" b="b"/>
            <a:pathLst>
              <a:path w="5336009" h="4815748">
                <a:moveTo>
                  <a:pt x="0" y="0"/>
                </a:moveTo>
                <a:lnTo>
                  <a:pt x="5336009" y="0"/>
                </a:lnTo>
                <a:lnTo>
                  <a:pt x="5336009" y="4815748"/>
                </a:lnTo>
                <a:lnTo>
                  <a:pt x="0" y="4815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2951991" y="5471252"/>
            <a:ext cx="5336009" cy="4815748"/>
          </a:xfrm>
          <a:custGeom>
            <a:avLst/>
            <a:gdLst/>
            <a:ahLst/>
            <a:cxnLst/>
            <a:rect l="l" t="t" r="r" b="b"/>
            <a:pathLst>
              <a:path w="5336009" h="4815748">
                <a:moveTo>
                  <a:pt x="5336009" y="0"/>
                </a:moveTo>
                <a:lnTo>
                  <a:pt x="0" y="0"/>
                </a:lnTo>
                <a:lnTo>
                  <a:pt x="0" y="4815748"/>
                </a:lnTo>
                <a:lnTo>
                  <a:pt x="5336009" y="4815748"/>
                </a:lnTo>
                <a:lnTo>
                  <a:pt x="533600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967457" cy="3853393"/>
          </a:xfrm>
          <a:custGeom>
            <a:avLst/>
            <a:gdLst/>
            <a:ahLst/>
            <a:cxnLst/>
            <a:rect l="l" t="t" r="r" b="b"/>
            <a:pathLst>
              <a:path w="3967457" h="3853393">
                <a:moveTo>
                  <a:pt x="0" y="0"/>
                </a:moveTo>
                <a:lnTo>
                  <a:pt x="3967457" y="0"/>
                </a:lnTo>
                <a:lnTo>
                  <a:pt x="3967457" y="3853393"/>
                </a:lnTo>
                <a:lnTo>
                  <a:pt x="0" y="3853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320543" y="0"/>
            <a:ext cx="3967457" cy="3853393"/>
          </a:xfrm>
          <a:custGeom>
            <a:avLst/>
            <a:gdLst/>
            <a:ahLst/>
            <a:cxnLst/>
            <a:rect l="l" t="t" r="r" b="b"/>
            <a:pathLst>
              <a:path w="3967457" h="3853393">
                <a:moveTo>
                  <a:pt x="3967457" y="0"/>
                </a:moveTo>
                <a:lnTo>
                  <a:pt x="0" y="0"/>
                </a:lnTo>
                <a:lnTo>
                  <a:pt x="0" y="3853393"/>
                </a:lnTo>
                <a:lnTo>
                  <a:pt x="3967457" y="3853393"/>
                </a:lnTo>
                <a:lnTo>
                  <a:pt x="396745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00703" y="1028700"/>
            <a:ext cx="5286594" cy="723792"/>
            <a:chOff x="0" y="0"/>
            <a:chExt cx="7048792" cy="9650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2102" cy="965056"/>
            </a:xfrm>
            <a:custGeom>
              <a:avLst/>
              <a:gdLst/>
              <a:ahLst/>
              <a:cxnLst/>
              <a:rect l="l" t="t" r="r" b="b"/>
              <a:pathLst>
                <a:path w="952102" h="965056">
                  <a:moveTo>
                    <a:pt x="0" y="0"/>
                  </a:moveTo>
                  <a:lnTo>
                    <a:pt x="952102" y="0"/>
                  </a:lnTo>
                  <a:lnTo>
                    <a:pt x="952102" y="965056"/>
                  </a:lnTo>
                  <a:lnTo>
                    <a:pt x="0" y="965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032662" y="0"/>
              <a:ext cx="984751" cy="965056"/>
            </a:xfrm>
            <a:custGeom>
              <a:avLst/>
              <a:gdLst/>
              <a:ahLst/>
              <a:cxnLst/>
              <a:rect l="l" t="t" r="r" b="b"/>
              <a:pathLst>
                <a:path w="984751" h="965056">
                  <a:moveTo>
                    <a:pt x="0" y="0"/>
                  </a:moveTo>
                  <a:lnTo>
                    <a:pt x="984751" y="0"/>
                  </a:lnTo>
                  <a:lnTo>
                    <a:pt x="984751" y="965056"/>
                  </a:lnTo>
                  <a:lnTo>
                    <a:pt x="0" y="965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91" t="-52012" r="-6436" b="-51869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97973" y="0"/>
              <a:ext cx="948345" cy="965056"/>
            </a:xfrm>
            <a:custGeom>
              <a:avLst/>
              <a:gdLst/>
              <a:ahLst/>
              <a:cxnLst/>
              <a:rect l="l" t="t" r="r" b="b"/>
              <a:pathLst>
                <a:path w="948345" h="965056">
                  <a:moveTo>
                    <a:pt x="0" y="0"/>
                  </a:moveTo>
                  <a:lnTo>
                    <a:pt x="948345" y="0"/>
                  </a:lnTo>
                  <a:lnTo>
                    <a:pt x="948345" y="965056"/>
                  </a:lnTo>
                  <a:lnTo>
                    <a:pt x="0" y="965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260" t="-7080" r="-8113" b="-727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138386" y="8862"/>
              <a:ext cx="3910405" cy="956194"/>
            </a:xfrm>
            <a:custGeom>
              <a:avLst/>
              <a:gdLst/>
              <a:ahLst/>
              <a:cxnLst/>
              <a:rect l="l" t="t" r="r" b="b"/>
              <a:pathLst>
                <a:path w="3910405" h="956194">
                  <a:moveTo>
                    <a:pt x="0" y="0"/>
                  </a:moveTo>
                  <a:lnTo>
                    <a:pt x="3910406" y="0"/>
                  </a:lnTo>
                  <a:lnTo>
                    <a:pt x="3910406" y="956194"/>
                  </a:lnTo>
                  <a:lnTo>
                    <a:pt x="0" y="95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395" t="-72172" r="-61003" b="-222108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476103" y="4479925"/>
            <a:ext cx="1333579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“AKU PEDULI, AKU BERPERAN”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43489" y="8474075"/>
            <a:ext cx="4201021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PPL PPG Calon Guru UNM</a:t>
            </a:r>
          </a:p>
          <a:p>
            <a:pPr algn="ctr">
              <a:lnSpc>
                <a:spcPts val="3500"/>
              </a:lnSpc>
            </a:pPr>
            <a:r>
              <a:rPr lang="en-US" sz="250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MTsN 1 Kota Makassar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9521" y="-446387"/>
            <a:ext cx="10671509" cy="11179775"/>
            <a:chOff x="0" y="0"/>
            <a:chExt cx="2810603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0603" cy="2944467"/>
            </a:xfrm>
            <a:custGeom>
              <a:avLst/>
              <a:gdLst/>
              <a:ahLst/>
              <a:cxnLst/>
              <a:rect l="l" t="t" r="r" b="b"/>
              <a:pathLst>
                <a:path w="2810603" h="2944467">
                  <a:moveTo>
                    <a:pt x="0" y="0"/>
                  </a:moveTo>
                  <a:lnTo>
                    <a:pt x="2810603" y="0"/>
                  </a:lnTo>
                  <a:lnTo>
                    <a:pt x="2810603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10603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697978" y="2442166"/>
            <a:ext cx="892044" cy="1107504"/>
          </a:xfrm>
          <a:custGeom>
            <a:avLst/>
            <a:gdLst/>
            <a:ahLst/>
            <a:cxnLst/>
            <a:rect l="l" t="t" r="r" b="b"/>
            <a:pathLst>
              <a:path w="892044" h="1107504">
                <a:moveTo>
                  <a:pt x="0" y="0"/>
                </a:moveTo>
                <a:lnTo>
                  <a:pt x="892044" y="0"/>
                </a:lnTo>
                <a:lnTo>
                  <a:pt x="892044" y="1107504"/>
                </a:lnTo>
                <a:lnTo>
                  <a:pt x="0" y="1107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97978" y="3898046"/>
            <a:ext cx="892044" cy="1107504"/>
          </a:xfrm>
          <a:custGeom>
            <a:avLst/>
            <a:gdLst/>
            <a:ahLst/>
            <a:cxnLst/>
            <a:rect l="l" t="t" r="r" b="b"/>
            <a:pathLst>
              <a:path w="892044" h="1107504">
                <a:moveTo>
                  <a:pt x="0" y="0"/>
                </a:moveTo>
                <a:lnTo>
                  <a:pt x="892044" y="0"/>
                </a:lnTo>
                <a:lnTo>
                  <a:pt x="892044" y="1107504"/>
                </a:lnTo>
                <a:lnTo>
                  <a:pt x="0" y="1107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97978" y="5653250"/>
            <a:ext cx="892044" cy="1107504"/>
          </a:xfrm>
          <a:custGeom>
            <a:avLst/>
            <a:gdLst/>
            <a:ahLst/>
            <a:cxnLst/>
            <a:rect l="l" t="t" r="r" b="b"/>
            <a:pathLst>
              <a:path w="892044" h="1107504">
                <a:moveTo>
                  <a:pt x="0" y="0"/>
                </a:moveTo>
                <a:lnTo>
                  <a:pt x="892044" y="0"/>
                </a:lnTo>
                <a:lnTo>
                  <a:pt x="892044" y="1107504"/>
                </a:lnTo>
                <a:lnTo>
                  <a:pt x="0" y="1107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97978" y="7519515"/>
            <a:ext cx="892044" cy="1107504"/>
          </a:xfrm>
          <a:custGeom>
            <a:avLst/>
            <a:gdLst/>
            <a:ahLst/>
            <a:cxnLst/>
            <a:rect l="l" t="t" r="r" b="b"/>
            <a:pathLst>
              <a:path w="892044" h="1107504">
                <a:moveTo>
                  <a:pt x="0" y="0"/>
                </a:moveTo>
                <a:lnTo>
                  <a:pt x="892044" y="0"/>
                </a:lnTo>
                <a:lnTo>
                  <a:pt x="892044" y="1107504"/>
                </a:lnTo>
                <a:lnTo>
                  <a:pt x="0" y="1107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5867" y="2312747"/>
            <a:ext cx="5661505" cy="5661505"/>
          </a:xfrm>
          <a:custGeom>
            <a:avLst/>
            <a:gdLst/>
            <a:ahLst/>
            <a:cxnLst/>
            <a:rect l="l" t="t" r="r" b="b"/>
            <a:pathLst>
              <a:path w="5661505" h="5661505">
                <a:moveTo>
                  <a:pt x="0" y="0"/>
                </a:moveTo>
                <a:lnTo>
                  <a:pt x="5661506" y="0"/>
                </a:lnTo>
                <a:lnTo>
                  <a:pt x="5661506" y="5661506"/>
                </a:lnTo>
                <a:lnTo>
                  <a:pt x="0" y="5661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826691" y="914400"/>
            <a:ext cx="7177169" cy="104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3"/>
              </a:lnSpc>
            </a:pPr>
            <a:r>
              <a:rPr lang="en-US" sz="6130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APA TUJUANNYA?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6690" y="2672385"/>
            <a:ext cx="7927909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Memahami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arti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tanggung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jawab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sosial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26691" y="3825085"/>
            <a:ext cx="735291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Mengetahui bentuk tanggung jawab di rumah, sekolah, dan masyarakat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6691" y="5700875"/>
            <a:ext cx="580458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Menumbuhkan sikap peduli terhadap orang lain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6691" y="7567140"/>
            <a:ext cx="680454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Mau berperan aktif menciptakan lingkungan yang baik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5770" y="-307374"/>
            <a:ext cx="12806320" cy="11179775"/>
            <a:chOff x="0" y="0"/>
            <a:chExt cx="3372858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72858" cy="2944467"/>
            </a:xfrm>
            <a:custGeom>
              <a:avLst/>
              <a:gdLst/>
              <a:ahLst/>
              <a:cxnLst/>
              <a:rect l="l" t="t" r="r" b="b"/>
              <a:pathLst>
                <a:path w="3372858" h="2944467">
                  <a:moveTo>
                    <a:pt x="0" y="0"/>
                  </a:moveTo>
                  <a:lnTo>
                    <a:pt x="3372858" y="0"/>
                  </a:lnTo>
                  <a:lnTo>
                    <a:pt x="3372858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72858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740550" y="-307374"/>
            <a:ext cx="6547450" cy="10594374"/>
          </a:xfrm>
          <a:custGeom>
            <a:avLst/>
            <a:gdLst/>
            <a:ahLst/>
            <a:cxnLst/>
            <a:rect l="l" t="t" r="r" b="b"/>
            <a:pathLst>
              <a:path w="6547450" h="10594374">
                <a:moveTo>
                  <a:pt x="0" y="0"/>
                </a:moveTo>
                <a:lnTo>
                  <a:pt x="6547450" y="0"/>
                </a:lnTo>
                <a:lnTo>
                  <a:pt x="6547450" y="10594374"/>
                </a:lnTo>
                <a:lnTo>
                  <a:pt x="0" y="10594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06" r="-12562" b="-220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62381"/>
            <a:ext cx="5738426" cy="3829095"/>
          </a:xfrm>
          <a:custGeom>
            <a:avLst/>
            <a:gdLst/>
            <a:ahLst/>
            <a:cxnLst/>
            <a:rect l="l" t="t" r="r" b="b"/>
            <a:pathLst>
              <a:path w="5738426" h="3829095">
                <a:moveTo>
                  <a:pt x="0" y="0"/>
                </a:moveTo>
                <a:lnTo>
                  <a:pt x="5738426" y="0"/>
                </a:lnTo>
                <a:lnTo>
                  <a:pt x="5738426" y="3829095"/>
                </a:lnTo>
                <a:lnTo>
                  <a:pt x="0" y="3829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38426" y="7262381"/>
            <a:ext cx="6002124" cy="3782695"/>
          </a:xfrm>
          <a:custGeom>
            <a:avLst/>
            <a:gdLst/>
            <a:ahLst/>
            <a:cxnLst/>
            <a:rect l="l" t="t" r="r" b="b"/>
            <a:pathLst>
              <a:path w="6002124" h="3782695">
                <a:moveTo>
                  <a:pt x="0" y="0"/>
                </a:moveTo>
                <a:lnTo>
                  <a:pt x="6002124" y="0"/>
                </a:lnTo>
                <a:lnTo>
                  <a:pt x="6002124" y="3782694"/>
                </a:lnTo>
                <a:lnTo>
                  <a:pt x="0" y="3782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71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933450"/>
            <a:ext cx="1071185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PENGERTIAN TANGGUNG JAWAB SOSIAL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529725"/>
            <a:ext cx="10259546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Tanggung Jawab Sosial adalah Kesadaran untuk peduli, membantu, dan memberi dampak positif bagi orang lain dan lingkungan sekitar.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053215"/>
            <a:ext cx="1006248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“Tidak hidup seenaknya sendiri, tetapi memikirkan orang lain juga.”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61065"/>
            <a:chOff x="0" y="0"/>
            <a:chExt cx="4816602" cy="4373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602" cy="437388"/>
            </a:xfrm>
            <a:custGeom>
              <a:avLst/>
              <a:gdLst/>
              <a:ahLst/>
              <a:cxnLst/>
              <a:rect l="l" t="t" r="r" b="b"/>
              <a:pathLst>
                <a:path w="4816602" h="437388">
                  <a:moveTo>
                    <a:pt x="4816602" y="0"/>
                  </a:moveTo>
                  <a:lnTo>
                    <a:pt x="4816602" y="437388"/>
                  </a:lnTo>
                  <a:lnTo>
                    <a:pt x="0" y="4373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43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602" cy="47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8902" y="278717"/>
            <a:ext cx="14872097" cy="951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“CONTOH DALAM KEHIDUPAN SEHARI-HARI”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552" y="2567848"/>
            <a:ext cx="7811342" cy="778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Sikap</a:t>
            </a:r>
            <a:r>
              <a:rPr lang="en-US" sz="4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Bertanggung</a:t>
            </a:r>
            <a:r>
              <a:rPr lang="en-US" sz="4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Jawab: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7387" y="2171700"/>
            <a:ext cx="7935973" cy="1588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Sikap</a:t>
            </a:r>
            <a:r>
              <a:rPr lang="en-US" sz="4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id-ID" sz="4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Tidak </a:t>
            </a:r>
            <a:r>
              <a:rPr lang="en-US" sz="46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Bertanggung</a:t>
            </a:r>
            <a:r>
              <a:rPr lang="en-US" sz="4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Jawab:</a:t>
            </a:r>
          </a:p>
        </p:txBody>
      </p:sp>
      <p:sp>
        <p:nvSpPr>
          <p:cNvPr id="8" name="AutoShape 8"/>
          <p:cNvSpPr/>
          <p:nvPr/>
        </p:nvSpPr>
        <p:spPr>
          <a:xfrm>
            <a:off x="9124950" y="2653573"/>
            <a:ext cx="19050" cy="7633427"/>
          </a:xfrm>
          <a:prstGeom prst="line">
            <a:avLst/>
          </a:prstGeom>
          <a:ln w="1905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416595" y="3570191"/>
            <a:ext cx="7811343" cy="523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Membantu teman yang kesulitan</a:t>
            </a:r>
          </a:p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Menjaga kebersihan kelas</a:t>
            </a:r>
          </a:p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Tidak mengejek teman</a:t>
            </a:r>
          </a:p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Menghormati guru dan orang tua</a:t>
            </a:r>
          </a:p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Ikut kerja bakti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9286" y="3570191"/>
            <a:ext cx="7811343" cy="416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❌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Membuang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sampah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sembarangan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849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❌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Membully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teman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849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❌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Merusak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fasilitas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sekolah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849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❌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Bersikap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cuek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terhadap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orang lain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8556" y="196408"/>
            <a:ext cx="10710889" cy="9894184"/>
          </a:xfrm>
          <a:custGeom>
            <a:avLst/>
            <a:gdLst/>
            <a:ahLst/>
            <a:cxnLst/>
            <a:rect l="l" t="t" r="r" b="b"/>
            <a:pathLst>
              <a:path w="10710889" h="9894184">
                <a:moveTo>
                  <a:pt x="0" y="0"/>
                </a:moveTo>
                <a:lnTo>
                  <a:pt x="10710888" y="0"/>
                </a:lnTo>
                <a:lnTo>
                  <a:pt x="10710888" y="9894184"/>
                </a:lnTo>
                <a:lnTo>
                  <a:pt x="0" y="9894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1522141" y="514985"/>
            <a:ext cx="1835487" cy="1775417"/>
          </a:xfrm>
          <a:custGeom>
            <a:avLst/>
            <a:gdLst/>
            <a:ahLst/>
            <a:cxnLst/>
            <a:rect l="l" t="t" r="r" b="b"/>
            <a:pathLst>
              <a:path w="1835487" h="1775417">
                <a:moveTo>
                  <a:pt x="0" y="0"/>
                </a:moveTo>
                <a:lnTo>
                  <a:pt x="1835487" y="0"/>
                </a:lnTo>
                <a:lnTo>
                  <a:pt x="1835487" y="1775417"/>
                </a:lnTo>
                <a:lnTo>
                  <a:pt x="0" y="1775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89969" y="7119842"/>
            <a:ext cx="2162700" cy="1738270"/>
          </a:xfrm>
          <a:custGeom>
            <a:avLst/>
            <a:gdLst/>
            <a:ahLst/>
            <a:cxnLst/>
            <a:rect l="l" t="t" r="r" b="b"/>
            <a:pathLst>
              <a:path w="2162700" h="1738270">
                <a:moveTo>
                  <a:pt x="0" y="0"/>
                </a:moveTo>
                <a:lnTo>
                  <a:pt x="2162701" y="0"/>
                </a:lnTo>
                <a:lnTo>
                  <a:pt x="2162701" y="1738270"/>
                </a:lnTo>
                <a:lnTo>
                  <a:pt x="0" y="1738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1600" y="7277464"/>
            <a:ext cx="2026431" cy="1980836"/>
          </a:xfrm>
          <a:custGeom>
            <a:avLst/>
            <a:gdLst/>
            <a:ahLst/>
            <a:cxnLst/>
            <a:rect l="l" t="t" r="r" b="b"/>
            <a:pathLst>
              <a:path w="2026431" h="1980836">
                <a:moveTo>
                  <a:pt x="0" y="0"/>
                </a:moveTo>
                <a:lnTo>
                  <a:pt x="2026431" y="0"/>
                </a:lnTo>
                <a:lnTo>
                  <a:pt x="2026431" y="1980836"/>
                </a:lnTo>
                <a:lnTo>
                  <a:pt x="0" y="1980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499444" y="52605"/>
            <a:ext cx="3816490" cy="3348970"/>
          </a:xfrm>
          <a:custGeom>
            <a:avLst/>
            <a:gdLst/>
            <a:ahLst/>
            <a:cxnLst/>
            <a:rect l="l" t="t" r="r" b="b"/>
            <a:pathLst>
              <a:path w="3816490" h="3348970">
                <a:moveTo>
                  <a:pt x="3816491" y="3348970"/>
                </a:moveTo>
                <a:lnTo>
                  <a:pt x="0" y="3348970"/>
                </a:lnTo>
                <a:lnTo>
                  <a:pt x="0" y="0"/>
                </a:lnTo>
                <a:lnTo>
                  <a:pt x="3816491" y="0"/>
                </a:lnTo>
                <a:lnTo>
                  <a:pt x="3816491" y="334897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47725" y="4036272"/>
            <a:ext cx="2989163" cy="352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9"/>
              </a:lnSpc>
            </a:pPr>
            <a:r>
              <a:rPr lang="en-US" sz="630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 </a:t>
            </a:r>
          </a:p>
          <a:p>
            <a:pPr algn="ctr">
              <a:lnSpc>
                <a:spcPts val="6449"/>
              </a:lnSpc>
            </a:pPr>
            <a:r>
              <a:rPr lang="en-US" sz="460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Lingkaran</a:t>
            </a:r>
          </a:p>
          <a:p>
            <a:pPr algn="ctr">
              <a:lnSpc>
                <a:spcPts val="6449"/>
              </a:lnSpc>
            </a:pPr>
            <a:r>
              <a:rPr lang="en-US" sz="460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Tanggung </a:t>
            </a:r>
          </a:p>
          <a:p>
            <a:pPr algn="ctr">
              <a:lnSpc>
                <a:spcPts val="6449"/>
              </a:lnSpc>
            </a:pPr>
            <a:r>
              <a:rPr lang="en-US" sz="460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Jawab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96231" y="2043330"/>
            <a:ext cx="229215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KELUARGA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75535" y="7408587"/>
            <a:ext cx="198209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SEKOLAH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33898" y="7507647"/>
            <a:ext cx="2411313" cy="45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MASYARAKAT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623652"/>
            <a:ext cx="4535373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Tanggung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jawab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sosial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d-ID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itu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dimulai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lingkungan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terdekat</a:t>
            </a:r>
            <a:r>
              <a:rPr lang="id-ID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kita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61608" y="-446387"/>
            <a:ext cx="11889422" cy="11179775"/>
            <a:chOff x="0" y="0"/>
            <a:chExt cx="3131370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1370" cy="2944467"/>
            </a:xfrm>
            <a:custGeom>
              <a:avLst/>
              <a:gdLst/>
              <a:ahLst/>
              <a:cxnLst/>
              <a:rect l="l" t="t" r="r" b="b"/>
              <a:pathLst>
                <a:path w="3131370" h="2944467">
                  <a:moveTo>
                    <a:pt x="0" y="0"/>
                  </a:moveTo>
                  <a:lnTo>
                    <a:pt x="3131370" y="0"/>
                  </a:lnTo>
                  <a:lnTo>
                    <a:pt x="3131370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31370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3259972" y="0"/>
            <a:ext cx="10121581" cy="10287000"/>
          </a:xfrm>
          <a:custGeom>
            <a:avLst/>
            <a:gdLst/>
            <a:ahLst/>
            <a:cxnLst/>
            <a:rect l="l" t="t" r="r" b="b"/>
            <a:pathLst>
              <a:path w="10121581" h="10287000">
                <a:moveTo>
                  <a:pt x="0" y="0"/>
                </a:moveTo>
                <a:lnTo>
                  <a:pt x="10121580" y="0"/>
                </a:lnTo>
                <a:lnTo>
                  <a:pt x="101215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61" r="-438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84411" y="3308821"/>
            <a:ext cx="960507" cy="883667"/>
          </a:xfrm>
          <a:custGeom>
            <a:avLst/>
            <a:gdLst/>
            <a:ahLst/>
            <a:cxnLst/>
            <a:rect l="l" t="t" r="r" b="b"/>
            <a:pathLst>
              <a:path w="960507" h="883667">
                <a:moveTo>
                  <a:pt x="0" y="0"/>
                </a:moveTo>
                <a:lnTo>
                  <a:pt x="960507" y="0"/>
                </a:lnTo>
                <a:lnTo>
                  <a:pt x="960507" y="883667"/>
                </a:lnTo>
                <a:lnTo>
                  <a:pt x="0" y="883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555426" y="4424277"/>
            <a:ext cx="893741" cy="1310820"/>
          </a:xfrm>
          <a:custGeom>
            <a:avLst/>
            <a:gdLst/>
            <a:ahLst/>
            <a:cxnLst/>
            <a:rect l="l" t="t" r="r" b="b"/>
            <a:pathLst>
              <a:path w="893741" h="1310820">
                <a:moveTo>
                  <a:pt x="0" y="0"/>
                </a:moveTo>
                <a:lnTo>
                  <a:pt x="893741" y="0"/>
                </a:lnTo>
                <a:lnTo>
                  <a:pt x="893741" y="1310820"/>
                </a:lnTo>
                <a:lnTo>
                  <a:pt x="0" y="1310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289954" y="5963697"/>
            <a:ext cx="1368271" cy="868852"/>
          </a:xfrm>
          <a:custGeom>
            <a:avLst/>
            <a:gdLst/>
            <a:ahLst/>
            <a:cxnLst/>
            <a:rect l="l" t="t" r="r" b="b"/>
            <a:pathLst>
              <a:path w="1368271" h="868852">
                <a:moveTo>
                  <a:pt x="0" y="0"/>
                </a:moveTo>
                <a:lnTo>
                  <a:pt x="1368271" y="0"/>
                </a:lnTo>
                <a:lnTo>
                  <a:pt x="1368271" y="868852"/>
                </a:lnTo>
                <a:lnTo>
                  <a:pt x="0" y="868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08309" y="7061149"/>
            <a:ext cx="1321509" cy="1304991"/>
          </a:xfrm>
          <a:custGeom>
            <a:avLst/>
            <a:gdLst/>
            <a:ahLst/>
            <a:cxnLst/>
            <a:rect l="l" t="t" r="r" b="b"/>
            <a:pathLst>
              <a:path w="1321509" h="1304991">
                <a:moveTo>
                  <a:pt x="0" y="0"/>
                </a:moveTo>
                <a:lnTo>
                  <a:pt x="1321509" y="0"/>
                </a:lnTo>
                <a:lnTo>
                  <a:pt x="1321509" y="1304990"/>
                </a:lnTo>
                <a:lnTo>
                  <a:pt x="0" y="1304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555426" y="666801"/>
            <a:ext cx="9493605" cy="114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7"/>
              </a:lnSpc>
            </a:pPr>
            <a:r>
              <a:rPr lang="en-US" sz="6662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LINGKARAN 1: KELUARGA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5426" y="2157957"/>
            <a:ext cx="6788845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Sikap yang Bisa Dilakukan: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72984" y="3427122"/>
            <a:ext cx="59531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Membantu pekerjaan rumah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7233" y="4756154"/>
            <a:ext cx="59531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Menghormati orang tua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6079494"/>
            <a:ext cx="59531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Menjaga kerukunan di rumah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7390111"/>
            <a:ext cx="59531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Membantu menjaga adik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72984" y="8836025"/>
            <a:ext cx="699948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“Keluarga adalah tempat pertama belajar peduli.”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5770" y="-307374"/>
            <a:ext cx="12682086" cy="11179775"/>
            <a:chOff x="0" y="0"/>
            <a:chExt cx="3340138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0138" cy="2944467"/>
            </a:xfrm>
            <a:custGeom>
              <a:avLst/>
              <a:gdLst/>
              <a:ahLst/>
              <a:cxnLst/>
              <a:rect l="l" t="t" r="r" b="b"/>
              <a:pathLst>
                <a:path w="3340138" h="2944467">
                  <a:moveTo>
                    <a:pt x="0" y="0"/>
                  </a:moveTo>
                  <a:lnTo>
                    <a:pt x="3340138" y="0"/>
                  </a:lnTo>
                  <a:lnTo>
                    <a:pt x="3340138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40138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434286" y="0"/>
            <a:ext cx="6853714" cy="10287000"/>
          </a:xfrm>
          <a:custGeom>
            <a:avLst/>
            <a:gdLst/>
            <a:ahLst/>
            <a:cxnLst/>
            <a:rect l="l" t="t" r="r" b="b"/>
            <a:pathLst>
              <a:path w="6853714" h="10287000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04875"/>
            <a:ext cx="9563037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LINGKARAN 2: SEKOLAH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341323"/>
            <a:ext cx="746760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Sikap Tanggung Jawab di Sekolah: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995373"/>
            <a:ext cx="6859985" cy="419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Tidak mencontek</a:t>
            </a:r>
          </a:p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Menjaga kebersihan kelas</a:t>
            </a:r>
          </a:p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Membantu teman belajar</a:t>
            </a:r>
          </a:p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Aktif dalam kegiatan sekolah</a:t>
            </a:r>
          </a:p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Menghargai perbedaan teman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1363" y="8493186"/>
            <a:ext cx="803771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“Sekolah yang nyaman tercipta dari siswa yang peduli.”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00170" y="-446387"/>
            <a:ext cx="11950861" cy="11179775"/>
            <a:chOff x="0" y="0"/>
            <a:chExt cx="3147552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7552" cy="2944467"/>
            </a:xfrm>
            <a:custGeom>
              <a:avLst/>
              <a:gdLst/>
              <a:ahLst/>
              <a:cxnLst/>
              <a:rect l="l" t="t" r="r" b="b"/>
              <a:pathLst>
                <a:path w="3147552" h="2944467">
                  <a:moveTo>
                    <a:pt x="0" y="0"/>
                  </a:moveTo>
                  <a:lnTo>
                    <a:pt x="3147552" y="0"/>
                  </a:lnTo>
                  <a:lnTo>
                    <a:pt x="3147552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47552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15878" y="0"/>
            <a:ext cx="7016047" cy="10287000"/>
          </a:xfrm>
          <a:custGeom>
            <a:avLst/>
            <a:gdLst/>
            <a:ahLst/>
            <a:cxnLst/>
            <a:rect l="l" t="t" r="r" b="b"/>
            <a:pathLst>
              <a:path w="7016047" h="10287000">
                <a:moveTo>
                  <a:pt x="0" y="0"/>
                </a:moveTo>
                <a:lnTo>
                  <a:pt x="7016048" y="0"/>
                </a:lnTo>
                <a:lnTo>
                  <a:pt x="7016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322" r="-9674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754485" y="904875"/>
            <a:ext cx="10042230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LINGKARAN 3: MASYARAKAT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01835" y="2502177"/>
            <a:ext cx="948647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Contoh Sikap di Masyarakat: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54485" y="3394352"/>
            <a:ext cx="7819231" cy="334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Ikut kerja bakti</a:t>
            </a:r>
          </a:p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Tidak membuat keributan</a:t>
            </a:r>
          </a:p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Menghormati orang yang lebih tua</a:t>
            </a:r>
          </a:p>
          <a:p>
            <a:pPr marL="734059" lvl="1" indent="-367030" algn="l">
              <a:lnSpc>
                <a:spcPts val="679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Peduli pada tetangga dan teman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57224" y="8325762"/>
            <a:ext cx="717569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“Lingkungan yang baik dimulai dari tindakan kecil.”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5770" y="-307374"/>
            <a:ext cx="11452511" cy="11179775"/>
            <a:chOff x="0" y="0"/>
            <a:chExt cx="3016299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6299" cy="2944467"/>
            </a:xfrm>
            <a:custGeom>
              <a:avLst/>
              <a:gdLst/>
              <a:ahLst/>
              <a:cxnLst/>
              <a:rect l="l" t="t" r="r" b="b"/>
              <a:pathLst>
                <a:path w="3016299" h="2944467">
                  <a:moveTo>
                    <a:pt x="0" y="0"/>
                  </a:moveTo>
                  <a:lnTo>
                    <a:pt x="3016299" y="0"/>
                  </a:lnTo>
                  <a:lnTo>
                    <a:pt x="3016299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16299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543197" y="3086100"/>
            <a:ext cx="4716103" cy="4114800"/>
          </a:xfrm>
          <a:custGeom>
            <a:avLst/>
            <a:gdLst/>
            <a:ahLst/>
            <a:cxnLst/>
            <a:rect l="l" t="t" r="r" b="b"/>
            <a:pathLst>
              <a:path w="4716103" h="4114800">
                <a:moveTo>
                  <a:pt x="0" y="0"/>
                </a:moveTo>
                <a:lnTo>
                  <a:pt x="4716103" y="0"/>
                </a:lnTo>
                <a:lnTo>
                  <a:pt x="47161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2368" y="1143424"/>
            <a:ext cx="8847527" cy="75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7"/>
              </a:lnSpc>
            </a:pPr>
            <a:r>
              <a:rPr lang="en-US" sz="4405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‘’MANFAAT TANGGUNG JAWAB SOSIAL”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0520" y="2702562"/>
            <a:ext cx="8510785" cy="59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8"/>
              </a:lnSpc>
            </a:pPr>
            <a:r>
              <a:rPr lang="en-US" sz="343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Membentuk Karakter Baik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217" y="3356056"/>
            <a:ext cx="8443830" cy="48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✨ </a:t>
            </a:r>
            <a:r>
              <a:rPr lang="en-US" sz="2862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Menjadi</a:t>
            </a:r>
            <a:r>
              <a:rPr lang="en-US" sz="2862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62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pribadi</a:t>
            </a:r>
            <a:r>
              <a:rPr lang="en-US" sz="2862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id-ID" sz="2862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bisa </a:t>
            </a:r>
            <a:r>
              <a:rPr lang="en-US" sz="2862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dipercaya</a:t>
            </a:r>
            <a:endParaRPr lang="en-US" sz="2862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20520" y="4324760"/>
            <a:ext cx="8510785" cy="59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8"/>
              </a:lnSpc>
            </a:pPr>
            <a:r>
              <a:rPr lang="en-US" sz="343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Menciptakan Lingkungan Nyaman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4217" y="4978253"/>
            <a:ext cx="8443830" cy="48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🏫 Sekolah jadi aman dan bersih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0520" y="5942977"/>
            <a:ext cx="8510785" cy="59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8"/>
              </a:lnSpc>
            </a:pPr>
            <a:r>
              <a:rPr lang="en-US" sz="343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Melatih Empati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217" y="6596471"/>
            <a:ext cx="8443830" cy="48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💞 Belajar memahami perasaan orang lain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0520" y="7561194"/>
            <a:ext cx="8510785" cy="59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8"/>
              </a:lnSpc>
            </a:pPr>
            <a:r>
              <a:rPr lang="en-US" sz="343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Persiapan Masa Depan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4217" y="8214688"/>
            <a:ext cx="8443830" cy="48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🌟 Melatih menjadi pemimpin yang baik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0205" y="1935097"/>
            <a:ext cx="4286646" cy="2855978"/>
          </a:xfrm>
          <a:custGeom>
            <a:avLst/>
            <a:gdLst/>
            <a:ahLst/>
            <a:cxnLst/>
            <a:rect l="l" t="t" r="r" b="b"/>
            <a:pathLst>
              <a:path w="4286646" h="2855978">
                <a:moveTo>
                  <a:pt x="0" y="0"/>
                </a:moveTo>
                <a:lnTo>
                  <a:pt x="4286646" y="0"/>
                </a:lnTo>
                <a:lnTo>
                  <a:pt x="4286646" y="2855978"/>
                </a:lnTo>
                <a:lnTo>
                  <a:pt x="0" y="285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10205" y="6043034"/>
            <a:ext cx="4286646" cy="2855978"/>
          </a:xfrm>
          <a:custGeom>
            <a:avLst/>
            <a:gdLst/>
            <a:ahLst/>
            <a:cxnLst/>
            <a:rect l="l" t="t" r="r" b="b"/>
            <a:pathLst>
              <a:path w="4286646" h="2855978">
                <a:moveTo>
                  <a:pt x="0" y="0"/>
                </a:moveTo>
                <a:lnTo>
                  <a:pt x="4286646" y="0"/>
                </a:lnTo>
                <a:lnTo>
                  <a:pt x="4286646" y="2855978"/>
                </a:lnTo>
                <a:lnTo>
                  <a:pt x="0" y="285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32342" y="1935097"/>
            <a:ext cx="4280075" cy="2855978"/>
          </a:xfrm>
          <a:custGeom>
            <a:avLst/>
            <a:gdLst/>
            <a:ahLst/>
            <a:cxnLst/>
            <a:rect l="l" t="t" r="r" b="b"/>
            <a:pathLst>
              <a:path w="4280075" h="2855978">
                <a:moveTo>
                  <a:pt x="0" y="0"/>
                </a:moveTo>
                <a:lnTo>
                  <a:pt x="4280076" y="0"/>
                </a:lnTo>
                <a:lnTo>
                  <a:pt x="4280076" y="2855978"/>
                </a:lnTo>
                <a:lnTo>
                  <a:pt x="0" y="2855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632342" y="6043034"/>
            <a:ext cx="4280075" cy="2851600"/>
            <a:chOff x="0" y="0"/>
            <a:chExt cx="5706767" cy="38021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06767" cy="3802134"/>
            </a:xfrm>
            <a:custGeom>
              <a:avLst/>
              <a:gdLst/>
              <a:ahLst/>
              <a:cxnLst/>
              <a:rect l="l" t="t" r="r" b="b"/>
              <a:pathLst>
                <a:path w="5706767" h="3802134">
                  <a:moveTo>
                    <a:pt x="0" y="0"/>
                  </a:moveTo>
                  <a:lnTo>
                    <a:pt x="5706767" y="0"/>
                  </a:lnTo>
                  <a:lnTo>
                    <a:pt x="5706767" y="3802134"/>
                  </a:lnTo>
                  <a:lnTo>
                    <a:pt x="0" y="3802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AutoShape 7"/>
            <p:cNvSpPr/>
            <p:nvPr/>
          </p:nvSpPr>
          <p:spPr>
            <a:xfrm>
              <a:off x="1333300" y="1843917"/>
              <a:ext cx="3040168" cy="0"/>
            </a:xfrm>
            <a:prstGeom prst="line">
              <a:avLst/>
            </a:prstGeom>
            <a:ln w="1143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8" name="Freeform 8"/>
          <p:cNvSpPr/>
          <p:nvPr/>
        </p:nvSpPr>
        <p:spPr>
          <a:xfrm>
            <a:off x="10302783" y="2306153"/>
            <a:ext cx="1962510" cy="1148068"/>
          </a:xfrm>
          <a:custGeom>
            <a:avLst/>
            <a:gdLst/>
            <a:ahLst/>
            <a:cxnLst/>
            <a:rect l="l" t="t" r="r" b="b"/>
            <a:pathLst>
              <a:path w="1962510" h="1148068">
                <a:moveTo>
                  <a:pt x="0" y="0"/>
                </a:moveTo>
                <a:lnTo>
                  <a:pt x="1962510" y="0"/>
                </a:lnTo>
                <a:lnTo>
                  <a:pt x="1962510" y="1148068"/>
                </a:lnTo>
                <a:lnTo>
                  <a:pt x="0" y="114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09653" y="481230"/>
            <a:ext cx="12868695" cy="99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7"/>
              </a:lnSpc>
            </a:pPr>
            <a:r>
              <a:rPr lang="en-US" sz="5848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JIKA TIDAK ADA TANGGUNG JAWAB SOSIAL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56548" y="5114925"/>
            <a:ext cx="370565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id-ID" sz="24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Terjadi </a:t>
            </a:r>
            <a:r>
              <a:rPr lang="en-US" sz="24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Banyak </a:t>
            </a:r>
            <a:r>
              <a:rPr lang="en-US" sz="24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konflik</a:t>
            </a:r>
            <a:endParaRPr lang="en-US" sz="24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10205" y="9229725"/>
            <a:ext cx="39983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Lingkungan kotor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67800" y="5114925"/>
            <a:ext cx="5428168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id-ID" sz="24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Hilangnya rasa saling menghargai</a:t>
            </a:r>
            <a:endParaRPr lang="en-US" sz="24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54406" y="9218484"/>
            <a:ext cx="4280074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Sulit </a:t>
            </a:r>
            <a:r>
              <a:rPr lang="en-US" sz="24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dipercaya</a:t>
            </a:r>
            <a:r>
              <a:rPr lang="en-US" sz="24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orang lain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47268" y="3936472"/>
            <a:ext cx="9593464" cy="2166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4"/>
              </a:lnSpc>
            </a:pPr>
            <a:r>
              <a:rPr lang="en-US" sz="12653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TERIMA KASIH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60454" y="6055253"/>
            <a:ext cx="736709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“Perubahan besar dimulai dari kepedulian kecil.”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48123" y="8836025"/>
            <a:ext cx="1388258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“Menjadi remaja hebat bukan hanya tentang pintar, tetapi juga tentang peduli dan mau berperan.”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381</Words>
  <Application>Microsoft Office PowerPoint</Application>
  <PresentationFormat>Kustom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13</vt:i4>
      </vt:variant>
    </vt:vector>
  </HeadingPairs>
  <TitlesOfParts>
    <vt:vector size="22" baseType="lpstr">
      <vt:lpstr>Open Sans Bold Italics</vt:lpstr>
      <vt:lpstr>Arial</vt:lpstr>
      <vt:lpstr>Open Sans</vt:lpstr>
      <vt:lpstr>Open Sans Italics</vt:lpstr>
      <vt:lpstr>Open Sans Bold</vt:lpstr>
      <vt:lpstr>Poppins Bold</vt:lpstr>
      <vt:lpstr>Francois One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AKU PEDULI, AKU BERPERAN</dc:title>
  <cp:lastModifiedBy>Supriadi J</cp:lastModifiedBy>
  <cp:revision>3</cp:revision>
  <dcterms:created xsi:type="dcterms:W3CDTF">2006-08-16T00:00:00Z</dcterms:created>
  <dcterms:modified xsi:type="dcterms:W3CDTF">2026-06-03T14:58:12Z</dcterms:modified>
  <dc:identifier>DAHJUyvtwEU</dc:identifier>
</cp:coreProperties>
</file>