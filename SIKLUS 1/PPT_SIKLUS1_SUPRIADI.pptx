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Open Sans" panose="020B0606030504020204" pitchFamily="34" charset="0"/>
      <p:regular r:id="rId14"/>
      <p:bold r:id="rId15"/>
    </p:embeddedFont>
    <p:embeddedFont>
      <p:font typeface="Open Sans Bold" panose="020B0806030504020204" charset="0"/>
      <p:regular r:id="rId16"/>
    </p:embeddedFont>
    <p:embeddedFont>
      <p:font typeface="Proxima Nova" panose="020B0604020202020204" charset="0"/>
      <p:regular r:id="rId17"/>
    </p:embeddedFont>
    <p:embeddedFont>
      <p:font typeface="Proxima Nova Bold" panose="020B0604020202020204" charset="0"/>
      <p:regular r:id="rId18"/>
    </p:embeddedFont>
    <p:embeddedFont>
      <p:font typeface="Proxima Nova Heavy"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8.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62400" y="2506549"/>
            <a:ext cx="4447839" cy="5767053"/>
          </a:xfrm>
          <a:custGeom>
            <a:avLst/>
            <a:gdLst/>
            <a:ahLst/>
            <a:cxnLst/>
            <a:rect l="l" t="t" r="r" b="b"/>
            <a:pathLst>
              <a:path w="4447839" h="5767053">
                <a:moveTo>
                  <a:pt x="0" y="0"/>
                </a:moveTo>
                <a:lnTo>
                  <a:pt x="4447840" y="0"/>
                </a:lnTo>
                <a:lnTo>
                  <a:pt x="4447840" y="5767052"/>
                </a:lnTo>
                <a:lnTo>
                  <a:pt x="0" y="5767052"/>
                </a:lnTo>
                <a:lnTo>
                  <a:pt x="0" y="0"/>
                </a:lnTo>
                <a:close/>
              </a:path>
            </a:pathLst>
          </a:custGeom>
          <a:blipFill>
            <a:blip r:embed="rId2"/>
            <a:stretch>
              <a:fillRect/>
            </a:stretch>
          </a:blipFill>
        </p:spPr>
      </p:sp>
      <p:sp>
        <p:nvSpPr>
          <p:cNvPr id="3" name="Freeform 3"/>
          <p:cNvSpPr/>
          <p:nvPr/>
        </p:nvSpPr>
        <p:spPr>
          <a:xfrm>
            <a:off x="11096563" y="3010683"/>
            <a:ext cx="8245775" cy="6029723"/>
          </a:xfrm>
          <a:custGeom>
            <a:avLst/>
            <a:gdLst/>
            <a:ahLst/>
            <a:cxnLst/>
            <a:rect l="l" t="t" r="r" b="b"/>
            <a:pathLst>
              <a:path w="8245775" h="6029723">
                <a:moveTo>
                  <a:pt x="0" y="0"/>
                </a:moveTo>
                <a:lnTo>
                  <a:pt x="8245775" y="0"/>
                </a:lnTo>
                <a:lnTo>
                  <a:pt x="8245775" y="6029722"/>
                </a:lnTo>
                <a:lnTo>
                  <a:pt x="0" y="6029722"/>
                </a:lnTo>
                <a:lnTo>
                  <a:pt x="0" y="0"/>
                </a:lnTo>
                <a:close/>
              </a:path>
            </a:pathLst>
          </a:custGeom>
          <a:blipFill>
            <a:blip r:embed="rId3"/>
            <a:stretch>
              <a:fillRect/>
            </a:stretch>
          </a:blipFill>
        </p:spPr>
      </p:sp>
      <p:sp>
        <p:nvSpPr>
          <p:cNvPr id="4" name="Freeform 4"/>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6195636" y="279812"/>
            <a:ext cx="6489111" cy="1079114"/>
            <a:chOff x="0" y="0"/>
            <a:chExt cx="8652147" cy="1438819"/>
          </a:xfrm>
        </p:grpSpPr>
        <p:sp>
          <p:nvSpPr>
            <p:cNvPr id="9" name="Freeform 9"/>
            <p:cNvSpPr/>
            <p:nvPr/>
          </p:nvSpPr>
          <p:spPr>
            <a:xfrm>
              <a:off x="0" y="0"/>
              <a:ext cx="1419506" cy="1438819"/>
            </a:xfrm>
            <a:custGeom>
              <a:avLst/>
              <a:gdLst/>
              <a:ahLst/>
              <a:cxnLst/>
              <a:rect l="l" t="t" r="r" b="b"/>
              <a:pathLst>
                <a:path w="1419506" h="1438819">
                  <a:moveTo>
                    <a:pt x="0" y="0"/>
                  </a:moveTo>
                  <a:lnTo>
                    <a:pt x="1419506" y="0"/>
                  </a:lnTo>
                  <a:lnTo>
                    <a:pt x="1419506" y="1438819"/>
                  </a:lnTo>
                  <a:lnTo>
                    <a:pt x="0" y="1438819"/>
                  </a:lnTo>
                  <a:lnTo>
                    <a:pt x="0" y="0"/>
                  </a:lnTo>
                  <a:close/>
                </a:path>
              </a:pathLst>
            </a:custGeom>
            <a:blipFill>
              <a:blip r:embed="rId6"/>
              <a:stretch>
                <a:fillRect/>
              </a:stretch>
            </a:blipFill>
          </p:spPr>
        </p:sp>
        <p:sp>
          <p:nvSpPr>
            <p:cNvPr id="10" name="Freeform 10"/>
            <p:cNvSpPr/>
            <p:nvPr/>
          </p:nvSpPr>
          <p:spPr>
            <a:xfrm>
              <a:off x="1536917" y="0"/>
              <a:ext cx="1438819" cy="1438819"/>
            </a:xfrm>
            <a:custGeom>
              <a:avLst/>
              <a:gdLst/>
              <a:ahLst/>
              <a:cxnLst/>
              <a:rect l="l" t="t" r="r" b="b"/>
              <a:pathLst>
                <a:path w="1438819" h="1438819">
                  <a:moveTo>
                    <a:pt x="0" y="0"/>
                  </a:moveTo>
                  <a:lnTo>
                    <a:pt x="1438819" y="0"/>
                  </a:lnTo>
                  <a:lnTo>
                    <a:pt x="1438819" y="1438819"/>
                  </a:lnTo>
                  <a:lnTo>
                    <a:pt x="0" y="1438819"/>
                  </a:lnTo>
                  <a:lnTo>
                    <a:pt x="0" y="0"/>
                  </a:lnTo>
                  <a:close/>
                </a:path>
              </a:pathLst>
            </a:custGeom>
            <a:blipFill>
              <a:blip r:embed="rId7"/>
              <a:stretch>
                <a:fillRect/>
              </a:stretch>
            </a:blipFill>
          </p:spPr>
        </p:sp>
        <p:sp>
          <p:nvSpPr>
            <p:cNvPr id="11" name="Freeform 11"/>
            <p:cNvSpPr/>
            <p:nvPr/>
          </p:nvSpPr>
          <p:spPr>
            <a:xfrm>
              <a:off x="3093147" y="0"/>
              <a:ext cx="1415859" cy="1438819"/>
            </a:xfrm>
            <a:custGeom>
              <a:avLst/>
              <a:gdLst/>
              <a:ahLst/>
              <a:cxnLst/>
              <a:rect l="l" t="t" r="r" b="b"/>
              <a:pathLst>
                <a:path w="1415859" h="1438819">
                  <a:moveTo>
                    <a:pt x="0" y="0"/>
                  </a:moveTo>
                  <a:lnTo>
                    <a:pt x="1415859" y="0"/>
                  </a:lnTo>
                  <a:lnTo>
                    <a:pt x="1415859" y="1438819"/>
                  </a:lnTo>
                  <a:lnTo>
                    <a:pt x="0" y="1438819"/>
                  </a:lnTo>
                  <a:lnTo>
                    <a:pt x="0" y="0"/>
                  </a:lnTo>
                  <a:close/>
                </a:path>
              </a:pathLst>
            </a:custGeom>
            <a:blipFill>
              <a:blip r:embed="rId8"/>
              <a:stretch>
                <a:fillRect l="-6537" t="-48240" r="-5931" b="-48445"/>
              </a:stretch>
            </a:blipFill>
          </p:spPr>
        </p:sp>
        <p:sp>
          <p:nvSpPr>
            <p:cNvPr id="12" name="Freeform 12"/>
            <p:cNvSpPr/>
            <p:nvPr/>
          </p:nvSpPr>
          <p:spPr>
            <a:xfrm>
              <a:off x="4626417" y="159308"/>
              <a:ext cx="4025730" cy="1120203"/>
            </a:xfrm>
            <a:custGeom>
              <a:avLst/>
              <a:gdLst/>
              <a:ahLst/>
              <a:cxnLst/>
              <a:rect l="l" t="t" r="r" b="b"/>
              <a:pathLst>
                <a:path w="4025730" h="1120203">
                  <a:moveTo>
                    <a:pt x="0" y="0"/>
                  </a:moveTo>
                  <a:lnTo>
                    <a:pt x="4025730" y="0"/>
                  </a:lnTo>
                  <a:lnTo>
                    <a:pt x="4025730" y="1120203"/>
                  </a:lnTo>
                  <a:lnTo>
                    <a:pt x="0" y="1120203"/>
                  </a:lnTo>
                  <a:lnTo>
                    <a:pt x="0" y="0"/>
                  </a:lnTo>
                  <a:close/>
                </a:path>
              </a:pathLst>
            </a:custGeom>
            <a:blipFill>
              <a:blip r:embed="rId9"/>
              <a:stretch>
                <a:fillRect l="-8614" t="-57846" r="-62053" b="-187155"/>
              </a:stretch>
            </a:blipFill>
          </p:spPr>
        </p:sp>
      </p:grpSp>
      <p:sp>
        <p:nvSpPr>
          <p:cNvPr id="13" name="TextBox 13"/>
          <p:cNvSpPr txBox="1"/>
          <p:nvPr/>
        </p:nvSpPr>
        <p:spPr>
          <a:xfrm>
            <a:off x="5033850" y="3674314"/>
            <a:ext cx="6215113" cy="3100296"/>
          </a:xfrm>
          <a:prstGeom prst="rect">
            <a:avLst/>
          </a:prstGeom>
        </p:spPr>
        <p:txBody>
          <a:bodyPr lIns="0" tIns="0" rIns="0" bIns="0" rtlCol="0" anchor="t">
            <a:spAutoFit/>
          </a:bodyPr>
          <a:lstStyle/>
          <a:p>
            <a:pPr marL="0" lvl="0" indent="0" algn="ctr">
              <a:lnSpc>
                <a:spcPts val="8058"/>
              </a:lnSpc>
            </a:pPr>
            <a:r>
              <a:rPr lang="en-US" sz="8058" b="1" spc="80">
                <a:solidFill>
                  <a:srgbClr val="4B6E29"/>
                </a:solidFill>
                <a:latin typeface="Proxima Nova Bold"/>
                <a:ea typeface="Proxima Nova Bold"/>
                <a:cs typeface="Proxima Nova Bold"/>
                <a:sym typeface="Proxima Nova Bold"/>
              </a:rPr>
              <a:t>AKU DAN PERANKU DI SEKOLAH</a:t>
            </a:r>
          </a:p>
        </p:txBody>
      </p:sp>
      <p:sp>
        <p:nvSpPr>
          <p:cNvPr id="14" name="TextBox 14"/>
          <p:cNvSpPr txBox="1"/>
          <p:nvPr/>
        </p:nvSpPr>
        <p:spPr>
          <a:xfrm>
            <a:off x="5829682" y="9502834"/>
            <a:ext cx="6365300" cy="570926"/>
          </a:xfrm>
          <a:prstGeom prst="rect">
            <a:avLst/>
          </a:prstGeom>
        </p:spPr>
        <p:txBody>
          <a:bodyPr lIns="0" tIns="0" rIns="0" bIns="0" rtlCol="0" anchor="t">
            <a:spAutoFit/>
          </a:bodyPr>
          <a:lstStyle/>
          <a:p>
            <a:pPr marL="0" lvl="0" indent="0" algn="l">
              <a:lnSpc>
                <a:spcPts val="4756"/>
              </a:lnSpc>
            </a:pPr>
            <a:r>
              <a:rPr lang="en-US" sz="3397" b="1">
                <a:solidFill>
                  <a:srgbClr val="4B6E29"/>
                </a:solidFill>
                <a:latin typeface="Proxima Nova Bold"/>
                <a:ea typeface="Proxima Nova Bold"/>
                <a:cs typeface="Proxima Nova Bold"/>
                <a:sym typeface="Proxima Nova Bold"/>
              </a:rPr>
              <a:t>PPL PPG Calon Guru UNM 2026</a:t>
            </a:r>
          </a:p>
        </p:txBody>
      </p:sp>
      <p:sp>
        <p:nvSpPr>
          <p:cNvPr id="15" name="TextBox 15"/>
          <p:cNvSpPr txBox="1"/>
          <p:nvPr/>
        </p:nvSpPr>
        <p:spPr>
          <a:xfrm>
            <a:off x="1028700" y="562413"/>
            <a:ext cx="4613585" cy="466287"/>
          </a:xfrm>
          <a:prstGeom prst="rect">
            <a:avLst/>
          </a:prstGeom>
        </p:spPr>
        <p:txBody>
          <a:bodyPr lIns="0" tIns="0" rIns="0" bIns="0" rtlCol="0" anchor="t">
            <a:spAutoFit/>
          </a:bodyPr>
          <a:lstStyle/>
          <a:p>
            <a:pPr algn="l">
              <a:lnSpc>
                <a:spcPts val="3849"/>
              </a:lnSpc>
            </a:pPr>
            <a:r>
              <a:rPr lang="en-US" sz="2749">
                <a:solidFill>
                  <a:srgbClr val="4B6E29"/>
                </a:solidFill>
                <a:latin typeface="Open Sans"/>
                <a:ea typeface="Open Sans"/>
                <a:cs typeface="Open Sans"/>
                <a:sym typeface="Open Sans"/>
              </a:rPr>
              <a:t>MTs Negeri 1 Kota Makassar</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9210675" y="2083411"/>
            <a:ext cx="8899342" cy="5873566"/>
          </a:xfrm>
          <a:custGeom>
            <a:avLst/>
            <a:gdLst/>
            <a:ahLst/>
            <a:cxnLst/>
            <a:rect l="l" t="t" r="r" b="b"/>
            <a:pathLst>
              <a:path w="8899342" h="5873566">
                <a:moveTo>
                  <a:pt x="0" y="0"/>
                </a:moveTo>
                <a:lnTo>
                  <a:pt x="8899342" y="0"/>
                </a:lnTo>
                <a:lnTo>
                  <a:pt x="8899342" y="5873566"/>
                </a:lnTo>
                <a:lnTo>
                  <a:pt x="0" y="5873566"/>
                </a:lnTo>
                <a:lnTo>
                  <a:pt x="0" y="0"/>
                </a:lnTo>
                <a:close/>
              </a:path>
            </a:pathLst>
          </a:custGeom>
          <a:blipFill>
            <a:blip r:embed="rId2"/>
            <a:stretch>
              <a:fillRect/>
            </a:stretch>
          </a:blipFill>
        </p:spPr>
      </p:sp>
      <p:sp>
        <p:nvSpPr>
          <p:cNvPr id="3" name="TextBox 3"/>
          <p:cNvSpPr txBox="1"/>
          <p:nvPr/>
        </p:nvSpPr>
        <p:spPr>
          <a:xfrm>
            <a:off x="1028700" y="1143000"/>
            <a:ext cx="7886700" cy="1375386"/>
          </a:xfrm>
          <a:prstGeom prst="rect">
            <a:avLst/>
          </a:prstGeom>
        </p:spPr>
        <p:txBody>
          <a:bodyPr wrap="square" lIns="0" tIns="0" rIns="0" bIns="0" rtlCol="0" anchor="t">
            <a:spAutoFit/>
          </a:bodyPr>
          <a:lstStyle/>
          <a:p>
            <a:pPr marL="0" lvl="0" indent="0" algn="l">
              <a:lnSpc>
                <a:spcPts val="5399"/>
              </a:lnSpc>
            </a:pPr>
            <a:r>
              <a:rPr lang="en-US" sz="5399" b="1" spc="53" dirty="0">
                <a:solidFill>
                  <a:srgbClr val="4B6E29"/>
                </a:solidFill>
                <a:latin typeface="Proxima Nova Heavy"/>
                <a:ea typeface="Proxima Nova Heavy"/>
                <a:cs typeface="Proxima Nova Heavy"/>
                <a:sym typeface="Proxima Nova Heavy"/>
              </a:rPr>
              <a:t>AKU ADALAH BAGIAN DARI SEKOLAH INI</a:t>
            </a:r>
          </a:p>
        </p:txBody>
      </p:sp>
      <p:sp>
        <p:nvSpPr>
          <p:cNvPr id="4" name="TextBox 4"/>
          <p:cNvSpPr txBox="1"/>
          <p:nvPr/>
        </p:nvSpPr>
        <p:spPr>
          <a:xfrm>
            <a:off x="1025073" y="2833340"/>
            <a:ext cx="7601259" cy="1028750"/>
          </a:xfrm>
          <a:prstGeom prst="rect">
            <a:avLst/>
          </a:prstGeom>
        </p:spPr>
        <p:txBody>
          <a:bodyPr lIns="0" tIns="0" rIns="0" bIns="0" rtlCol="0" anchor="t">
            <a:spAutoFit/>
          </a:bodyPr>
          <a:lstStyle/>
          <a:p>
            <a:pPr marL="0" lvl="0" indent="0" algn="l">
              <a:lnSpc>
                <a:spcPts val="4197"/>
              </a:lnSpc>
            </a:pPr>
            <a:r>
              <a:rPr lang="en-US" sz="2998" b="1">
                <a:solidFill>
                  <a:srgbClr val="4B6E29"/>
                </a:solidFill>
                <a:latin typeface="Proxima Nova Bold"/>
                <a:ea typeface="Proxima Nova Bold"/>
                <a:cs typeface="Proxima Nova Bold"/>
                <a:sym typeface="Proxima Nova Bold"/>
              </a:rPr>
              <a:t>Sekolah adalah komunitas dengan interaksi dan tanggung jawab bersama.</a:t>
            </a:r>
          </a:p>
        </p:txBody>
      </p:sp>
      <p:sp>
        <p:nvSpPr>
          <p:cNvPr id="5" name="TextBox 5"/>
          <p:cNvSpPr txBox="1"/>
          <p:nvPr/>
        </p:nvSpPr>
        <p:spPr>
          <a:xfrm>
            <a:off x="1025073" y="4004965"/>
            <a:ext cx="8118927" cy="4154342"/>
          </a:xfrm>
          <a:prstGeom prst="rect">
            <a:avLst/>
          </a:prstGeom>
        </p:spPr>
        <p:txBody>
          <a:bodyPr lIns="0" tIns="0" rIns="0" bIns="0" rtlCol="0" anchor="t">
            <a:spAutoFit/>
          </a:bodyPr>
          <a:lstStyle/>
          <a:p>
            <a:pPr marL="0" lvl="0" indent="0" algn="l">
              <a:lnSpc>
                <a:spcPts val="5596"/>
              </a:lnSpc>
            </a:pPr>
            <a:r>
              <a:rPr lang="en-US" sz="2798">
                <a:solidFill>
                  <a:srgbClr val="4D2F20"/>
                </a:solidFill>
                <a:latin typeface="Proxima Nova"/>
                <a:ea typeface="Proxima Nova"/>
                <a:cs typeface="Proxima Nova"/>
                <a:sym typeface="Proxima Nova"/>
              </a:rPr>
              <a:t>Sebagai Siswa kelas VII adalah warga baru dengan hak dan kewajiban yang sama dengan kelas VIII maupun kelas IX. Tanggung jawab sosial penting untuk menciptakan lingkungan sekolah yang baik. Mari kita belajar bersama menjadi bagian dari komunitas sekolah!</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99445" y="8994646"/>
            <a:ext cx="6489111" cy="1079114"/>
            <a:chOff x="0" y="0"/>
            <a:chExt cx="8652147" cy="1438819"/>
          </a:xfrm>
        </p:grpSpPr>
        <p:sp>
          <p:nvSpPr>
            <p:cNvPr id="11" name="Freeform 11"/>
            <p:cNvSpPr/>
            <p:nvPr/>
          </p:nvSpPr>
          <p:spPr>
            <a:xfrm>
              <a:off x="0" y="0"/>
              <a:ext cx="1419506" cy="1438819"/>
            </a:xfrm>
            <a:custGeom>
              <a:avLst/>
              <a:gdLst/>
              <a:ahLst/>
              <a:cxnLst/>
              <a:rect l="l" t="t" r="r" b="b"/>
              <a:pathLst>
                <a:path w="1419506" h="1438819">
                  <a:moveTo>
                    <a:pt x="0" y="0"/>
                  </a:moveTo>
                  <a:lnTo>
                    <a:pt x="1419506" y="0"/>
                  </a:lnTo>
                  <a:lnTo>
                    <a:pt x="1419506" y="1438819"/>
                  </a:lnTo>
                  <a:lnTo>
                    <a:pt x="0" y="1438819"/>
                  </a:lnTo>
                  <a:lnTo>
                    <a:pt x="0" y="0"/>
                  </a:lnTo>
                  <a:close/>
                </a:path>
              </a:pathLst>
            </a:custGeom>
            <a:blipFill>
              <a:blip r:embed="rId5"/>
              <a:stretch>
                <a:fillRect/>
              </a:stretch>
            </a:blipFill>
          </p:spPr>
        </p:sp>
        <p:sp>
          <p:nvSpPr>
            <p:cNvPr id="12" name="Freeform 12"/>
            <p:cNvSpPr/>
            <p:nvPr/>
          </p:nvSpPr>
          <p:spPr>
            <a:xfrm>
              <a:off x="1536917" y="0"/>
              <a:ext cx="1438819" cy="1438819"/>
            </a:xfrm>
            <a:custGeom>
              <a:avLst/>
              <a:gdLst/>
              <a:ahLst/>
              <a:cxnLst/>
              <a:rect l="l" t="t" r="r" b="b"/>
              <a:pathLst>
                <a:path w="1438819" h="1438819">
                  <a:moveTo>
                    <a:pt x="0" y="0"/>
                  </a:moveTo>
                  <a:lnTo>
                    <a:pt x="1438819" y="0"/>
                  </a:lnTo>
                  <a:lnTo>
                    <a:pt x="1438819" y="1438819"/>
                  </a:lnTo>
                  <a:lnTo>
                    <a:pt x="0" y="1438819"/>
                  </a:lnTo>
                  <a:lnTo>
                    <a:pt x="0" y="0"/>
                  </a:lnTo>
                  <a:close/>
                </a:path>
              </a:pathLst>
            </a:custGeom>
            <a:blipFill>
              <a:blip r:embed="rId6"/>
              <a:stretch>
                <a:fillRect/>
              </a:stretch>
            </a:blipFill>
          </p:spPr>
        </p:sp>
        <p:sp>
          <p:nvSpPr>
            <p:cNvPr id="13" name="Freeform 13"/>
            <p:cNvSpPr/>
            <p:nvPr/>
          </p:nvSpPr>
          <p:spPr>
            <a:xfrm>
              <a:off x="3093147" y="0"/>
              <a:ext cx="1415859" cy="1438819"/>
            </a:xfrm>
            <a:custGeom>
              <a:avLst/>
              <a:gdLst/>
              <a:ahLst/>
              <a:cxnLst/>
              <a:rect l="l" t="t" r="r" b="b"/>
              <a:pathLst>
                <a:path w="1415859" h="1438819">
                  <a:moveTo>
                    <a:pt x="0" y="0"/>
                  </a:moveTo>
                  <a:lnTo>
                    <a:pt x="1415859" y="0"/>
                  </a:lnTo>
                  <a:lnTo>
                    <a:pt x="1415859" y="1438819"/>
                  </a:lnTo>
                  <a:lnTo>
                    <a:pt x="0" y="1438819"/>
                  </a:lnTo>
                  <a:lnTo>
                    <a:pt x="0" y="0"/>
                  </a:lnTo>
                  <a:close/>
                </a:path>
              </a:pathLst>
            </a:custGeom>
            <a:blipFill>
              <a:blip r:embed="rId7"/>
              <a:stretch>
                <a:fillRect l="-6537" t="-48240" r="-5931" b="-48445"/>
              </a:stretch>
            </a:blipFill>
          </p:spPr>
        </p:sp>
        <p:sp>
          <p:nvSpPr>
            <p:cNvPr id="14" name="Freeform 14"/>
            <p:cNvSpPr/>
            <p:nvPr/>
          </p:nvSpPr>
          <p:spPr>
            <a:xfrm>
              <a:off x="4626417" y="159308"/>
              <a:ext cx="4025730" cy="1120203"/>
            </a:xfrm>
            <a:custGeom>
              <a:avLst/>
              <a:gdLst/>
              <a:ahLst/>
              <a:cxnLst/>
              <a:rect l="l" t="t" r="r" b="b"/>
              <a:pathLst>
                <a:path w="4025730" h="1120203">
                  <a:moveTo>
                    <a:pt x="0" y="0"/>
                  </a:moveTo>
                  <a:lnTo>
                    <a:pt x="4025730" y="0"/>
                  </a:lnTo>
                  <a:lnTo>
                    <a:pt x="4025730" y="1120203"/>
                  </a:lnTo>
                  <a:lnTo>
                    <a:pt x="0" y="1120203"/>
                  </a:lnTo>
                  <a:lnTo>
                    <a:pt x="0" y="0"/>
                  </a:lnTo>
                  <a:close/>
                </a:path>
              </a:pathLst>
            </a:custGeom>
            <a:blipFill>
              <a:blip r:embed="rId8"/>
              <a:stretch>
                <a:fillRect l="-8614" t="-57846" r="-62053" b="-187155"/>
              </a:stretch>
            </a:blipFill>
          </p:spPr>
        </p:sp>
      </p:grpSp>
      <p:sp>
        <p:nvSpPr>
          <p:cNvPr id="15" name="TextBox 15"/>
          <p:cNvSpPr txBox="1"/>
          <p:nvPr/>
        </p:nvSpPr>
        <p:spPr>
          <a:xfrm>
            <a:off x="12834270" y="8902759"/>
            <a:ext cx="4425030" cy="1171001"/>
          </a:xfrm>
          <a:prstGeom prst="rect">
            <a:avLst/>
          </a:prstGeom>
        </p:spPr>
        <p:txBody>
          <a:bodyPr lIns="0" tIns="0" rIns="0" bIns="0" rtlCol="0" anchor="t">
            <a:spAutoFit/>
          </a:bodyPr>
          <a:lstStyle/>
          <a:p>
            <a:pPr marL="0" lvl="0" indent="0" algn="l">
              <a:lnSpc>
                <a:spcPts val="4756"/>
              </a:lnSpc>
            </a:pPr>
            <a:r>
              <a:rPr lang="en-US" sz="3397"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1076657" y="1812845"/>
            <a:ext cx="7310080" cy="6661310"/>
          </a:xfrm>
          <a:custGeom>
            <a:avLst/>
            <a:gdLst/>
            <a:ahLst/>
            <a:cxnLst/>
            <a:rect l="l" t="t" r="r" b="b"/>
            <a:pathLst>
              <a:path w="7310080" h="6661310">
                <a:moveTo>
                  <a:pt x="0" y="0"/>
                </a:moveTo>
                <a:lnTo>
                  <a:pt x="7310080" y="0"/>
                </a:lnTo>
                <a:lnTo>
                  <a:pt x="7310080" y="6661310"/>
                </a:lnTo>
                <a:lnTo>
                  <a:pt x="0" y="6661310"/>
                </a:lnTo>
                <a:lnTo>
                  <a:pt x="0" y="0"/>
                </a:lnTo>
                <a:close/>
              </a:path>
            </a:pathLst>
          </a:custGeom>
          <a:blipFill>
            <a:blip r:embed="rId2"/>
            <a:stretch>
              <a:fillRect/>
            </a:stretch>
          </a:blipFill>
        </p:spPr>
      </p:sp>
      <p:sp>
        <p:nvSpPr>
          <p:cNvPr id="3" name="TextBox 3"/>
          <p:cNvSpPr txBox="1"/>
          <p:nvPr/>
        </p:nvSpPr>
        <p:spPr>
          <a:xfrm>
            <a:off x="1028700" y="1143000"/>
            <a:ext cx="9697631" cy="699111"/>
          </a:xfrm>
          <a:prstGeom prst="rect">
            <a:avLst/>
          </a:prstGeom>
        </p:spPr>
        <p:txBody>
          <a:bodyPr lIns="0" tIns="0" rIns="0" bIns="0" rtlCol="0" anchor="t">
            <a:spAutoFit/>
          </a:bodyPr>
          <a:lstStyle/>
          <a:p>
            <a:pPr marL="0" lvl="0" indent="0" algn="l">
              <a:lnSpc>
                <a:spcPts val="5399"/>
              </a:lnSpc>
            </a:pPr>
            <a:r>
              <a:rPr lang="en-US" sz="5399" b="1" spc="53">
                <a:solidFill>
                  <a:srgbClr val="4B6E29"/>
                </a:solidFill>
                <a:latin typeface="Proxima Nova Heavy"/>
                <a:ea typeface="Proxima Nova Heavy"/>
                <a:cs typeface="Proxima Nova Heavy"/>
                <a:sym typeface="Proxima Nova Heavy"/>
              </a:rPr>
              <a:t>MENGAPA PENTING?</a:t>
            </a:r>
          </a:p>
        </p:txBody>
      </p:sp>
      <p:sp>
        <p:nvSpPr>
          <p:cNvPr id="4" name="TextBox 4"/>
          <p:cNvSpPr txBox="1"/>
          <p:nvPr/>
        </p:nvSpPr>
        <p:spPr>
          <a:xfrm>
            <a:off x="1028700" y="2242713"/>
            <a:ext cx="8847589" cy="976680"/>
          </a:xfrm>
          <a:prstGeom prst="rect">
            <a:avLst/>
          </a:prstGeom>
        </p:spPr>
        <p:txBody>
          <a:bodyPr lIns="0" tIns="0" rIns="0" bIns="0" rtlCol="0" anchor="t">
            <a:spAutoFit/>
          </a:bodyPr>
          <a:lstStyle/>
          <a:p>
            <a:pPr marL="0" lvl="0" indent="0" algn="l">
              <a:lnSpc>
                <a:spcPts val="3917"/>
              </a:lnSpc>
            </a:pPr>
            <a:r>
              <a:rPr lang="en-US" sz="2798" b="1">
                <a:solidFill>
                  <a:srgbClr val="4B6E29"/>
                </a:solidFill>
                <a:latin typeface="Proxima Nova Bold"/>
                <a:ea typeface="Proxima Nova Bold"/>
                <a:cs typeface="Proxima Nova Bold"/>
                <a:sym typeface="Proxima Nova Bold"/>
              </a:rPr>
              <a:t>Setiap tindakan kita mempengaruhi diri sendiri dan orang lain di sekitar kita.</a:t>
            </a:r>
          </a:p>
        </p:txBody>
      </p:sp>
      <p:sp>
        <p:nvSpPr>
          <p:cNvPr id="5" name="TextBox 5"/>
          <p:cNvSpPr txBox="1"/>
          <p:nvPr/>
        </p:nvSpPr>
        <p:spPr>
          <a:xfrm>
            <a:off x="1028700" y="3457518"/>
            <a:ext cx="10047957" cy="3591732"/>
          </a:xfrm>
          <a:prstGeom prst="rect">
            <a:avLst/>
          </a:prstGeom>
        </p:spPr>
        <p:txBody>
          <a:bodyPr lIns="0" tIns="0" rIns="0" bIns="0" rtlCol="0" anchor="t">
            <a:spAutoFit/>
          </a:bodyPr>
          <a:lstStyle/>
          <a:p>
            <a:pPr marL="625745" lvl="1" indent="-312872" algn="l">
              <a:lnSpc>
                <a:spcPts val="5796"/>
              </a:lnSpc>
              <a:buFont typeface="Arial"/>
              <a:buChar char="•"/>
            </a:pPr>
            <a:r>
              <a:rPr lang="en-US" sz="2898">
                <a:solidFill>
                  <a:srgbClr val="4D2F20"/>
                </a:solidFill>
                <a:latin typeface="Proxima Nova"/>
                <a:ea typeface="Proxima Nova"/>
                <a:cs typeface="Proxima Nova"/>
                <a:sym typeface="Proxima Nova"/>
              </a:rPr>
              <a:t>Setiap tindakanmu berdampak pada dirimu dan orang lain</a:t>
            </a:r>
          </a:p>
          <a:p>
            <a:pPr marL="625745" lvl="1" indent="-312872" algn="l">
              <a:lnSpc>
                <a:spcPts val="5796"/>
              </a:lnSpc>
              <a:buFont typeface="Arial"/>
              <a:buChar char="•"/>
            </a:pPr>
            <a:r>
              <a:rPr lang="en-US" sz="2898">
                <a:solidFill>
                  <a:srgbClr val="4D2F20"/>
                </a:solidFill>
                <a:latin typeface="Proxima Nova"/>
                <a:ea typeface="Proxima Nova"/>
                <a:cs typeface="Proxima Nova"/>
                <a:sym typeface="Proxima Nova"/>
              </a:rPr>
              <a:t>Lingkungan sekolah yang positif dibangun dari kontribusi semua orang</a:t>
            </a:r>
          </a:p>
          <a:p>
            <a:pPr marL="625745" lvl="1" indent="-312872" algn="l">
              <a:lnSpc>
                <a:spcPts val="5796"/>
              </a:lnSpc>
              <a:buFont typeface="Arial"/>
              <a:buChar char="•"/>
            </a:pPr>
            <a:r>
              <a:rPr lang="en-US" sz="2898">
                <a:solidFill>
                  <a:srgbClr val="4D2F20"/>
                </a:solidFill>
                <a:latin typeface="Proxima Nova"/>
                <a:ea typeface="Proxima Nova"/>
                <a:cs typeface="Proxima Nova"/>
                <a:sym typeface="Proxima Nova"/>
              </a:rPr>
              <a:t>Kebiasaan bertanggung jawab membentuk karaktermu untuk masa depan</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99445" y="8994646"/>
            <a:ext cx="6489111" cy="1079114"/>
            <a:chOff x="0" y="0"/>
            <a:chExt cx="8652147" cy="1438819"/>
          </a:xfrm>
        </p:grpSpPr>
        <p:sp>
          <p:nvSpPr>
            <p:cNvPr id="11" name="Freeform 11"/>
            <p:cNvSpPr/>
            <p:nvPr/>
          </p:nvSpPr>
          <p:spPr>
            <a:xfrm>
              <a:off x="0" y="0"/>
              <a:ext cx="1419506" cy="1438819"/>
            </a:xfrm>
            <a:custGeom>
              <a:avLst/>
              <a:gdLst/>
              <a:ahLst/>
              <a:cxnLst/>
              <a:rect l="l" t="t" r="r" b="b"/>
              <a:pathLst>
                <a:path w="1419506" h="1438819">
                  <a:moveTo>
                    <a:pt x="0" y="0"/>
                  </a:moveTo>
                  <a:lnTo>
                    <a:pt x="1419506" y="0"/>
                  </a:lnTo>
                  <a:lnTo>
                    <a:pt x="1419506" y="1438819"/>
                  </a:lnTo>
                  <a:lnTo>
                    <a:pt x="0" y="1438819"/>
                  </a:lnTo>
                  <a:lnTo>
                    <a:pt x="0" y="0"/>
                  </a:lnTo>
                  <a:close/>
                </a:path>
              </a:pathLst>
            </a:custGeom>
            <a:blipFill>
              <a:blip r:embed="rId5"/>
              <a:stretch>
                <a:fillRect/>
              </a:stretch>
            </a:blipFill>
          </p:spPr>
        </p:sp>
        <p:sp>
          <p:nvSpPr>
            <p:cNvPr id="12" name="Freeform 12"/>
            <p:cNvSpPr/>
            <p:nvPr/>
          </p:nvSpPr>
          <p:spPr>
            <a:xfrm>
              <a:off x="1536917" y="0"/>
              <a:ext cx="1438819" cy="1438819"/>
            </a:xfrm>
            <a:custGeom>
              <a:avLst/>
              <a:gdLst/>
              <a:ahLst/>
              <a:cxnLst/>
              <a:rect l="l" t="t" r="r" b="b"/>
              <a:pathLst>
                <a:path w="1438819" h="1438819">
                  <a:moveTo>
                    <a:pt x="0" y="0"/>
                  </a:moveTo>
                  <a:lnTo>
                    <a:pt x="1438819" y="0"/>
                  </a:lnTo>
                  <a:lnTo>
                    <a:pt x="1438819" y="1438819"/>
                  </a:lnTo>
                  <a:lnTo>
                    <a:pt x="0" y="1438819"/>
                  </a:lnTo>
                  <a:lnTo>
                    <a:pt x="0" y="0"/>
                  </a:lnTo>
                  <a:close/>
                </a:path>
              </a:pathLst>
            </a:custGeom>
            <a:blipFill>
              <a:blip r:embed="rId6"/>
              <a:stretch>
                <a:fillRect/>
              </a:stretch>
            </a:blipFill>
          </p:spPr>
        </p:sp>
        <p:sp>
          <p:nvSpPr>
            <p:cNvPr id="13" name="Freeform 13"/>
            <p:cNvSpPr/>
            <p:nvPr/>
          </p:nvSpPr>
          <p:spPr>
            <a:xfrm>
              <a:off x="3093147" y="0"/>
              <a:ext cx="1415859" cy="1438819"/>
            </a:xfrm>
            <a:custGeom>
              <a:avLst/>
              <a:gdLst/>
              <a:ahLst/>
              <a:cxnLst/>
              <a:rect l="l" t="t" r="r" b="b"/>
              <a:pathLst>
                <a:path w="1415859" h="1438819">
                  <a:moveTo>
                    <a:pt x="0" y="0"/>
                  </a:moveTo>
                  <a:lnTo>
                    <a:pt x="1415859" y="0"/>
                  </a:lnTo>
                  <a:lnTo>
                    <a:pt x="1415859" y="1438819"/>
                  </a:lnTo>
                  <a:lnTo>
                    <a:pt x="0" y="1438819"/>
                  </a:lnTo>
                  <a:lnTo>
                    <a:pt x="0" y="0"/>
                  </a:lnTo>
                  <a:close/>
                </a:path>
              </a:pathLst>
            </a:custGeom>
            <a:blipFill>
              <a:blip r:embed="rId7"/>
              <a:stretch>
                <a:fillRect l="-6537" t="-48240" r="-5931" b="-48445"/>
              </a:stretch>
            </a:blipFill>
          </p:spPr>
        </p:sp>
        <p:sp>
          <p:nvSpPr>
            <p:cNvPr id="14" name="Freeform 14"/>
            <p:cNvSpPr/>
            <p:nvPr/>
          </p:nvSpPr>
          <p:spPr>
            <a:xfrm>
              <a:off x="4626417" y="159308"/>
              <a:ext cx="4025730" cy="1120203"/>
            </a:xfrm>
            <a:custGeom>
              <a:avLst/>
              <a:gdLst/>
              <a:ahLst/>
              <a:cxnLst/>
              <a:rect l="l" t="t" r="r" b="b"/>
              <a:pathLst>
                <a:path w="4025730" h="1120203">
                  <a:moveTo>
                    <a:pt x="0" y="0"/>
                  </a:moveTo>
                  <a:lnTo>
                    <a:pt x="4025730" y="0"/>
                  </a:lnTo>
                  <a:lnTo>
                    <a:pt x="4025730" y="1120203"/>
                  </a:lnTo>
                  <a:lnTo>
                    <a:pt x="0" y="1120203"/>
                  </a:lnTo>
                  <a:lnTo>
                    <a:pt x="0" y="0"/>
                  </a:lnTo>
                  <a:close/>
                </a:path>
              </a:pathLst>
            </a:custGeom>
            <a:blipFill>
              <a:blip r:embed="rId8"/>
              <a:stretch>
                <a:fillRect l="-8614" t="-57846" r="-62053" b="-187155"/>
              </a:stretch>
            </a:blipFill>
          </p:spPr>
        </p:sp>
      </p:grpSp>
      <p:sp>
        <p:nvSpPr>
          <p:cNvPr id="15" name="TextBox 15"/>
          <p:cNvSpPr txBox="1"/>
          <p:nvPr/>
        </p:nvSpPr>
        <p:spPr>
          <a:xfrm>
            <a:off x="12619173" y="8902759"/>
            <a:ext cx="4425030" cy="1171001"/>
          </a:xfrm>
          <a:prstGeom prst="rect">
            <a:avLst/>
          </a:prstGeom>
        </p:spPr>
        <p:txBody>
          <a:bodyPr lIns="0" tIns="0" rIns="0" bIns="0" rtlCol="0" anchor="t">
            <a:spAutoFit/>
          </a:bodyPr>
          <a:lstStyle/>
          <a:p>
            <a:pPr marL="0" lvl="0" indent="0" algn="l">
              <a:lnSpc>
                <a:spcPts val="4756"/>
              </a:lnSpc>
            </a:pPr>
            <a:r>
              <a:rPr lang="en-US" sz="3397"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descr="Abstract Organic Decorative Sprinkle Flower"/>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8857041" y="-1028700"/>
            <a:ext cx="9430959" cy="11315700"/>
            <a:chOff x="0" y="0"/>
            <a:chExt cx="2483874" cy="2980267"/>
          </a:xfrm>
        </p:grpSpPr>
        <p:sp>
          <p:nvSpPr>
            <p:cNvPr id="4" name="Freeform 4"/>
            <p:cNvSpPr/>
            <p:nvPr/>
          </p:nvSpPr>
          <p:spPr>
            <a:xfrm>
              <a:off x="0" y="0"/>
              <a:ext cx="2483874" cy="2980267"/>
            </a:xfrm>
            <a:custGeom>
              <a:avLst/>
              <a:gdLst/>
              <a:ahLst/>
              <a:cxnLst/>
              <a:rect l="l" t="t" r="r" b="b"/>
              <a:pathLst>
                <a:path w="2483874" h="2980267">
                  <a:moveTo>
                    <a:pt x="0" y="0"/>
                  </a:moveTo>
                  <a:lnTo>
                    <a:pt x="2483874" y="0"/>
                  </a:lnTo>
                  <a:lnTo>
                    <a:pt x="2483874" y="2980267"/>
                  </a:lnTo>
                  <a:lnTo>
                    <a:pt x="0" y="2980267"/>
                  </a:lnTo>
                  <a:close/>
                </a:path>
              </a:pathLst>
            </a:custGeom>
            <a:solidFill>
              <a:srgbClr val="B4C79D"/>
            </a:solidFill>
          </p:spPr>
        </p:sp>
        <p:sp>
          <p:nvSpPr>
            <p:cNvPr id="5" name="TextBox 5"/>
            <p:cNvSpPr txBox="1"/>
            <p:nvPr/>
          </p:nvSpPr>
          <p:spPr>
            <a:xfrm>
              <a:off x="0" y="-57150"/>
              <a:ext cx="2483874" cy="3037417"/>
            </a:xfrm>
            <a:prstGeom prst="rect">
              <a:avLst/>
            </a:prstGeom>
          </p:spPr>
          <p:txBody>
            <a:bodyPr lIns="50800" tIns="50800" rIns="50800" bIns="50800" rtlCol="0" anchor="ctr"/>
            <a:lstStyle/>
            <a:p>
              <a:pPr algn="ctr">
                <a:lnSpc>
                  <a:spcPts val="3150"/>
                </a:lnSpc>
              </a:pPr>
              <a:endParaRPr/>
            </a:p>
          </p:txBody>
        </p:sp>
      </p:grpSp>
      <p:sp>
        <p:nvSpPr>
          <p:cNvPr id="6" name="AutoShape 6"/>
          <p:cNvSpPr/>
          <p:nvPr/>
        </p:nvSpPr>
        <p:spPr>
          <a:xfrm>
            <a:off x="1221556" y="4931270"/>
            <a:ext cx="5122944" cy="0"/>
          </a:xfrm>
          <a:prstGeom prst="line">
            <a:avLst/>
          </a:prstGeom>
          <a:ln w="38100" cap="flat">
            <a:solidFill>
              <a:srgbClr val="4B6E29"/>
            </a:solidFill>
            <a:prstDash val="solid"/>
            <a:headEnd type="none" w="sm" len="sm"/>
            <a:tailEnd type="none" w="sm" len="sm"/>
          </a:ln>
        </p:spPr>
      </p:sp>
      <p:sp>
        <p:nvSpPr>
          <p:cNvPr id="7" name="TextBox 7"/>
          <p:cNvSpPr txBox="1"/>
          <p:nvPr/>
        </p:nvSpPr>
        <p:spPr>
          <a:xfrm>
            <a:off x="854025" y="2929367"/>
            <a:ext cx="7635485" cy="1711640"/>
          </a:xfrm>
          <a:prstGeom prst="rect">
            <a:avLst/>
          </a:prstGeom>
        </p:spPr>
        <p:txBody>
          <a:bodyPr lIns="0" tIns="0" rIns="0" bIns="0" rtlCol="0" anchor="t">
            <a:spAutoFit/>
          </a:bodyPr>
          <a:lstStyle/>
          <a:p>
            <a:pPr marL="0" lvl="0" indent="0" algn="l">
              <a:lnSpc>
                <a:spcPts val="6667"/>
              </a:lnSpc>
            </a:pPr>
            <a:r>
              <a:rPr lang="en-US" sz="6349" b="1" spc="63">
                <a:solidFill>
                  <a:srgbClr val="4B6E29"/>
                </a:solidFill>
                <a:latin typeface="Proxima Nova Bold"/>
                <a:ea typeface="Proxima Nova Bold"/>
                <a:cs typeface="Proxima Nova Bold"/>
                <a:sym typeface="Proxima Nova Bold"/>
              </a:rPr>
              <a:t>SIAPA SAJA WARGA SEKOLAH?</a:t>
            </a:r>
          </a:p>
        </p:txBody>
      </p:sp>
      <p:sp>
        <p:nvSpPr>
          <p:cNvPr id="8" name="TextBox 8"/>
          <p:cNvSpPr txBox="1"/>
          <p:nvPr/>
        </p:nvSpPr>
        <p:spPr>
          <a:xfrm>
            <a:off x="854025" y="5540432"/>
            <a:ext cx="7162597" cy="2124075"/>
          </a:xfrm>
          <a:prstGeom prst="rect">
            <a:avLst/>
          </a:prstGeom>
        </p:spPr>
        <p:txBody>
          <a:bodyPr lIns="0" tIns="0" rIns="0" bIns="0" rtlCol="0" anchor="t">
            <a:spAutoFit/>
          </a:bodyPr>
          <a:lstStyle/>
          <a:p>
            <a:pPr marL="0" lvl="0" indent="0" algn="l">
              <a:lnSpc>
                <a:spcPts val="4200"/>
              </a:lnSpc>
            </a:pPr>
            <a:r>
              <a:rPr lang="en-US" sz="3000" b="1">
                <a:solidFill>
                  <a:srgbClr val="4B6E29"/>
                </a:solidFill>
                <a:latin typeface="Proxima Nova Bold"/>
                <a:ea typeface="Proxima Nova Bold"/>
                <a:cs typeface="Proxima Nova Bold"/>
                <a:sym typeface="Proxima Nova Bold"/>
              </a:rPr>
              <a:t>Sekolah terdiri dari tiga kelompok utama: Siswa, Guru, dan Petugas Sekolah. Setiap kelompok memiliki hak dan kewajiban masing-masing.</a:t>
            </a:r>
          </a:p>
        </p:txBody>
      </p:sp>
      <p:grpSp>
        <p:nvGrpSpPr>
          <p:cNvPr id="9" name="Group 9"/>
          <p:cNvGrpSpPr/>
          <p:nvPr/>
        </p:nvGrpSpPr>
        <p:grpSpPr>
          <a:xfrm>
            <a:off x="9020175" y="1654285"/>
            <a:ext cx="9415641" cy="6978430"/>
            <a:chOff x="0" y="0"/>
            <a:chExt cx="12554188" cy="9304574"/>
          </a:xfrm>
        </p:grpSpPr>
        <p:sp>
          <p:nvSpPr>
            <p:cNvPr id="10" name="Freeform 10"/>
            <p:cNvSpPr/>
            <p:nvPr/>
          </p:nvSpPr>
          <p:spPr>
            <a:xfrm>
              <a:off x="46321" y="0"/>
              <a:ext cx="12064277" cy="9304574"/>
            </a:xfrm>
            <a:custGeom>
              <a:avLst/>
              <a:gdLst/>
              <a:ahLst/>
              <a:cxnLst/>
              <a:rect l="l" t="t" r="r" b="b"/>
              <a:pathLst>
                <a:path w="12064277" h="9304574">
                  <a:moveTo>
                    <a:pt x="0" y="0"/>
                  </a:moveTo>
                  <a:lnTo>
                    <a:pt x="12064277" y="0"/>
                  </a:lnTo>
                  <a:lnTo>
                    <a:pt x="12064277" y="9304574"/>
                  </a:lnTo>
                  <a:lnTo>
                    <a:pt x="0" y="93045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1076623" y="141771"/>
              <a:ext cx="1855878" cy="689532"/>
            </a:xfrm>
            <a:prstGeom prst="rect">
              <a:avLst/>
            </a:prstGeom>
          </p:spPr>
          <p:txBody>
            <a:bodyPr lIns="0" tIns="0" rIns="0" bIns="0" rtlCol="0" anchor="t">
              <a:spAutoFit/>
            </a:bodyPr>
            <a:lstStyle/>
            <a:p>
              <a:pPr algn="ctr">
                <a:lnSpc>
                  <a:spcPts val="4398"/>
                </a:lnSpc>
              </a:pPr>
              <a:r>
                <a:rPr lang="en-US" sz="3141" b="1">
                  <a:solidFill>
                    <a:srgbClr val="000000"/>
                  </a:solidFill>
                  <a:latin typeface="Open Sans Bold"/>
                  <a:ea typeface="Open Sans Bold"/>
                  <a:cs typeface="Open Sans Bold"/>
                  <a:sym typeface="Open Sans Bold"/>
                </a:rPr>
                <a:t>SISWA</a:t>
              </a:r>
            </a:p>
          </p:txBody>
        </p:sp>
        <p:sp>
          <p:nvSpPr>
            <p:cNvPr id="12" name="TextBox 12"/>
            <p:cNvSpPr txBox="1"/>
            <p:nvPr/>
          </p:nvSpPr>
          <p:spPr>
            <a:xfrm>
              <a:off x="5106194" y="141771"/>
              <a:ext cx="1855878" cy="689532"/>
            </a:xfrm>
            <a:prstGeom prst="rect">
              <a:avLst/>
            </a:prstGeom>
          </p:spPr>
          <p:txBody>
            <a:bodyPr lIns="0" tIns="0" rIns="0" bIns="0" rtlCol="0" anchor="t">
              <a:spAutoFit/>
            </a:bodyPr>
            <a:lstStyle/>
            <a:p>
              <a:pPr algn="ctr">
                <a:lnSpc>
                  <a:spcPts val="4398"/>
                </a:lnSpc>
              </a:pPr>
              <a:r>
                <a:rPr lang="en-US" sz="3141" b="1">
                  <a:solidFill>
                    <a:srgbClr val="000000"/>
                  </a:solidFill>
                  <a:latin typeface="Open Sans Bold"/>
                  <a:ea typeface="Open Sans Bold"/>
                  <a:cs typeface="Open Sans Bold"/>
                  <a:sym typeface="Open Sans Bold"/>
                </a:rPr>
                <a:t>GURU</a:t>
              </a:r>
            </a:p>
          </p:txBody>
        </p:sp>
        <p:sp>
          <p:nvSpPr>
            <p:cNvPr id="13" name="TextBox 13"/>
            <p:cNvSpPr txBox="1"/>
            <p:nvPr/>
          </p:nvSpPr>
          <p:spPr>
            <a:xfrm>
              <a:off x="7521293" y="233547"/>
              <a:ext cx="5032894"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PETUGAS SEKOLAH</a:t>
              </a:r>
            </a:p>
          </p:txBody>
        </p:sp>
        <p:sp>
          <p:nvSpPr>
            <p:cNvPr id="14" name="TextBox 14"/>
            <p:cNvSpPr txBox="1"/>
            <p:nvPr/>
          </p:nvSpPr>
          <p:spPr>
            <a:xfrm>
              <a:off x="46321" y="1348634"/>
              <a:ext cx="1588508"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HAK :</a:t>
              </a:r>
            </a:p>
          </p:txBody>
        </p:sp>
        <p:sp>
          <p:nvSpPr>
            <p:cNvPr id="15" name="TextBox 15"/>
            <p:cNvSpPr txBox="1"/>
            <p:nvPr/>
          </p:nvSpPr>
          <p:spPr>
            <a:xfrm>
              <a:off x="8032965" y="1348634"/>
              <a:ext cx="1588508"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HAK :</a:t>
              </a:r>
            </a:p>
          </p:txBody>
        </p:sp>
        <p:sp>
          <p:nvSpPr>
            <p:cNvPr id="16" name="TextBox 16"/>
            <p:cNvSpPr txBox="1"/>
            <p:nvPr/>
          </p:nvSpPr>
          <p:spPr>
            <a:xfrm>
              <a:off x="4017480" y="1348634"/>
              <a:ext cx="1588508"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HAK :</a:t>
              </a:r>
            </a:p>
          </p:txBody>
        </p:sp>
        <p:sp>
          <p:nvSpPr>
            <p:cNvPr id="17" name="TextBox 17"/>
            <p:cNvSpPr txBox="1"/>
            <p:nvPr/>
          </p:nvSpPr>
          <p:spPr>
            <a:xfrm>
              <a:off x="8356" y="5054931"/>
              <a:ext cx="2930506"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KEWAJIBAN :</a:t>
              </a:r>
            </a:p>
          </p:txBody>
        </p:sp>
        <p:sp>
          <p:nvSpPr>
            <p:cNvPr id="18" name="TextBox 18"/>
            <p:cNvSpPr txBox="1"/>
            <p:nvPr/>
          </p:nvSpPr>
          <p:spPr>
            <a:xfrm>
              <a:off x="4017480" y="5054931"/>
              <a:ext cx="2930506"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KEWAJIBAN :</a:t>
              </a:r>
            </a:p>
          </p:txBody>
        </p:sp>
        <p:sp>
          <p:nvSpPr>
            <p:cNvPr id="19" name="TextBox 19"/>
            <p:cNvSpPr txBox="1"/>
            <p:nvPr/>
          </p:nvSpPr>
          <p:spPr>
            <a:xfrm>
              <a:off x="8032965" y="5054931"/>
              <a:ext cx="2930506" cy="515505"/>
            </a:xfrm>
            <a:prstGeom prst="rect">
              <a:avLst/>
            </a:prstGeom>
          </p:spPr>
          <p:txBody>
            <a:bodyPr lIns="0" tIns="0" rIns="0" bIns="0" rtlCol="0" anchor="t">
              <a:spAutoFit/>
            </a:bodyPr>
            <a:lstStyle/>
            <a:p>
              <a:pPr algn="ctr">
                <a:lnSpc>
                  <a:spcPts val="3258"/>
                </a:lnSpc>
              </a:pPr>
              <a:r>
                <a:rPr lang="en-US" sz="2327" b="1">
                  <a:solidFill>
                    <a:srgbClr val="000000"/>
                  </a:solidFill>
                  <a:latin typeface="Open Sans Bold"/>
                  <a:ea typeface="Open Sans Bold"/>
                  <a:cs typeface="Open Sans Bold"/>
                  <a:sym typeface="Open Sans Bold"/>
                </a:rPr>
                <a:t>KEWAJIBAN :</a:t>
              </a:r>
            </a:p>
          </p:txBody>
        </p:sp>
        <p:sp>
          <p:nvSpPr>
            <p:cNvPr id="20" name="TextBox 20"/>
            <p:cNvSpPr txBox="1"/>
            <p:nvPr/>
          </p:nvSpPr>
          <p:spPr>
            <a:xfrm>
              <a:off x="8356" y="1992163"/>
              <a:ext cx="4009124" cy="2849019"/>
            </a:xfrm>
            <a:prstGeom prst="rect">
              <a:avLst/>
            </a:prstGeom>
          </p:spPr>
          <p:txBody>
            <a:bodyPr lIns="0" tIns="0" rIns="0" bIns="0" rtlCol="0" anchor="t">
              <a:spAutoFit/>
            </a:bodyPr>
            <a:lstStyle/>
            <a:p>
              <a:pPr marL="381619" lvl="1" indent="-190809" algn="l">
                <a:lnSpc>
                  <a:spcPts val="3535"/>
                </a:lnSpc>
                <a:buAutoNum type="arabicPeriod"/>
              </a:pPr>
              <a:r>
                <a:rPr lang="en-US" sz="1767">
                  <a:solidFill>
                    <a:srgbClr val="000000"/>
                  </a:solidFill>
                  <a:latin typeface="Open Sans"/>
                  <a:ea typeface="Open Sans"/>
                  <a:cs typeface="Open Sans"/>
                  <a:sym typeface="Open Sans"/>
                </a:rPr>
                <a:t>Mendapat pendidikan berkualitas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Diperlakukan adil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Menggunakan fasilitas sekolah.</a:t>
              </a:r>
            </a:p>
          </p:txBody>
        </p:sp>
        <p:sp>
          <p:nvSpPr>
            <p:cNvPr id="21" name="TextBox 21"/>
            <p:cNvSpPr txBox="1"/>
            <p:nvPr/>
          </p:nvSpPr>
          <p:spPr>
            <a:xfrm>
              <a:off x="4017480" y="1992163"/>
              <a:ext cx="4009124" cy="1666973"/>
            </a:xfrm>
            <a:prstGeom prst="rect">
              <a:avLst/>
            </a:prstGeom>
          </p:spPr>
          <p:txBody>
            <a:bodyPr lIns="0" tIns="0" rIns="0" bIns="0" rtlCol="0" anchor="t">
              <a:spAutoFit/>
            </a:bodyPr>
            <a:lstStyle/>
            <a:p>
              <a:pPr marL="381619" lvl="1" indent="-190809" algn="l">
                <a:lnSpc>
                  <a:spcPts val="3535"/>
                </a:lnSpc>
                <a:buAutoNum type="arabicPeriod"/>
              </a:pPr>
              <a:r>
                <a:rPr lang="en-US" sz="1767">
                  <a:solidFill>
                    <a:srgbClr val="000000"/>
                  </a:solidFill>
                  <a:latin typeface="Open Sans"/>
                  <a:ea typeface="Open Sans"/>
                  <a:cs typeface="Open Sans"/>
                  <a:sym typeface="Open Sans"/>
                </a:rPr>
                <a:t>Dihormati oleh siswa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Didukung oleh sekolah dalam mengajar.</a:t>
              </a:r>
            </a:p>
          </p:txBody>
        </p:sp>
        <p:sp>
          <p:nvSpPr>
            <p:cNvPr id="22" name="TextBox 22"/>
            <p:cNvSpPr txBox="1"/>
            <p:nvPr/>
          </p:nvSpPr>
          <p:spPr>
            <a:xfrm>
              <a:off x="8011828" y="1992163"/>
              <a:ext cx="4009124" cy="2257996"/>
            </a:xfrm>
            <a:prstGeom prst="rect">
              <a:avLst/>
            </a:prstGeom>
          </p:spPr>
          <p:txBody>
            <a:bodyPr lIns="0" tIns="0" rIns="0" bIns="0" rtlCol="0" anchor="t">
              <a:spAutoFit/>
            </a:bodyPr>
            <a:lstStyle/>
            <a:p>
              <a:pPr marL="381619" lvl="1" indent="-190809" algn="l">
                <a:lnSpc>
                  <a:spcPts val="3535"/>
                </a:lnSpc>
                <a:buAutoNum type="arabicPeriod"/>
              </a:pPr>
              <a:r>
                <a:rPr lang="en-US" sz="1767">
                  <a:solidFill>
                    <a:srgbClr val="000000"/>
                  </a:solidFill>
                  <a:latin typeface="Open Sans"/>
                  <a:ea typeface="Open Sans"/>
                  <a:cs typeface="Open Sans"/>
                  <a:sym typeface="Open Sans"/>
                </a:rPr>
                <a:t>Diperlakukan dengan sopan dan dihormati oleh semua warga sekolah.</a:t>
              </a:r>
            </a:p>
          </p:txBody>
        </p:sp>
        <p:sp>
          <p:nvSpPr>
            <p:cNvPr id="23" name="TextBox 23"/>
            <p:cNvSpPr txBox="1"/>
            <p:nvPr/>
          </p:nvSpPr>
          <p:spPr>
            <a:xfrm>
              <a:off x="0" y="5703046"/>
              <a:ext cx="4009124" cy="2849019"/>
            </a:xfrm>
            <a:prstGeom prst="rect">
              <a:avLst/>
            </a:prstGeom>
          </p:spPr>
          <p:txBody>
            <a:bodyPr lIns="0" tIns="0" rIns="0" bIns="0" rtlCol="0" anchor="t">
              <a:spAutoFit/>
            </a:bodyPr>
            <a:lstStyle/>
            <a:p>
              <a:pPr marL="381619" lvl="1" indent="-190809" algn="l">
                <a:lnSpc>
                  <a:spcPts val="3535"/>
                </a:lnSpc>
                <a:buAutoNum type="arabicPeriod"/>
              </a:pPr>
              <a:r>
                <a:rPr lang="en-US" sz="1767">
                  <a:solidFill>
                    <a:srgbClr val="000000"/>
                  </a:solidFill>
                  <a:latin typeface="Open Sans"/>
                  <a:ea typeface="Open Sans"/>
                  <a:cs typeface="Open Sans"/>
                  <a:sym typeface="Open Sans"/>
                </a:rPr>
                <a:t>Hadir tepat waktu</a:t>
              </a:r>
            </a:p>
            <a:p>
              <a:pPr marL="381619" lvl="1" indent="-190809" algn="l">
                <a:lnSpc>
                  <a:spcPts val="3535"/>
                </a:lnSpc>
                <a:buAutoNum type="arabicPeriod"/>
              </a:pPr>
              <a:r>
                <a:rPr lang="en-US" sz="1767">
                  <a:solidFill>
                    <a:srgbClr val="000000"/>
                  </a:solidFill>
                  <a:latin typeface="Open Sans"/>
                  <a:ea typeface="Open Sans"/>
                  <a:cs typeface="Open Sans"/>
                  <a:sym typeface="Open Sans"/>
                </a:rPr>
                <a:t>Mengikuti pelajaran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Menjaga kebersihan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Menghormati guru dan teman</a:t>
              </a:r>
            </a:p>
          </p:txBody>
        </p:sp>
        <p:sp>
          <p:nvSpPr>
            <p:cNvPr id="24" name="TextBox 24"/>
            <p:cNvSpPr txBox="1"/>
            <p:nvPr/>
          </p:nvSpPr>
          <p:spPr>
            <a:xfrm>
              <a:off x="4029571" y="5703046"/>
              <a:ext cx="4009124" cy="2257996"/>
            </a:xfrm>
            <a:prstGeom prst="rect">
              <a:avLst/>
            </a:prstGeom>
          </p:spPr>
          <p:txBody>
            <a:bodyPr lIns="0" tIns="0" rIns="0" bIns="0" rtlCol="0" anchor="t">
              <a:spAutoFit/>
            </a:bodyPr>
            <a:lstStyle/>
            <a:p>
              <a:pPr marL="381619" lvl="1" indent="-190809" algn="l">
                <a:lnSpc>
                  <a:spcPts val="3535"/>
                </a:lnSpc>
                <a:buAutoNum type="arabicPeriod"/>
              </a:pPr>
              <a:r>
                <a:rPr lang="en-US" sz="1767">
                  <a:solidFill>
                    <a:srgbClr val="000000"/>
                  </a:solidFill>
                  <a:latin typeface="Open Sans"/>
                  <a:ea typeface="Open Sans"/>
                  <a:cs typeface="Open Sans"/>
                  <a:sym typeface="Open Sans"/>
                </a:rPr>
                <a:t>Mengajar dengan penuh dedikasi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Membimbing siswa </a:t>
              </a:r>
            </a:p>
            <a:p>
              <a:pPr marL="381619" lvl="1" indent="-190809" algn="l">
                <a:lnSpc>
                  <a:spcPts val="3535"/>
                </a:lnSpc>
                <a:buAutoNum type="arabicPeriod"/>
              </a:pPr>
              <a:r>
                <a:rPr lang="en-US" sz="1767">
                  <a:solidFill>
                    <a:srgbClr val="000000"/>
                  </a:solidFill>
                  <a:latin typeface="Open Sans"/>
                  <a:ea typeface="Open Sans"/>
                  <a:cs typeface="Open Sans"/>
                  <a:sym typeface="Open Sans"/>
                </a:rPr>
                <a:t>Menjadi teladan</a:t>
              </a:r>
            </a:p>
          </p:txBody>
        </p:sp>
        <p:sp>
          <p:nvSpPr>
            <p:cNvPr id="25" name="TextBox 25"/>
            <p:cNvSpPr txBox="1"/>
            <p:nvPr/>
          </p:nvSpPr>
          <p:spPr>
            <a:xfrm>
              <a:off x="8026603" y="5703046"/>
              <a:ext cx="4009124" cy="1666973"/>
            </a:xfrm>
            <a:prstGeom prst="rect">
              <a:avLst/>
            </a:prstGeom>
          </p:spPr>
          <p:txBody>
            <a:bodyPr lIns="0" tIns="0" rIns="0" bIns="0" rtlCol="0" anchor="t">
              <a:spAutoFit/>
            </a:bodyPr>
            <a:lstStyle/>
            <a:p>
              <a:pPr marL="381619" lvl="1" indent="-190809" algn="l">
                <a:lnSpc>
                  <a:spcPts val="3535"/>
                </a:lnSpc>
                <a:buAutoNum type="arabicPeriod"/>
              </a:pPr>
              <a:r>
                <a:rPr lang="en-US" sz="1767">
                  <a:solidFill>
                    <a:srgbClr val="000000"/>
                  </a:solidFill>
                  <a:latin typeface="Open Sans"/>
                  <a:ea typeface="Open Sans"/>
                  <a:cs typeface="Open Sans"/>
                  <a:sym typeface="Open Sans"/>
                </a:rPr>
                <a:t>Menjaga kebersihan dan keamanan lingkungan sekolah</a:t>
              </a:r>
            </a:p>
          </p:txBody>
        </p:sp>
      </p:grpSp>
      <p:grpSp>
        <p:nvGrpSpPr>
          <p:cNvPr id="26" name="Group 26"/>
          <p:cNvGrpSpPr/>
          <p:nvPr/>
        </p:nvGrpSpPr>
        <p:grpSpPr>
          <a:xfrm>
            <a:off x="624834" y="231600"/>
            <a:ext cx="4793258" cy="797100"/>
            <a:chOff x="0" y="0"/>
            <a:chExt cx="6391011" cy="1062800"/>
          </a:xfrm>
        </p:grpSpPr>
        <p:sp>
          <p:nvSpPr>
            <p:cNvPr id="27" name="Freeform 27"/>
            <p:cNvSpPr/>
            <p:nvPr/>
          </p:nvSpPr>
          <p:spPr>
            <a:xfrm>
              <a:off x="0" y="0"/>
              <a:ext cx="1048535" cy="1062800"/>
            </a:xfrm>
            <a:custGeom>
              <a:avLst/>
              <a:gdLst/>
              <a:ahLst/>
              <a:cxnLst/>
              <a:rect l="l" t="t" r="r" b="b"/>
              <a:pathLst>
                <a:path w="1048535" h="1062800">
                  <a:moveTo>
                    <a:pt x="0" y="0"/>
                  </a:moveTo>
                  <a:lnTo>
                    <a:pt x="1048535" y="0"/>
                  </a:lnTo>
                  <a:lnTo>
                    <a:pt x="1048535" y="1062800"/>
                  </a:lnTo>
                  <a:lnTo>
                    <a:pt x="0" y="1062800"/>
                  </a:lnTo>
                  <a:lnTo>
                    <a:pt x="0" y="0"/>
                  </a:lnTo>
                  <a:close/>
                </a:path>
              </a:pathLst>
            </a:custGeom>
            <a:blipFill>
              <a:blip r:embed="rId4"/>
              <a:stretch>
                <a:fillRect/>
              </a:stretch>
            </a:blipFill>
          </p:spPr>
        </p:sp>
        <p:sp>
          <p:nvSpPr>
            <p:cNvPr id="28" name="Freeform 28"/>
            <p:cNvSpPr/>
            <p:nvPr/>
          </p:nvSpPr>
          <p:spPr>
            <a:xfrm>
              <a:off x="1135262" y="0"/>
              <a:ext cx="1062800" cy="1062800"/>
            </a:xfrm>
            <a:custGeom>
              <a:avLst/>
              <a:gdLst/>
              <a:ahLst/>
              <a:cxnLst/>
              <a:rect l="l" t="t" r="r" b="b"/>
              <a:pathLst>
                <a:path w="1062800" h="1062800">
                  <a:moveTo>
                    <a:pt x="0" y="0"/>
                  </a:moveTo>
                  <a:lnTo>
                    <a:pt x="1062800" y="0"/>
                  </a:lnTo>
                  <a:lnTo>
                    <a:pt x="1062800" y="1062800"/>
                  </a:lnTo>
                  <a:lnTo>
                    <a:pt x="0" y="1062800"/>
                  </a:lnTo>
                  <a:lnTo>
                    <a:pt x="0" y="0"/>
                  </a:lnTo>
                  <a:close/>
                </a:path>
              </a:pathLst>
            </a:custGeom>
            <a:blipFill>
              <a:blip r:embed="rId5"/>
              <a:stretch>
                <a:fillRect/>
              </a:stretch>
            </a:blipFill>
          </p:spPr>
        </p:sp>
        <p:sp>
          <p:nvSpPr>
            <p:cNvPr id="29" name="Freeform 29"/>
            <p:cNvSpPr/>
            <p:nvPr/>
          </p:nvSpPr>
          <p:spPr>
            <a:xfrm>
              <a:off x="2284790" y="0"/>
              <a:ext cx="1045841" cy="1062800"/>
            </a:xfrm>
            <a:custGeom>
              <a:avLst/>
              <a:gdLst/>
              <a:ahLst/>
              <a:cxnLst/>
              <a:rect l="l" t="t" r="r" b="b"/>
              <a:pathLst>
                <a:path w="1045841" h="1062800">
                  <a:moveTo>
                    <a:pt x="0" y="0"/>
                  </a:moveTo>
                  <a:lnTo>
                    <a:pt x="1045840" y="0"/>
                  </a:lnTo>
                  <a:lnTo>
                    <a:pt x="1045840" y="1062800"/>
                  </a:lnTo>
                  <a:lnTo>
                    <a:pt x="0" y="1062800"/>
                  </a:lnTo>
                  <a:lnTo>
                    <a:pt x="0" y="0"/>
                  </a:lnTo>
                  <a:close/>
                </a:path>
              </a:pathLst>
            </a:custGeom>
            <a:blipFill>
              <a:blip r:embed="rId6"/>
              <a:stretch>
                <a:fillRect l="-6537" t="-48240" r="-5931" b="-48445"/>
              </a:stretch>
            </a:blipFill>
          </p:spPr>
        </p:sp>
        <p:sp>
          <p:nvSpPr>
            <p:cNvPr id="30" name="Freeform 30"/>
            <p:cNvSpPr/>
            <p:nvPr/>
          </p:nvSpPr>
          <p:spPr>
            <a:xfrm>
              <a:off x="3417358" y="117675"/>
              <a:ext cx="2973653" cy="827451"/>
            </a:xfrm>
            <a:custGeom>
              <a:avLst/>
              <a:gdLst/>
              <a:ahLst/>
              <a:cxnLst/>
              <a:rect l="l" t="t" r="r" b="b"/>
              <a:pathLst>
                <a:path w="2973653" h="827451">
                  <a:moveTo>
                    <a:pt x="0" y="0"/>
                  </a:moveTo>
                  <a:lnTo>
                    <a:pt x="2973653" y="0"/>
                  </a:lnTo>
                  <a:lnTo>
                    <a:pt x="2973653" y="827451"/>
                  </a:lnTo>
                  <a:lnTo>
                    <a:pt x="0" y="827451"/>
                  </a:lnTo>
                  <a:lnTo>
                    <a:pt x="0" y="0"/>
                  </a:lnTo>
                  <a:close/>
                </a:path>
              </a:pathLst>
            </a:custGeom>
            <a:blipFill>
              <a:blip r:embed="rId7"/>
              <a:stretch>
                <a:fillRect l="-8614" t="-57846" r="-62053" b="-187155"/>
              </a:stretch>
            </a:blipFill>
          </p:spPr>
        </p:sp>
      </p:grpSp>
      <p:sp>
        <p:nvSpPr>
          <p:cNvPr id="31" name="TextBox 31"/>
          <p:cNvSpPr txBox="1"/>
          <p:nvPr/>
        </p:nvSpPr>
        <p:spPr>
          <a:xfrm>
            <a:off x="5588440" y="158316"/>
            <a:ext cx="3268601" cy="870384"/>
          </a:xfrm>
          <a:prstGeom prst="rect">
            <a:avLst/>
          </a:prstGeom>
        </p:spPr>
        <p:txBody>
          <a:bodyPr lIns="0" tIns="0" rIns="0" bIns="0" rtlCol="0" anchor="t">
            <a:spAutoFit/>
          </a:bodyPr>
          <a:lstStyle/>
          <a:p>
            <a:pPr marL="0" lvl="0" indent="0" algn="l">
              <a:lnSpc>
                <a:spcPts val="3513"/>
              </a:lnSpc>
            </a:pPr>
            <a:r>
              <a:rPr lang="en-US" sz="2509"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0422138" y="2629928"/>
            <a:ext cx="7970637" cy="7771372"/>
          </a:xfrm>
          <a:custGeom>
            <a:avLst/>
            <a:gdLst/>
            <a:ahLst/>
            <a:cxnLst/>
            <a:rect l="l" t="t" r="r" b="b"/>
            <a:pathLst>
              <a:path w="7970637" h="7771372">
                <a:moveTo>
                  <a:pt x="0" y="0"/>
                </a:moveTo>
                <a:lnTo>
                  <a:pt x="7970637" y="0"/>
                </a:lnTo>
                <a:lnTo>
                  <a:pt x="7970637" y="7771372"/>
                </a:lnTo>
                <a:lnTo>
                  <a:pt x="0" y="7771372"/>
                </a:lnTo>
                <a:lnTo>
                  <a:pt x="0" y="0"/>
                </a:lnTo>
                <a:close/>
              </a:path>
            </a:pathLst>
          </a:custGeom>
          <a:blipFill>
            <a:blip r:embed="rId2"/>
            <a:stretch>
              <a:fillRect/>
            </a:stretch>
          </a:blipFill>
        </p:spPr>
      </p:sp>
      <p:sp>
        <p:nvSpPr>
          <p:cNvPr id="3" name="Freeform 3"/>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755351" y="2310129"/>
            <a:ext cx="7615264" cy="2333625"/>
          </a:xfrm>
          <a:prstGeom prst="rect">
            <a:avLst/>
          </a:prstGeom>
        </p:spPr>
        <p:txBody>
          <a:bodyPr lIns="0" tIns="0" rIns="0" bIns="0" rtlCol="0" anchor="t">
            <a:spAutoFit/>
          </a:bodyPr>
          <a:lstStyle/>
          <a:p>
            <a:pPr marL="0" lvl="0" indent="0" algn="l">
              <a:lnSpc>
                <a:spcPts val="6000"/>
              </a:lnSpc>
            </a:pPr>
            <a:r>
              <a:rPr lang="en-US" sz="6000" b="1" spc="60">
                <a:solidFill>
                  <a:srgbClr val="4B6E29"/>
                </a:solidFill>
                <a:latin typeface="Proxima Nova Heavy"/>
                <a:ea typeface="Proxima Nova Heavy"/>
                <a:cs typeface="Proxima Nova Heavy"/>
                <a:sym typeface="Proxima Nova Heavy"/>
              </a:rPr>
              <a:t>EMPAT PILAR TANGGUNG JAWAB SISWA</a:t>
            </a:r>
          </a:p>
        </p:txBody>
      </p:sp>
      <p:sp>
        <p:nvSpPr>
          <p:cNvPr id="8" name="TextBox 8"/>
          <p:cNvSpPr txBox="1"/>
          <p:nvPr/>
        </p:nvSpPr>
        <p:spPr>
          <a:xfrm>
            <a:off x="1755351" y="4977129"/>
            <a:ext cx="6045617" cy="2309114"/>
          </a:xfrm>
          <a:prstGeom prst="rect">
            <a:avLst/>
          </a:prstGeom>
        </p:spPr>
        <p:txBody>
          <a:bodyPr lIns="0" tIns="0" rIns="0" bIns="0" rtlCol="0" anchor="t">
            <a:spAutoFit/>
          </a:bodyPr>
          <a:lstStyle/>
          <a:p>
            <a:pPr marL="0" lvl="0" indent="0" algn="l">
              <a:lnSpc>
                <a:spcPts val="6327"/>
              </a:lnSpc>
            </a:pPr>
            <a:r>
              <a:rPr lang="en-US" sz="2799" b="1">
                <a:solidFill>
                  <a:srgbClr val="4B6E29"/>
                </a:solidFill>
                <a:latin typeface="Proxima Nova Bold"/>
                <a:ea typeface="Proxima Nova Bold"/>
                <a:cs typeface="Proxima Nova Bold"/>
                <a:sym typeface="Proxima Nova Bold"/>
              </a:rPr>
              <a:t>Sebagai siswa kelas VII, kamu memiliki empat pilar tanggung jawab yang harus dijalankan di sekolah.</a:t>
            </a:r>
          </a:p>
        </p:txBody>
      </p:sp>
      <p:grpSp>
        <p:nvGrpSpPr>
          <p:cNvPr id="9" name="Group 9"/>
          <p:cNvGrpSpPr/>
          <p:nvPr/>
        </p:nvGrpSpPr>
        <p:grpSpPr>
          <a:xfrm>
            <a:off x="580046" y="345762"/>
            <a:ext cx="4725188" cy="785780"/>
            <a:chOff x="0" y="0"/>
            <a:chExt cx="6300251" cy="1047707"/>
          </a:xfrm>
        </p:grpSpPr>
        <p:sp>
          <p:nvSpPr>
            <p:cNvPr id="10" name="Freeform 10"/>
            <p:cNvSpPr/>
            <p:nvPr/>
          </p:nvSpPr>
          <p:spPr>
            <a:xfrm>
              <a:off x="0" y="0"/>
              <a:ext cx="1033644" cy="1047707"/>
            </a:xfrm>
            <a:custGeom>
              <a:avLst/>
              <a:gdLst/>
              <a:ahLst/>
              <a:cxnLst/>
              <a:rect l="l" t="t" r="r" b="b"/>
              <a:pathLst>
                <a:path w="1033644" h="1047707">
                  <a:moveTo>
                    <a:pt x="0" y="0"/>
                  </a:moveTo>
                  <a:lnTo>
                    <a:pt x="1033644" y="0"/>
                  </a:lnTo>
                  <a:lnTo>
                    <a:pt x="1033644" y="1047707"/>
                  </a:lnTo>
                  <a:lnTo>
                    <a:pt x="0" y="1047707"/>
                  </a:lnTo>
                  <a:lnTo>
                    <a:pt x="0" y="0"/>
                  </a:lnTo>
                  <a:close/>
                </a:path>
              </a:pathLst>
            </a:custGeom>
            <a:blipFill>
              <a:blip r:embed="rId5"/>
              <a:stretch>
                <a:fillRect/>
              </a:stretch>
            </a:blipFill>
          </p:spPr>
        </p:sp>
        <p:sp>
          <p:nvSpPr>
            <p:cNvPr id="11" name="Freeform 11"/>
            <p:cNvSpPr/>
            <p:nvPr/>
          </p:nvSpPr>
          <p:spPr>
            <a:xfrm>
              <a:off x="1119140" y="0"/>
              <a:ext cx="1047707" cy="1047707"/>
            </a:xfrm>
            <a:custGeom>
              <a:avLst/>
              <a:gdLst/>
              <a:ahLst/>
              <a:cxnLst/>
              <a:rect l="l" t="t" r="r" b="b"/>
              <a:pathLst>
                <a:path w="1047707" h="1047707">
                  <a:moveTo>
                    <a:pt x="0" y="0"/>
                  </a:moveTo>
                  <a:lnTo>
                    <a:pt x="1047707" y="0"/>
                  </a:lnTo>
                  <a:lnTo>
                    <a:pt x="1047707" y="1047707"/>
                  </a:lnTo>
                  <a:lnTo>
                    <a:pt x="0" y="1047707"/>
                  </a:lnTo>
                  <a:lnTo>
                    <a:pt x="0" y="0"/>
                  </a:lnTo>
                  <a:close/>
                </a:path>
              </a:pathLst>
            </a:custGeom>
            <a:blipFill>
              <a:blip r:embed="rId6"/>
              <a:stretch>
                <a:fillRect/>
              </a:stretch>
            </a:blipFill>
          </p:spPr>
        </p:sp>
        <p:sp>
          <p:nvSpPr>
            <p:cNvPr id="12" name="Freeform 12"/>
            <p:cNvSpPr/>
            <p:nvPr/>
          </p:nvSpPr>
          <p:spPr>
            <a:xfrm>
              <a:off x="2252343" y="0"/>
              <a:ext cx="1030989" cy="1047707"/>
            </a:xfrm>
            <a:custGeom>
              <a:avLst/>
              <a:gdLst/>
              <a:ahLst/>
              <a:cxnLst/>
              <a:rect l="l" t="t" r="r" b="b"/>
              <a:pathLst>
                <a:path w="1030989" h="1047707">
                  <a:moveTo>
                    <a:pt x="0" y="0"/>
                  </a:moveTo>
                  <a:lnTo>
                    <a:pt x="1030988" y="0"/>
                  </a:lnTo>
                  <a:lnTo>
                    <a:pt x="1030988" y="1047707"/>
                  </a:lnTo>
                  <a:lnTo>
                    <a:pt x="0" y="1047707"/>
                  </a:lnTo>
                  <a:lnTo>
                    <a:pt x="0" y="0"/>
                  </a:lnTo>
                  <a:close/>
                </a:path>
              </a:pathLst>
            </a:custGeom>
            <a:blipFill>
              <a:blip r:embed="rId7"/>
              <a:stretch>
                <a:fillRect l="-6537" t="-48240" r="-5931" b="-48445"/>
              </a:stretch>
            </a:blipFill>
          </p:spPr>
        </p:sp>
        <p:sp>
          <p:nvSpPr>
            <p:cNvPr id="13" name="Freeform 13"/>
            <p:cNvSpPr/>
            <p:nvPr/>
          </p:nvSpPr>
          <p:spPr>
            <a:xfrm>
              <a:off x="3368827" y="116003"/>
              <a:ext cx="2931423" cy="815700"/>
            </a:xfrm>
            <a:custGeom>
              <a:avLst/>
              <a:gdLst/>
              <a:ahLst/>
              <a:cxnLst/>
              <a:rect l="l" t="t" r="r" b="b"/>
              <a:pathLst>
                <a:path w="2931423" h="815700">
                  <a:moveTo>
                    <a:pt x="0" y="0"/>
                  </a:moveTo>
                  <a:lnTo>
                    <a:pt x="2931424" y="0"/>
                  </a:lnTo>
                  <a:lnTo>
                    <a:pt x="2931424" y="815701"/>
                  </a:lnTo>
                  <a:lnTo>
                    <a:pt x="0" y="815701"/>
                  </a:lnTo>
                  <a:lnTo>
                    <a:pt x="0" y="0"/>
                  </a:lnTo>
                  <a:close/>
                </a:path>
              </a:pathLst>
            </a:custGeom>
            <a:blipFill>
              <a:blip r:embed="rId8"/>
              <a:stretch>
                <a:fillRect l="-8614" t="-57846" r="-62053" b="-187155"/>
              </a:stretch>
            </a:blipFill>
          </p:spPr>
        </p:sp>
      </p:grpSp>
      <p:sp>
        <p:nvSpPr>
          <p:cNvPr id="14" name="TextBox 14"/>
          <p:cNvSpPr txBox="1"/>
          <p:nvPr/>
        </p:nvSpPr>
        <p:spPr>
          <a:xfrm>
            <a:off x="5473163" y="272842"/>
            <a:ext cx="3222182" cy="858700"/>
          </a:xfrm>
          <a:prstGeom prst="rect">
            <a:avLst/>
          </a:prstGeom>
        </p:spPr>
        <p:txBody>
          <a:bodyPr lIns="0" tIns="0" rIns="0" bIns="0" rtlCol="0" anchor="t">
            <a:spAutoFit/>
          </a:bodyPr>
          <a:lstStyle/>
          <a:p>
            <a:pPr marL="0" lvl="0" indent="0" algn="l">
              <a:lnSpc>
                <a:spcPts val="3463"/>
              </a:lnSpc>
            </a:pPr>
            <a:r>
              <a:rPr lang="en-US" sz="2474"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0570757" y="1709748"/>
            <a:ext cx="8227304" cy="7548552"/>
          </a:xfrm>
          <a:custGeom>
            <a:avLst/>
            <a:gdLst/>
            <a:ahLst/>
            <a:cxnLst/>
            <a:rect l="l" t="t" r="r" b="b"/>
            <a:pathLst>
              <a:path w="8227304" h="7548552">
                <a:moveTo>
                  <a:pt x="0" y="0"/>
                </a:moveTo>
                <a:lnTo>
                  <a:pt x="8227304" y="0"/>
                </a:lnTo>
                <a:lnTo>
                  <a:pt x="8227304" y="7548552"/>
                </a:lnTo>
                <a:lnTo>
                  <a:pt x="0" y="7548552"/>
                </a:lnTo>
                <a:lnTo>
                  <a:pt x="0" y="0"/>
                </a:lnTo>
                <a:close/>
              </a:path>
            </a:pathLst>
          </a:custGeom>
          <a:blipFill>
            <a:blip r:embed="rId2"/>
            <a:stretch>
              <a:fillRect/>
            </a:stretch>
          </a:blipFill>
        </p:spPr>
      </p:sp>
      <p:sp>
        <p:nvSpPr>
          <p:cNvPr id="3" name="TextBox 3"/>
          <p:cNvSpPr txBox="1"/>
          <p:nvPr/>
        </p:nvSpPr>
        <p:spPr>
          <a:xfrm>
            <a:off x="1028700" y="1114425"/>
            <a:ext cx="9125014" cy="1298575"/>
          </a:xfrm>
          <a:prstGeom prst="rect">
            <a:avLst/>
          </a:prstGeom>
        </p:spPr>
        <p:txBody>
          <a:bodyPr lIns="0" tIns="0" rIns="0" bIns="0" rtlCol="0" anchor="t">
            <a:spAutoFit/>
          </a:bodyPr>
          <a:lstStyle/>
          <a:p>
            <a:pPr marL="0" lvl="0" indent="0" algn="l">
              <a:lnSpc>
                <a:spcPts val="5000"/>
              </a:lnSpc>
            </a:pPr>
            <a:r>
              <a:rPr lang="en-US" sz="5000" b="1" spc="50">
                <a:solidFill>
                  <a:srgbClr val="4B6E29"/>
                </a:solidFill>
                <a:latin typeface="Proxima Nova Heavy"/>
                <a:ea typeface="Proxima Nova Heavy"/>
                <a:cs typeface="Proxima Nova Heavy"/>
                <a:sym typeface="Proxima Nova Heavy"/>
              </a:rPr>
              <a:t>PILAR 1 - TANGGUNG JAWAB TERHADAP DIRI SENDIRI</a:t>
            </a:r>
          </a:p>
        </p:txBody>
      </p:sp>
      <p:sp>
        <p:nvSpPr>
          <p:cNvPr id="4" name="TextBox 4"/>
          <p:cNvSpPr txBox="1"/>
          <p:nvPr/>
        </p:nvSpPr>
        <p:spPr>
          <a:xfrm>
            <a:off x="1028700" y="2859756"/>
            <a:ext cx="10496461" cy="976680"/>
          </a:xfrm>
          <a:prstGeom prst="rect">
            <a:avLst/>
          </a:prstGeom>
        </p:spPr>
        <p:txBody>
          <a:bodyPr lIns="0" tIns="0" rIns="0" bIns="0" rtlCol="0" anchor="t">
            <a:spAutoFit/>
          </a:bodyPr>
          <a:lstStyle/>
          <a:p>
            <a:pPr marL="0" lvl="0" indent="0" algn="l">
              <a:lnSpc>
                <a:spcPts val="3917"/>
              </a:lnSpc>
            </a:pPr>
            <a:r>
              <a:rPr lang="en-US" sz="2798" b="1">
                <a:solidFill>
                  <a:srgbClr val="4B6E29"/>
                </a:solidFill>
                <a:latin typeface="Proxima Nova Bold"/>
                <a:ea typeface="Proxima Nova Bold"/>
                <a:cs typeface="Proxima Nova Bold"/>
                <a:sym typeface="Proxima Nova Bold"/>
              </a:rPr>
              <a:t>Tanggung jawab dimulai dari diri sendiri. Dengan disiplin pribadi, kamu membangun fondasi untuk sukses di sekolah.</a:t>
            </a:r>
          </a:p>
        </p:txBody>
      </p:sp>
      <p:sp>
        <p:nvSpPr>
          <p:cNvPr id="5" name="TextBox 5"/>
          <p:cNvSpPr txBox="1"/>
          <p:nvPr/>
        </p:nvSpPr>
        <p:spPr>
          <a:xfrm>
            <a:off x="1028700" y="3954406"/>
            <a:ext cx="8467814" cy="3686176"/>
          </a:xfrm>
          <a:prstGeom prst="rect">
            <a:avLst/>
          </a:prstGeom>
        </p:spPr>
        <p:txBody>
          <a:bodyPr lIns="0" tIns="0" rIns="0" bIns="0" rtlCol="0" anchor="t">
            <a:spAutoFit/>
          </a:bodyPr>
          <a:lstStyle/>
          <a:p>
            <a:pPr algn="l">
              <a:lnSpc>
                <a:spcPts val="5999"/>
              </a:lnSpc>
            </a:pPr>
            <a:r>
              <a:rPr lang="en-US" sz="2999" b="1">
                <a:solidFill>
                  <a:srgbClr val="4D2F20"/>
                </a:solidFill>
                <a:latin typeface="Proxima Nova Bold"/>
                <a:ea typeface="Proxima Nova Bold"/>
                <a:cs typeface="Proxima Nova Bold"/>
                <a:sym typeface="Proxima Nova Bold"/>
              </a:rPr>
              <a:t>CONTOHNYA :</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Masuk kelas sebelum bel berbunyi</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Mengerjakan tugas mandiri, tidak menyontek</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Membawa perlengkapan belajar lengkap</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Menjaga kesehatan agar belajar optimal</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29682" y="9287979"/>
            <a:ext cx="4725188" cy="785780"/>
            <a:chOff x="0" y="0"/>
            <a:chExt cx="6300251" cy="1047707"/>
          </a:xfrm>
        </p:grpSpPr>
        <p:sp>
          <p:nvSpPr>
            <p:cNvPr id="11" name="Freeform 11"/>
            <p:cNvSpPr/>
            <p:nvPr/>
          </p:nvSpPr>
          <p:spPr>
            <a:xfrm>
              <a:off x="0" y="0"/>
              <a:ext cx="1033644" cy="1047707"/>
            </a:xfrm>
            <a:custGeom>
              <a:avLst/>
              <a:gdLst/>
              <a:ahLst/>
              <a:cxnLst/>
              <a:rect l="l" t="t" r="r" b="b"/>
              <a:pathLst>
                <a:path w="1033644" h="1047707">
                  <a:moveTo>
                    <a:pt x="0" y="0"/>
                  </a:moveTo>
                  <a:lnTo>
                    <a:pt x="1033644" y="0"/>
                  </a:lnTo>
                  <a:lnTo>
                    <a:pt x="1033644" y="1047707"/>
                  </a:lnTo>
                  <a:lnTo>
                    <a:pt x="0" y="1047707"/>
                  </a:lnTo>
                  <a:lnTo>
                    <a:pt x="0" y="0"/>
                  </a:lnTo>
                  <a:close/>
                </a:path>
              </a:pathLst>
            </a:custGeom>
            <a:blipFill>
              <a:blip r:embed="rId5"/>
              <a:stretch>
                <a:fillRect/>
              </a:stretch>
            </a:blipFill>
          </p:spPr>
        </p:sp>
        <p:sp>
          <p:nvSpPr>
            <p:cNvPr id="12" name="Freeform 12"/>
            <p:cNvSpPr/>
            <p:nvPr/>
          </p:nvSpPr>
          <p:spPr>
            <a:xfrm>
              <a:off x="1119140" y="0"/>
              <a:ext cx="1047707" cy="1047707"/>
            </a:xfrm>
            <a:custGeom>
              <a:avLst/>
              <a:gdLst/>
              <a:ahLst/>
              <a:cxnLst/>
              <a:rect l="l" t="t" r="r" b="b"/>
              <a:pathLst>
                <a:path w="1047707" h="1047707">
                  <a:moveTo>
                    <a:pt x="0" y="0"/>
                  </a:moveTo>
                  <a:lnTo>
                    <a:pt x="1047707" y="0"/>
                  </a:lnTo>
                  <a:lnTo>
                    <a:pt x="1047707" y="1047707"/>
                  </a:lnTo>
                  <a:lnTo>
                    <a:pt x="0" y="1047707"/>
                  </a:lnTo>
                  <a:lnTo>
                    <a:pt x="0" y="0"/>
                  </a:lnTo>
                  <a:close/>
                </a:path>
              </a:pathLst>
            </a:custGeom>
            <a:blipFill>
              <a:blip r:embed="rId6"/>
              <a:stretch>
                <a:fillRect/>
              </a:stretch>
            </a:blipFill>
          </p:spPr>
        </p:sp>
        <p:sp>
          <p:nvSpPr>
            <p:cNvPr id="13" name="Freeform 13"/>
            <p:cNvSpPr/>
            <p:nvPr/>
          </p:nvSpPr>
          <p:spPr>
            <a:xfrm>
              <a:off x="2252343" y="0"/>
              <a:ext cx="1030989" cy="1047707"/>
            </a:xfrm>
            <a:custGeom>
              <a:avLst/>
              <a:gdLst/>
              <a:ahLst/>
              <a:cxnLst/>
              <a:rect l="l" t="t" r="r" b="b"/>
              <a:pathLst>
                <a:path w="1030989" h="1047707">
                  <a:moveTo>
                    <a:pt x="0" y="0"/>
                  </a:moveTo>
                  <a:lnTo>
                    <a:pt x="1030988" y="0"/>
                  </a:lnTo>
                  <a:lnTo>
                    <a:pt x="1030988" y="1047707"/>
                  </a:lnTo>
                  <a:lnTo>
                    <a:pt x="0" y="1047707"/>
                  </a:lnTo>
                  <a:lnTo>
                    <a:pt x="0" y="0"/>
                  </a:lnTo>
                  <a:close/>
                </a:path>
              </a:pathLst>
            </a:custGeom>
            <a:blipFill>
              <a:blip r:embed="rId7"/>
              <a:stretch>
                <a:fillRect l="-6537" t="-48240" r="-5931" b="-48445"/>
              </a:stretch>
            </a:blipFill>
          </p:spPr>
        </p:sp>
        <p:sp>
          <p:nvSpPr>
            <p:cNvPr id="14" name="Freeform 14"/>
            <p:cNvSpPr/>
            <p:nvPr/>
          </p:nvSpPr>
          <p:spPr>
            <a:xfrm>
              <a:off x="3368827" y="116003"/>
              <a:ext cx="2931423" cy="815700"/>
            </a:xfrm>
            <a:custGeom>
              <a:avLst/>
              <a:gdLst/>
              <a:ahLst/>
              <a:cxnLst/>
              <a:rect l="l" t="t" r="r" b="b"/>
              <a:pathLst>
                <a:path w="2931423" h="815700">
                  <a:moveTo>
                    <a:pt x="0" y="0"/>
                  </a:moveTo>
                  <a:lnTo>
                    <a:pt x="2931424" y="0"/>
                  </a:lnTo>
                  <a:lnTo>
                    <a:pt x="2931424" y="815701"/>
                  </a:lnTo>
                  <a:lnTo>
                    <a:pt x="0" y="815701"/>
                  </a:lnTo>
                  <a:lnTo>
                    <a:pt x="0" y="0"/>
                  </a:lnTo>
                  <a:close/>
                </a:path>
              </a:pathLst>
            </a:custGeom>
            <a:blipFill>
              <a:blip r:embed="rId8"/>
              <a:stretch>
                <a:fillRect l="-8614" t="-57846" r="-62053" b="-187155"/>
              </a:stretch>
            </a:blipFill>
          </p:spPr>
        </p:sp>
      </p:grpSp>
      <p:sp>
        <p:nvSpPr>
          <p:cNvPr id="15" name="TextBox 15"/>
          <p:cNvSpPr txBox="1"/>
          <p:nvPr/>
        </p:nvSpPr>
        <p:spPr>
          <a:xfrm>
            <a:off x="10722800" y="9215060"/>
            <a:ext cx="3222182" cy="858700"/>
          </a:xfrm>
          <a:prstGeom prst="rect">
            <a:avLst/>
          </a:prstGeom>
        </p:spPr>
        <p:txBody>
          <a:bodyPr lIns="0" tIns="0" rIns="0" bIns="0" rtlCol="0" anchor="t">
            <a:spAutoFit/>
          </a:bodyPr>
          <a:lstStyle/>
          <a:p>
            <a:pPr marL="0" lvl="0" indent="0" algn="l">
              <a:lnSpc>
                <a:spcPts val="3463"/>
              </a:lnSpc>
            </a:pPr>
            <a:r>
              <a:rPr lang="en-US" sz="2474"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9914055" y="3072210"/>
            <a:ext cx="8373945" cy="6112980"/>
          </a:xfrm>
          <a:custGeom>
            <a:avLst/>
            <a:gdLst/>
            <a:ahLst/>
            <a:cxnLst/>
            <a:rect l="l" t="t" r="r" b="b"/>
            <a:pathLst>
              <a:path w="8373945" h="6112980">
                <a:moveTo>
                  <a:pt x="0" y="0"/>
                </a:moveTo>
                <a:lnTo>
                  <a:pt x="8373945" y="0"/>
                </a:lnTo>
                <a:lnTo>
                  <a:pt x="8373945" y="6112979"/>
                </a:lnTo>
                <a:lnTo>
                  <a:pt x="0" y="6112979"/>
                </a:lnTo>
                <a:lnTo>
                  <a:pt x="0" y="0"/>
                </a:lnTo>
                <a:close/>
              </a:path>
            </a:pathLst>
          </a:custGeom>
          <a:blipFill>
            <a:blip r:embed="rId2"/>
            <a:stretch>
              <a:fillRect/>
            </a:stretch>
          </a:blipFill>
        </p:spPr>
      </p:sp>
      <p:sp>
        <p:nvSpPr>
          <p:cNvPr id="3" name="TextBox 3"/>
          <p:cNvSpPr txBox="1"/>
          <p:nvPr/>
        </p:nvSpPr>
        <p:spPr>
          <a:xfrm>
            <a:off x="1028700" y="1500585"/>
            <a:ext cx="11768263" cy="1300964"/>
          </a:xfrm>
          <a:prstGeom prst="rect">
            <a:avLst/>
          </a:prstGeom>
        </p:spPr>
        <p:txBody>
          <a:bodyPr lIns="0" tIns="0" rIns="0" bIns="0" rtlCol="0" anchor="t">
            <a:spAutoFit/>
          </a:bodyPr>
          <a:lstStyle/>
          <a:p>
            <a:pPr marL="0" lvl="0" indent="0" algn="l">
              <a:lnSpc>
                <a:spcPts val="5094"/>
              </a:lnSpc>
            </a:pPr>
            <a:r>
              <a:rPr lang="en-US" sz="5094" b="1" spc="50">
                <a:solidFill>
                  <a:srgbClr val="4B6E29"/>
                </a:solidFill>
                <a:latin typeface="Proxima Nova Heavy"/>
                <a:ea typeface="Proxima Nova Heavy"/>
                <a:cs typeface="Proxima Nova Heavy"/>
                <a:sym typeface="Proxima Nova Heavy"/>
              </a:rPr>
              <a:t>PILAR 2 - TANGGUNG JAWAB TERHADAP TEMAN</a:t>
            </a:r>
          </a:p>
        </p:txBody>
      </p:sp>
      <p:sp>
        <p:nvSpPr>
          <p:cNvPr id="4" name="TextBox 4"/>
          <p:cNvSpPr txBox="1"/>
          <p:nvPr/>
        </p:nvSpPr>
        <p:spPr>
          <a:xfrm>
            <a:off x="1028700" y="3097252"/>
            <a:ext cx="10592601" cy="976680"/>
          </a:xfrm>
          <a:prstGeom prst="rect">
            <a:avLst/>
          </a:prstGeom>
        </p:spPr>
        <p:txBody>
          <a:bodyPr lIns="0" tIns="0" rIns="0" bIns="0" rtlCol="0" anchor="t">
            <a:spAutoFit/>
          </a:bodyPr>
          <a:lstStyle/>
          <a:p>
            <a:pPr marL="0" lvl="0" indent="0" algn="l">
              <a:lnSpc>
                <a:spcPts val="3917"/>
              </a:lnSpc>
            </a:pPr>
            <a:r>
              <a:rPr lang="en-US" sz="2798" b="1">
                <a:solidFill>
                  <a:srgbClr val="4B6E29"/>
                </a:solidFill>
                <a:latin typeface="Proxima Nova Bold"/>
                <a:ea typeface="Proxima Nova Bold"/>
                <a:cs typeface="Proxima Nova Bold"/>
                <a:sym typeface="Proxima Nova Bold"/>
              </a:rPr>
              <a:t>Belajar adalah pengalaman bersama. Perilaku kita mempengaruhi hak dan kenyamanan teman-teman di sekitar kita.</a:t>
            </a:r>
          </a:p>
        </p:txBody>
      </p:sp>
      <p:sp>
        <p:nvSpPr>
          <p:cNvPr id="5" name="TextBox 5"/>
          <p:cNvSpPr txBox="1"/>
          <p:nvPr/>
        </p:nvSpPr>
        <p:spPr>
          <a:xfrm>
            <a:off x="1028700" y="4407307"/>
            <a:ext cx="7895846" cy="3686176"/>
          </a:xfrm>
          <a:prstGeom prst="rect">
            <a:avLst/>
          </a:prstGeom>
        </p:spPr>
        <p:txBody>
          <a:bodyPr lIns="0" tIns="0" rIns="0" bIns="0" rtlCol="0" anchor="t">
            <a:spAutoFit/>
          </a:bodyPr>
          <a:lstStyle/>
          <a:p>
            <a:pPr algn="l">
              <a:lnSpc>
                <a:spcPts val="5999"/>
              </a:lnSpc>
            </a:pPr>
            <a:r>
              <a:rPr lang="en-US" sz="2999" b="1">
                <a:solidFill>
                  <a:srgbClr val="4D2F20"/>
                </a:solidFill>
                <a:latin typeface="Proxima Nova Bold"/>
                <a:ea typeface="Proxima Nova Bold"/>
                <a:cs typeface="Proxima Nova Bold"/>
                <a:sym typeface="Proxima Nova Bold"/>
              </a:rPr>
              <a:t>CONTOHNYA :</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Tidak berbicara saat guru menjelaskan</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Menghargai pendapat teman saat diskusi</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Tidak mengejek teman yang salah</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Membantu teman yang kesulitan</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29682" y="9287979"/>
            <a:ext cx="4725188" cy="785780"/>
            <a:chOff x="0" y="0"/>
            <a:chExt cx="6300251" cy="1047707"/>
          </a:xfrm>
        </p:grpSpPr>
        <p:sp>
          <p:nvSpPr>
            <p:cNvPr id="11" name="Freeform 11"/>
            <p:cNvSpPr/>
            <p:nvPr/>
          </p:nvSpPr>
          <p:spPr>
            <a:xfrm>
              <a:off x="0" y="0"/>
              <a:ext cx="1033644" cy="1047707"/>
            </a:xfrm>
            <a:custGeom>
              <a:avLst/>
              <a:gdLst/>
              <a:ahLst/>
              <a:cxnLst/>
              <a:rect l="l" t="t" r="r" b="b"/>
              <a:pathLst>
                <a:path w="1033644" h="1047707">
                  <a:moveTo>
                    <a:pt x="0" y="0"/>
                  </a:moveTo>
                  <a:lnTo>
                    <a:pt x="1033644" y="0"/>
                  </a:lnTo>
                  <a:lnTo>
                    <a:pt x="1033644" y="1047707"/>
                  </a:lnTo>
                  <a:lnTo>
                    <a:pt x="0" y="1047707"/>
                  </a:lnTo>
                  <a:lnTo>
                    <a:pt x="0" y="0"/>
                  </a:lnTo>
                  <a:close/>
                </a:path>
              </a:pathLst>
            </a:custGeom>
            <a:blipFill>
              <a:blip r:embed="rId5"/>
              <a:stretch>
                <a:fillRect/>
              </a:stretch>
            </a:blipFill>
          </p:spPr>
        </p:sp>
        <p:sp>
          <p:nvSpPr>
            <p:cNvPr id="12" name="Freeform 12"/>
            <p:cNvSpPr/>
            <p:nvPr/>
          </p:nvSpPr>
          <p:spPr>
            <a:xfrm>
              <a:off x="1119140" y="0"/>
              <a:ext cx="1047707" cy="1047707"/>
            </a:xfrm>
            <a:custGeom>
              <a:avLst/>
              <a:gdLst/>
              <a:ahLst/>
              <a:cxnLst/>
              <a:rect l="l" t="t" r="r" b="b"/>
              <a:pathLst>
                <a:path w="1047707" h="1047707">
                  <a:moveTo>
                    <a:pt x="0" y="0"/>
                  </a:moveTo>
                  <a:lnTo>
                    <a:pt x="1047707" y="0"/>
                  </a:lnTo>
                  <a:lnTo>
                    <a:pt x="1047707" y="1047707"/>
                  </a:lnTo>
                  <a:lnTo>
                    <a:pt x="0" y="1047707"/>
                  </a:lnTo>
                  <a:lnTo>
                    <a:pt x="0" y="0"/>
                  </a:lnTo>
                  <a:close/>
                </a:path>
              </a:pathLst>
            </a:custGeom>
            <a:blipFill>
              <a:blip r:embed="rId6"/>
              <a:stretch>
                <a:fillRect/>
              </a:stretch>
            </a:blipFill>
          </p:spPr>
        </p:sp>
        <p:sp>
          <p:nvSpPr>
            <p:cNvPr id="13" name="Freeform 13"/>
            <p:cNvSpPr/>
            <p:nvPr/>
          </p:nvSpPr>
          <p:spPr>
            <a:xfrm>
              <a:off x="2252343" y="0"/>
              <a:ext cx="1030989" cy="1047707"/>
            </a:xfrm>
            <a:custGeom>
              <a:avLst/>
              <a:gdLst/>
              <a:ahLst/>
              <a:cxnLst/>
              <a:rect l="l" t="t" r="r" b="b"/>
              <a:pathLst>
                <a:path w="1030989" h="1047707">
                  <a:moveTo>
                    <a:pt x="0" y="0"/>
                  </a:moveTo>
                  <a:lnTo>
                    <a:pt x="1030988" y="0"/>
                  </a:lnTo>
                  <a:lnTo>
                    <a:pt x="1030988" y="1047707"/>
                  </a:lnTo>
                  <a:lnTo>
                    <a:pt x="0" y="1047707"/>
                  </a:lnTo>
                  <a:lnTo>
                    <a:pt x="0" y="0"/>
                  </a:lnTo>
                  <a:close/>
                </a:path>
              </a:pathLst>
            </a:custGeom>
            <a:blipFill>
              <a:blip r:embed="rId7"/>
              <a:stretch>
                <a:fillRect l="-6537" t="-48240" r="-5931" b="-48445"/>
              </a:stretch>
            </a:blipFill>
          </p:spPr>
        </p:sp>
        <p:sp>
          <p:nvSpPr>
            <p:cNvPr id="14" name="Freeform 14"/>
            <p:cNvSpPr/>
            <p:nvPr/>
          </p:nvSpPr>
          <p:spPr>
            <a:xfrm>
              <a:off x="3368827" y="116003"/>
              <a:ext cx="2931423" cy="815700"/>
            </a:xfrm>
            <a:custGeom>
              <a:avLst/>
              <a:gdLst/>
              <a:ahLst/>
              <a:cxnLst/>
              <a:rect l="l" t="t" r="r" b="b"/>
              <a:pathLst>
                <a:path w="2931423" h="815700">
                  <a:moveTo>
                    <a:pt x="0" y="0"/>
                  </a:moveTo>
                  <a:lnTo>
                    <a:pt x="2931424" y="0"/>
                  </a:lnTo>
                  <a:lnTo>
                    <a:pt x="2931424" y="815701"/>
                  </a:lnTo>
                  <a:lnTo>
                    <a:pt x="0" y="815701"/>
                  </a:lnTo>
                  <a:lnTo>
                    <a:pt x="0" y="0"/>
                  </a:lnTo>
                  <a:close/>
                </a:path>
              </a:pathLst>
            </a:custGeom>
            <a:blipFill>
              <a:blip r:embed="rId8"/>
              <a:stretch>
                <a:fillRect l="-8614" t="-57846" r="-62053" b="-187155"/>
              </a:stretch>
            </a:blipFill>
          </p:spPr>
        </p:sp>
      </p:grpSp>
      <p:sp>
        <p:nvSpPr>
          <p:cNvPr id="15" name="TextBox 15"/>
          <p:cNvSpPr txBox="1"/>
          <p:nvPr/>
        </p:nvSpPr>
        <p:spPr>
          <a:xfrm>
            <a:off x="10722800" y="9215060"/>
            <a:ext cx="3222182" cy="858700"/>
          </a:xfrm>
          <a:prstGeom prst="rect">
            <a:avLst/>
          </a:prstGeom>
        </p:spPr>
        <p:txBody>
          <a:bodyPr lIns="0" tIns="0" rIns="0" bIns="0" rtlCol="0" anchor="t">
            <a:spAutoFit/>
          </a:bodyPr>
          <a:lstStyle/>
          <a:p>
            <a:pPr marL="0" lvl="0" indent="0" algn="l">
              <a:lnSpc>
                <a:spcPts val="3463"/>
              </a:lnSpc>
            </a:pPr>
            <a:r>
              <a:rPr lang="en-US" sz="2474"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2167876" y="2455267"/>
            <a:ext cx="7991574" cy="8022233"/>
          </a:xfrm>
          <a:custGeom>
            <a:avLst/>
            <a:gdLst/>
            <a:ahLst/>
            <a:cxnLst/>
            <a:rect l="l" t="t" r="r" b="b"/>
            <a:pathLst>
              <a:path w="7991574" h="8022233">
                <a:moveTo>
                  <a:pt x="0" y="0"/>
                </a:moveTo>
                <a:lnTo>
                  <a:pt x="7991574" y="0"/>
                </a:lnTo>
                <a:lnTo>
                  <a:pt x="7991574" y="8022233"/>
                </a:lnTo>
                <a:lnTo>
                  <a:pt x="0" y="8022233"/>
                </a:lnTo>
                <a:lnTo>
                  <a:pt x="0" y="0"/>
                </a:lnTo>
                <a:close/>
              </a:path>
            </a:pathLst>
          </a:custGeom>
          <a:blipFill>
            <a:blip r:embed="rId2"/>
            <a:stretch>
              <a:fillRect/>
            </a:stretch>
          </a:blipFill>
        </p:spPr>
      </p:sp>
      <p:sp>
        <p:nvSpPr>
          <p:cNvPr id="3" name="TextBox 3"/>
          <p:cNvSpPr txBox="1"/>
          <p:nvPr/>
        </p:nvSpPr>
        <p:spPr>
          <a:xfrm>
            <a:off x="1028700" y="1123950"/>
            <a:ext cx="11381360" cy="1289027"/>
          </a:xfrm>
          <a:prstGeom prst="rect">
            <a:avLst/>
          </a:prstGeom>
        </p:spPr>
        <p:txBody>
          <a:bodyPr lIns="0" tIns="0" rIns="0" bIns="0" rtlCol="0" anchor="t">
            <a:spAutoFit/>
          </a:bodyPr>
          <a:lstStyle/>
          <a:p>
            <a:pPr marL="0" lvl="0" indent="0" algn="l">
              <a:lnSpc>
                <a:spcPts val="4999"/>
              </a:lnSpc>
            </a:pPr>
            <a:r>
              <a:rPr lang="en-US" sz="4999" b="1" spc="49">
                <a:solidFill>
                  <a:srgbClr val="4B6E29"/>
                </a:solidFill>
                <a:latin typeface="Proxima Nova Heavy"/>
                <a:ea typeface="Proxima Nova Heavy"/>
                <a:cs typeface="Proxima Nova Heavy"/>
                <a:sym typeface="Proxima Nova Heavy"/>
              </a:rPr>
              <a:t>PILAR 3 - TANGGUNG JAWAB TERHADAP FASILITAS SEKOLAH</a:t>
            </a:r>
          </a:p>
        </p:txBody>
      </p:sp>
      <p:sp>
        <p:nvSpPr>
          <p:cNvPr id="4" name="TextBox 4"/>
          <p:cNvSpPr txBox="1"/>
          <p:nvPr/>
        </p:nvSpPr>
        <p:spPr>
          <a:xfrm>
            <a:off x="1028700" y="3046347"/>
            <a:ext cx="11768263" cy="1064508"/>
          </a:xfrm>
          <a:prstGeom prst="rect">
            <a:avLst/>
          </a:prstGeom>
        </p:spPr>
        <p:txBody>
          <a:bodyPr lIns="0" tIns="0" rIns="0" bIns="0" rtlCol="0" anchor="t">
            <a:spAutoFit/>
          </a:bodyPr>
          <a:lstStyle/>
          <a:p>
            <a:pPr marL="0" lvl="0" indent="0" algn="l">
              <a:lnSpc>
                <a:spcPts val="4326"/>
              </a:lnSpc>
            </a:pPr>
            <a:r>
              <a:rPr lang="en-US" sz="3090" b="1">
                <a:solidFill>
                  <a:srgbClr val="4B6E29"/>
                </a:solidFill>
                <a:latin typeface="Proxima Nova Bold"/>
                <a:ea typeface="Proxima Nova Bold"/>
                <a:cs typeface="Proxima Nova Bold"/>
                <a:sym typeface="Proxima Nova Bold"/>
              </a:rPr>
              <a:t>Fasilitas sekolah adalah milik bersama; merawatnya menunjukkan rasa hormat dan tanggung jawab.</a:t>
            </a:r>
          </a:p>
        </p:txBody>
      </p:sp>
      <p:sp>
        <p:nvSpPr>
          <p:cNvPr id="5" name="TextBox 5"/>
          <p:cNvSpPr txBox="1"/>
          <p:nvPr/>
        </p:nvSpPr>
        <p:spPr>
          <a:xfrm>
            <a:off x="1180012" y="4339229"/>
            <a:ext cx="8929074" cy="3686176"/>
          </a:xfrm>
          <a:prstGeom prst="rect">
            <a:avLst/>
          </a:prstGeom>
        </p:spPr>
        <p:txBody>
          <a:bodyPr lIns="0" tIns="0" rIns="0" bIns="0" rtlCol="0" anchor="t">
            <a:spAutoFit/>
          </a:bodyPr>
          <a:lstStyle/>
          <a:p>
            <a:pPr algn="l">
              <a:lnSpc>
                <a:spcPts val="5999"/>
              </a:lnSpc>
            </a:pPr>
            <a:r>
              <a:rPr lang="en-US" sz="2999" b="1">
                <a:solidFill>
                  <a:srgbClr val="4D2F20"/>
                </a:solidFill>
                <a:latin typeface="Proxima Nova Bold"/>
                <a:ea typeface="Proxima Nova Bold"/>
                <a:cs typeface="Proxima Nova Bold"/>
                <a:sym typeface="Proxima Nova Bold"/>
              </a:rPr>
              <a:t>CONTOHNYA :</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Buang sampah pada tempatnya</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Tidak mencoret meja, kursi, dinding sekolah</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Merawat buku perpustakaan dengan baik</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Menghemat air dan listrik</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29682" y="9283663"/>
            <a:ext cx="3918884" cy="651695"/>
            <a:chOff x="0" y="0"/>
            <a:chExt cx="5225178" cy="868927"/>
          </a:xfrm>
        </p:grpSpPr>
        <p:sp>
          <p:nvSpPr>
            <p:cNvPr id="11" name="Freeform 11"/>
            <p:cNvSpPr/>
            <p:nvPr/>
          </p:nvSpPr>
          <p:spPr>
            <a:xfrm>
              <a:off x="0" y="0"/>
              <a:ext cx="857263" cy="868927"/>
            </a:xfrm>
            <a:custGeom>
              <a:avLst/>
              <a:gdLst/>
              <a:ahLst/>
              <a:cxnLst/>
              <a:rect l="l" t="t" r="r" b="b"/>
              <a:pathLst>
                <a:path w="857263" h="868927">
                  <a:moveTo>
                    <a:pt x="0" y="0"/>
                  </a:moveTo>
                  <a:lnTo>
                    <a:pt x="857263" y="0"/>
                  </a:lnTo>
                  <a:lnTo>
                    <a:pt x="857263" y="868927"/>
                  </a:lnTo>
                  <a:lnTo>
                    <a:pt x="0" y="868927"/>
                  </a:lnTo>
                  <a:lnTo>
                    <a:pt x="0" y="0"/>
                  </a:lnTo>
                  <a:close/>
                </a:path>
              </a:pathLst>
            </a:custGeom>
            <a:blipFill>
              <a:blip r:embed="rId5"/>
              <a:stretch>
                <a:fillRect/>
              </a:stretch>
            </a:blipFill>
          </p:spPr>
        </p:sp>
        <p:sp>
          <p:nvSpPr>
            <p:cNvPr id="12" name="Freeform 12"/>
            <p:cNvSpPr/>
            <p:nvPr/>
          </p:nvSpPr>
          <p:spPr>
            <a:xfrm>
              <a:off x="928170" y="0"/>
              <a:ext cx="868927" cy="868927"/>
            </a:xfrm>
            <a:custGeom>
              <a:avLst/>
              <a:gdLst/>
              <a:ahLst/>
              <a:cxnLst/>
              <a:rect l="l" t="t" r="r" b="b"/>
              <a:pathLst>
                <a:path w="868927" h="868927">
                  <a:moveTo>
                    <a:pt x="0" y="0"/>
                  </a:moveTo>
                  <a:lnTo>
                    <a:pt x="868927" y="0"/>
                  </a:lnTo>
                  <a:lnTo>
                    <a:pt x="868927" y="868927"/>
                  </a:lnTo>
                  <a:lnTo>
                    <a:pt x="0" y="868927"/>
                  </a:lnTo>
                  <a:lnTo>
                    <a:pt x="0" y="0"/>
                  </a:lnTo>
                  <a:close/>
                </a:path>
              </a:pathLst>
            </a:custGeom>
            <a:blipFill>
              <a:blip r:embed="rId6"/>
              <a:stretch>
                <a:fillRect/>
              </a:stretch>
            </a:blipFill>
          </p:spPr>
        </p:sp>
        <p:sp>
          <p:nvSpPr>
            <p:cNvPr id="13" name="Freeform 13"/>
            <p:cNvSpPr/>
            <p:nvPr/>
          </p:nvSpPr>
          <p:spPr>
            <a:xfrm>
              <a:off x="1868004" y="0"/>
              <a:ext cx="855061" cy="868927"/>
            </a:xfrm>
            <a:custGeom>
              <a:avLst/>
              <a:gdLst/>
              <a:ahLst/>
              <a:cxnLst/>
              <a:rect l="l" t="t" r="r" b="b"/>
              <a:pathLst>
                <a:path w="855061" h="868927">
                  <a:moveTo>
                    <a:pt x="0" y="0"/>
                  </a:moveTo>
                  <a:lnTo>
                    <a:pt x="855061" y="0"/>
                  </a:lnTo>
                  <a:lnTo>
                    <a:pt x="855061" y="868927"/>
                  </a:lnTo>
                  <a:lnTo>
                    <a:pt x="0" y="868927"/>
                  </a:lnTo>
                  <a:lnTo>
                    <a:pt x="0" y="0"/>
                  </a:lnTo>
                  <a:close/>
                </a:path>
              </a:pathLst>
            </a:custGeom>
            <a:blipFill>
              <a:blip r:embed="rId7"/>
              <a:stretch>
                <a:fillRect l="-6537" t="-48240" r="-5931" b="-48445"/>
              </a:stretch>
            </a:blipFill>
          </p:spPr>
        </p:sp>
        <p:sp>
          <p:nvSpPr>
            <p:cNvPr id="14" name="Freeform 14"/>
            <p:cNvSpPr/>
            <p:nvPr/>
          </p:nvSpPr>
          <p:spPr>
            <a:xfrm>
              <a:off x="2793972" y="96209"/>
              <a:ext cx="2431207" cy="676510"/>
            </a:xfrm>
            <a:custGeom>
              <a:avLst/>
              <a:gdLst/>
              <a:ahLst/>
              <a:cxnLst/>
              <a:rect l="l" t="t" r="r" b="b"/>
              <a:pathLst>
                <a:path w="2431207" h="676510">
                  <a:moveTo>
                    <a:pt x="0" y="0"/>
                  </a:moveTo>
                  <a:lnTo>
                    <a:pt x="2431206" y="0"/>
                  </a:lnTo>
                  <a:lnTo>
                    <a:pt x="2431206" y="676509"/>
                  </a:lnTo>
                  <a:lnTo>
                    <a:pt x="0" y="676509"/>
                  </a:lnTo>
                  <a:lnTo>
                    <a:pt x="0" y="0"/>
                  </a:lnTo>
                  <a:close/>
                </a:path>
              </a:pathLst>
            </a:custGeom>
            <a:blipFill>
              <a:blip r:embed="rId8"/>
              <a:stretch>
                <a:fillRect l="-8614" t="-57846" r="-62053" b="-187155"/>
              </a:stretch>
            </a:blipFill>
          </p:spPr>
        </p:sp>
      </p:grpSp>
      <p:sp>
        <p:nvSpPr>
          <p:cNvPr id="15" name="TextBox 15"/>
          <p:cNvSpPr txBox="1"/>
          <p:nvPr/>
        </p:nvSpPr>
        <p:spPr>
          <a:xfrm>
            <a:off x="9887840" y="9224585"/>
            <a:ext cx="2672351" cy="710773"/>
          </a:xfrm>
          <a:prstGeom prst="rect">
            <a:avLst/>
          </a:prstGeom>
        </p:spPr>
        <p:txBody>
          <a:bodyPr lIns="0" tIns="0" rIns="0" bIns="0" rtlCol="0" anchor="t">
            <a:spAutoFit/>
          </a:bodyPr>
          <a:lstStyle/>
          <a:p>
            <a:pPr marL="0" lvl="0" indent="0" algn="l">
              <a:lnSpc>
                <a:spcPts val="2872"/>
              </a:lnSpc>
            </a:pPr>
            <a:r>
              <a:rPr lang="en-US" sz="2051"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1157995" y="3165734"/>
            <a:ext cx="8505073" cy="6274983"/>
          </a:xfrm>
          <a:custGeom>
            <a:avLst/>
            <a:gdLst/>
            <a:ahLst/>
            <a:cxnLst/>
            <a:rect l="l" t="t" r="r" b="b"/>
            <a:pathLst>
              <a:path w="8505073" h="6274983">
                <a:moveTo>
                  <a:pt x="0" y="0"/>
                </a:moveTo>
                <a:lnTo>
                  <a:pt x="8505073" y="0"/>
                </a:lnTo>
                <a:lnTo>
                  <a:pt x="8505073" y="6274984"/>
                </a:lnTo>
                <a:lnTo>
                  <a:pt x="0" y="6274984"/>
                </a:lnTo>
                <a:lnTo>
                  <a:pt x="0" y="0"/>
                </a:lnTo>
                <a:close/>
              </a:path>
            </a:pathLst>
          </a:custGeom>
          <a:blipFill>
            <a:blip r:embed="rId2"/>
            <a:stretch>
              <a:fillRect l="-9505"/>
            </a:stretch>
          </a:blipFill>
        </p:spPr>
      </p:sp>
      <p:sp>
        <p:nvSpPr>
          <p:cNvPr id="3" name="TextBox 3"/>
          <p:cNvSpPr txBox="1"/>
          <p:nvPr/>
        </p:nvSpPr>
        <p:spPr>
          <a:xfrm>
            <a:off x="1028700" y="1123950"/>
            <a:ext cx="10815448" cy="1289339"/>
          </a:xfrm>
          <a:prstGeom prst="rect">
            <a:avLst/>
          </a:prstGeom>
        </p:spPr>
        <p:txBody>
          <a:bodyPr lIns="0" tIns="0" rIns="0" bIns="0" rtlCol="0" anchor="t">
            <a:spAutoFit/>
          </a:bodyPr>
          <a:lstStyle/>
          <a:p>
            <a:pPr marL="0" lvl="0" indent="0" algn="l">
              <a:lnSpc>
                <a:spcPts val="5011"/>
              </a:lnSpc>
            </a:pPr>
            <a:r>
              <a:rPr lang="en-US" sz="5011" b="1" spc="50">
                <a:solidFill>
                  <a:srgbClr val="4B6E29"/>
                </a:solidFill>
                <a:latin typeface="Proxima Nova Heavy"/>
                <a:ea typeface="Proxima Nova Heavy"/>
                <a:cs typeface="Proxima Nova Heavy"/>
                <a:sym typeface="Proxima Nova Heavy"/>
              </a:rPr>
              <a:t>PILAR 4 - TANGGUNG JAWAB TERHADAP NAMA BAIK SEKOLAH</a:t>
            </a:r>
          </a:p>
        </p:txBody>
      </p:sp>
      <p:sp>
        <p:nvSpPr>
          <p:cNvPr id="4" name="TextBox 4"/>
          <p:cNvSpPr txBox="1"/>
          <p:nvPr/>
        </p:nvSpPr>
        <p:spPr>
          <a:xfrm>
            <a:off x="1028700" y="2812131"/>
            <a:ext cx="9414141" cy="504875"/>
          </a:xfrm>
          <a:prstGeom prst="rect">
            <a:avLst/>
          </a:prstGeom>
        </p:spPr>
        <p:txBody>
          <a:bodyPr lIns="0" tIns="0" rIns="0" bIns="0" rtlCol="0" anchor="t">
            <a:spAutoFit/>
          </a:bodyPr>
          <a:lstStyle/>
          <a:p>
            <a:pPr marL="0" lvl="0" indent="0" algn="l">
              <a:lnSpc>
                <a:spcPts val="4197"/>
              </a:lnSpc>
            </a:pPr>
            <a:r>
              <a:rPr lang="en-US" sz="2998" b="1">
                <a:solidFill>
                  <a:srgbClr val="4B6E29"/>
                </a:solidFill>
                <a:latin typeface="Proxima Nova Bold"/>
                <a:ea typeface="Proxima Nova Bold"/>
                <a:cs typeface="Proxima Nova Bold"/>
                <a:sym typeface="Proxima Nova Bold"/>
              </a:rPr>
              <a:t>Siswa mewakili nilai-nilai sekolah di mana pun berada.</a:t>
            </a:r>
          </a:p>
        </p:txBody>
      </p:sp>
      <p:sp>
        <p:nvSpPr>
          <p:cNvPr id="5" name="TextBox 5"/>
          <p:cNvSpPr txBox="1"/>
          <p:nvPr/>
        </p:nvSpPr>
        <p:spPr>
          <a:xfrm>
            <a:off x="1028700" y="4107180"/>
            <a:ext cx="8767385" cy="3686176"/>
          </a:xfrm>
          <a:prstGeom prst="rect">
            <a:avLst/>
          </a:prstGeom>
        </p:spPr>
        <p:txBody>
          <a:bodyPr lIns="0" tIns="0" rIns="0" bIns="0" rtlCol="0" anchor="t">
            <a:spAutoFit/>
          </a:bodyPr>
          <a:lstStyle/>
          <a:p>
            <a:pPr algn="l">
              <a:lnSpc>
                <a:spcPts val="5999"/>
              </a:lnSpc>
            </a:pPr>
            <a:r>
              <a:rPr lang="en-US" sz="2999" b="1">
                <a:solidFill>
                  <a:srgbClr val="4D2F20"/>
                </a:solidFill>
                <a:latin typeface="Proxima Nova Bold"/>
                <a:ea typeface="Proxima Nova Bold"/>
                <a:cs typeface="Proxima Nova Bold"/>
                <a:sym typeface="Proxima Nova Bold"/>
              </a:rPr>
              <a:t>CONTOHNYA :</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Berperilaku sopan di lingkungan sekitar</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Tidak membuat keributan di tempat umum</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Memakai seragam dengan rapi dan lengkap</a:t>
            </a:r>
          </a:p>
          <a:p>
            <a:pPr marL="647698" lvl="1" indent="-323849" algn="l">
              <a:lnSpc>
                <a:spcPts val="5999"/>
              </a:lnSpc>
              <a:buAutoNum type="arabicPeriod"/>
            </a:pPr>
            <a:r>
              <a:rPr lang="en-US" sz="2999" b="1">
                <a:solidFill>
                  <a:srgbClr val="4D2F20"/>
                </a:solidFill>
                <a:latin typeface="Proxima Nova Bold"/>
                <a:ea typeface="Proxima Nova Bold"/>
                <a:cs typeface="Proxima Nova Bold"/>
                <a:sym typeface="Proxima Nova Bold"/>
              </a:rPr>
              <a:t>Bangga menjadi bagian dari sekolah</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29682" y="9280187"/>
            <a:ext cx="3269529" cy="543710"/>
            <a:chOff x="0" y="0"/>
            <a:chExt cx="4359373" cy="724947"/>
          </a:xfrm>
        </p:grpSpPr>
        <p:sp>
          <p:nvSpPr>
            <p:cNvPr id="11" name="Freeform 11"/>
            <p:cNvSpPr/>
            <p:nvPr/>
          </p:nvSpPr>
          <p:spPr>
            <a:xfrm>
              <a:off x="0" y="0"/>
              <a:ext cx="715216" cy="724947"/>
            </a:xfrm>
            <a:custGeom>
              <a:avLst/>
              <a:gdLst/>
              <a:ahLst/>
              <a:cxnLst/>
              <a:rect l="l" t="t" r="r" b="b"/>
              <a:pathLst>
                <a:path w="715216" h="724947">
                  <a:moveTo>
                    <a:pt x="0" y="0"/>
                  </a:moveTo>
                  <a:lnTo>
                    <a:pt x="715216" y="0"/>
                  </a:lnTo>
                  <a:lnTo>
                    <a:pt x="715216" y="724947"/>
                  </a:lnTo>
                  <a:lnTo>
                    <a:pt x="0" y="724947"/>
                  </a:lnTo>
                  <a:lnTo>
                    <a:pt x="0" y="0"/>
                  </a:lnTo>
                  <a:close/>
                </a:path>
              </a:pathLst>
            </a:custGeom>
            <a:blipFill>
              <a:blip r:embed="rId5"/>
              <a:stretch>
                <a:fillRect/>
              </a:stretch>
            </a:blipFill>
          </p:spPr>
        </p:sp>
        <p:sp>
          <p:nvSpPr>
            <p:cNvPr id="12" name="Freeform 12"/>
            <p:cNvSpPr/>
            <p:nvPr/>
          </p:nvSpPr>
          <p:spPr>
            <a:xfrm>
              <a:off x="774374" y="0"/>
              <a:ext cx="724947" cy="724947"/>
            </a:xfrm>
            <a:custGeom>
              <a:avLst/>
              <a:gdLst/>
              <a:ahLst/>
              <a:cxnLst/>
              <a:rect l="l" t="t" r="r" b="b"/>
              <a:pathLst>
                <a:path w="724947" h="724947">
                  <a:moveTo>
                    <a:pt x="0" y="0"/>
                  </a:moveTo>
                  <a:lnTo>
                    <a:pt x="724946" y="0"/>
                  </a:lnTo>
                  <a:lnTo>
                    <a:pt x="724946" y="724947"/>
                  </a:lnTo>
                  <a:lnTo>
                    <a:pt x="0" y="724947"/>
                  </a:lnTo>
                  <a:lnTo>
                    <a:pt x="0" y="0"/>
                  </a:lnTo>
                  <a:close/>
                </a:path>
              </a:pathLst>
            </a:custGeom>
            <a:blipFill>
              <a:blip r:embed="rId6"/>
              <a:stretch>
                <a:fillRect/>
              </a:stretch>
            </a:blipFill>
          </p:spPr>
        </p:sp>
        <p:sp>
          <p:nvSpPr>
            <p:cNvPr id="13" name="Freeform 13"/>
            <p:cNvSpPr/>
            <p:nvPr/>
          </p:nvSpPr>
          <p:spPr>
            <a:xfrm>
              <a:off x="1558478" y="0"/>
              <a:ext cx="713378" cy="724947"/>
            </a:xfrm>
            <a:custGeom>
              <a:avLst/>
              <a:gdLst/>
              <a:ahLst/>
              <a:cxnLst/>
              <a:rect l="l" t="t" r="r" b="b"/>
              <a:pathLst>
                <a:path w="713378" h="724947">
                  <a:moveTo>
                    <a:pt x="0" y="0"/>
                  </a:moveTo>
                  <a:lnTo>
                    <a:pt x="713378" y="0"/>
                  </a:lnTo>
                  <a:lnTo>
                    <a:pt x="713378" y="724947"/>
                  </a:lnTo>
                  <a:lnTo>
                    <a:pt x="0" y="724947"/>
                  </a:lnTo>
                  <a:lnTo>
                    <a:pt x="0" y="0"/>
                  </a:lnTo>
                  <a:close/>
                </a:path>
              </a:pathLst>
            </a:custGeom>
            <a:blipFill>
              <a:blip r:embed="rId7"/>
              <a:stretch>
                <a:fillRect l="-6537" t="-48240" r="-5931" b="-48445"/>
              </a:stretch>
            </a:blipFill>
          </p:spPr>
        </p:sp>
        <p:sp>
          <p:nvSpPr>
            <p:cNvPr id="14" name="Freeform 14"/>
            <p:cNvSpPr/>
            <p:nvPr/>
          </p:nvSpPr>
          <p:spPr>
            <a:xfrm>
              <a:off x="2331014" y="80267"/>
              <a:ext cx="2028359" cy="564413"/>
            </a:xfrm>
            <a:custGeom>
              <a:avLst/>
              <a:gdLst/>
              <a:ahLst/>
              <a:cxnLst/>
              <a:rect l="l" t="t" r="r" b="b"/>
              <a:pathLst>
                <a:path w="2028359" h="564413">
                  <a:moveTo>
                    <a:pt x="0" y="0"/>
                  </a:moveTo>
                  <a:lnTo>
                    <a:pt x="2028359" y="0"/>
                  </a:lnTo>
                  <a:lnTo>
                    <a:pt x="2028359" y="564413"/>
                  </a:lnTo>
                  <a:lnTo>
                    <a:pt x="0" y="564413"/>
                  </a:lnTo>
                  <a:lnTo>
                    <a:pt x="0" y="0"/>
                  </a:lnTo>
                  <a:close/>
                </a:path>
              </a:pathLst>
            </a:custGeom>
            <a:blipFill>
              <a:blip r:embed="rId8"/>
              <a:stretch>
                <a:fillRect l="-8614" t="-57846" r="-62053" b="-187155"/>
              </a:stretch>
            </a:blipFill>
          </p:spPr>
        </p:sp>
      </p:grpSp>
      <p:sp>
        <p:nvSpPr>
          <p:cNvPr id="15" name="TextBox 15"/>
          <p:cNvSpPr txBox="1"/>
          <p:nvPr/>
        </p:nvSpPr>
        <p:spPr>
          <a:xfrm>
            <a:off x="9215408" y="9234110"/>
            <a:ext cx="2229545" cy="589787"/>
          </a:xfrm>
          <a:prstGeom prst="rect">
            <a:avLst/>
          </a:prstGeom>
        </p:spPr>
        <p:txBody>
          <a:bodyPr lIns="0" tIns="0" rIns="0" bIns="0" rtlCol="0" anchor="t">
            <a:spAutoFit/>
          </a:bodyPr>
          <a:lstStyle/>
          <a:p>
            <a:pPr marL="0" lvl="0" indent="0" algn="l">
              <a:lnSpc>
                <a:spcPts val="2396"/>
              </a:lnSpc>
            </a:pPr>
            <a:r>
              <a:rPr lang="en-US" sz="1711"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TextBox 2"/>
          <p:cNvSpPr txBox="1"/>
          <p:nvPr/>
        </p:nvSpPr>
        <p:spPr>
          <a:xfrm>
            <a:off x="1028700" y="1143000"/>
            <a:ext cx="7743353" cy="2111351"/>
          </a:xfrm>
          <a:prstGeom prst="rect">
            <a:avLst/>
          </a:prstGeom>
        </p:spPr>
        <p:txBody>
          <a:bodyPr lIns="0" tIns="0" rIns="0" bIns="0" rtlCol="0" anchor="t">
            <a:spAutoFit/>
          </a:bodyPr>
          <a:lstStyle/>
          <a:p>
            <a:pPr marL="0" lvl="0" indent="0" algn="l">
              <a:lnSpc>
                <a:spcPts val="5499"/>
              </a:lnSpc>
            </a:pPr>
            <a:r>
              <a:rPr lang="en-US" sz="5499" b="1" spc="54">
                <a:solidFill>
                  <a:srgbClr val="4B6E29"/>
                </a:solidFill>
                <a:latin typeface="Proxima Nova Heavy"/>
                <a:ea typeface="Proxima Nova Heavy"/>
                <a:cs typeface="Proxima Nova Heavy"/>
                <a:sym typeface="Proxima Nova Heavy"/>
              </a:rPr>
              <a:t>KOMPETENSI SOSIAL-EMOSIONAL YANG DIKEMBANGKAN</a:t>
            </a:r>
          </a:p>
        </p:txBody>
      </p:sp>
      <p:sp>
        <p:nvSpPr>
          <p:cNvPr id="3" name="Freeform 3"/>
          <p:cNvSpPr/>
          <p:nvPr/>
        </p:nvSpPr>
        <p:spPr>
          <a:xfrm>
            <a:off x="13322520" y="1976754"/>
            <a:ext cx="4965480" cy="8946812"/>
          </a:xfrm>
          <a:custGeom>
            <a:avLst/>
            <a:gdLst/>
            <a:ahLst/>
            <a:cxnLst/>
            <a:rect l="l" t="t" r="r" b="b"/>
            <a:pathLst>
              <a:path w="4965480" h="8946812">
                <a:moveTo>
                  <a:pt x="0" y="0"/>
                </a:moveTo>
                <a:lnTo>
                  <a:pt x="4965480" y="0"/>
                </a:lnTo>
                <a:lnTo>
                  <a:pt x="4965480" y="8946811"/>
                </a:lnTo>
                <a:lnTo>
                  <a:pt x="0" y="8946811"/>
                </a:lnTo>
                <a:lnTo>
                  <a:pt x="0" y="0"/>
                </a:lnTo>
                <a:close/>
              </a:path>
            </a:pathLst>
          </a:custGeom>
          <a:blipFill>
            <a:blip r:embed="rId2"/>
            <a:stretch>
              <a:fillRect/>
            </a:stretch>
          </a:blipFill>
        </p:spPr>
      </p:sp>
      <p:sp>
        <p:nvSpPr>
          <p:cNvPr id="4" name="TextBox 4"/>
          <p:cNvSpPr txBox="1"/>
          <p:nvPr/>
        </p:nvSpPr>
        <p:spPr>
          <a:xfrm>
            <a:off x="1028700" y="3796718"/>
            <a:ext cx="9009918" cy="1028750"/>
          </a:xfrm>
          <a:prstGeom prst="rect">
            <a:avLst/>
          </a:prstGeom>
        </p:spPr>
        <p:txBody>
          <a:bodyPr lIns="0" tIns="0" rIns="0" bIns="0" rtlCol="0" anchor="t">
            <a:spAutoFit/>
          </a:bodyPr>
          <a:lstStyle/>
          <a:p>
            <a:pPr marL="0" lvl="0" indent="0" algn="l">
              <a:lnSpc>
                <a:spcPts val="4197"/>
              </a:lnSpc>
            </a:pPr>
            <a:r>
              <a:rPr lang="en-US" sz="2998" b="1">
                <a:solidFill>
                  <a:srgbClr val="4B6E29"/>
                </a:solidFill>
                <a:latin typeface="Proxima Nova Bold"/>
                <a:ea typeface="Proxima Nova Bold"/>
                <a:cs typeface="Proxima Nova Bold"/>
                <a:sym typeface="Proxima Nova Bold"/>
              </a:rPr>
              <a:t>Keterampilan penting untuk menjadi warga sekolah yang bertanggung jawab.</a:t>
            </a:r>
          </a:p>
        </p:txBody>
      </p:sp>
      <p:sp>
        <p:nvSpPr>
          <p:cNvPr id="5" name="TextBox 5"/>
          <p:cNvSpPr txBox="1"/>
          <p:nvPr/>
        </p:nvSpPr>
        <p:spPr>
          <a:xfrm>
            <a:off x="1028700" y="5236494"/>
            <a:ext cx="9712149" cy="1992630"/>
          </a:xfrm>
          <a:prstGeom prst="rect">
            <a:avLst/>
          </a:prstGeom>
        </p:spPr>
        <p:txBody>
          <a:bodyPr lIns="0" tIns="0" rIns="0" bIns="0" rtlCol="0" anchor="t">
            <a:spAutoFit/>
          </a:bodyPr>
          <a:lstStyle/>
          <a:p>
            <a:pPr marL="0" lvl="0" indent="0" algn="l">
              <a:lnSpc>
                <a:spcPts val="5400"/>
              </a:lnSpc>
            </a:pPr>
            <a:r>
              <a:rPr lang="en-US" sz="2700">
                <a:solidFill>
                  <a:srgbClr val="4D2F20"/>
                </a:solidFill>
                <a:latin typeface="Proxima Nova"/>
                <a:ea typeface="Proxima Nova"/>
                <a:cs typeface="Proxima Nova"/>
                <a:sym typeface="Proxima Nova"/>
              </a:rPr>
              <a:t>Tanggung jawab sosial tidak hanya tentang aturan, tetapi juga mengembangkan kemampuan mengenal diri, mengelola emosi, memahami orang lain, dan membuat keputusan yang tepat.</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29682" y="9285280"/>
            <a:ext cx="4220970" cy="701931"/>
            <a:chOff x="0" y="0"/>
            <a:chExt cx="5627959" cy="935908"/>
          </a:xfrm>
        </p:grpSpPr>
        <p:sp>
          <p:nvSpPr>
            <p:cNvPr id="11" name="Freeform 11"/>
            <p:cNvSpPr/>
            <p:nvPr/>
          </p:nvSpPr>
          <p:spPr>
            <a:xfrm>
              <a:off x="0" y="0"/>
              <a:ext cx="923345" cy="935908"/>
            </a:xfrm>
            <a:custGeom>
              <a:avLst/>
              <a:gdLst/>
              <a:ahLst/>
              <a:cxnLst/>
              <a:rect l="l" t="t" r="r" b="b"/>
              <a:pathLst>
                <a:path w="923345" h="935908">
                  <a:moveTo>
                    <a:pt x="0" y="0"/>
                  </a:moveTo>
                  <a:lnTo>
                    <a:pt x="923345" y="0"/>
                  </a:lnTo>
                  <a:lnTo>
                    <a:pt x="923345" y="935908"/>
                  </a:lnTo>
                  <a:lnTo>
                    <a:pt x="0" y="935908"/>
                  </a:lnTo>
                  <a:lnTo>
                    <a:pt x="0" y="0"/>
                  </a:lnTo>
                  <a:close/>
                </a:path>
              </a:pathLst>
            </a:custGeom>
            <a:blipFill>
              <a:blip r:embed="rId5"/>
              <a:stretch>
                <a:fillRect/>
              </a:stretch>
            </a:blipFill>
          </p:spPr>
        </p:sp>
        <p:sp>
          <p:nvSpPr>
            <p:cNvPr id="12" name="Freeform 12"/>
            <p:cNvSpPr/>
            <p:nvPr/>
          </p:nvSpPr>
          <p:spPr>
            <a:xfrm>
              <a:off x="999718" y="0"/>
              <a:ext cx="935908" cy="935908"/>
            </a:xfrm>
            <a:custGeom>
              <a:avLst/>
              <a:gdLst/>
              <a:ahLst/>
              <a:cxnLst/>
              <a:rect l="l" t="t" r="r" b="b"/>
              <a:pathLst>
                <a:path w="935908" h="935908">
                  <a:moveTo>
                    <a:pt x="0" y="0"/>
                  </a:moveTo>
                  <a:lnTo>
                    <a:pt x="935908" y="0"/>
                  </a:lnTo>
                  <a:lnTo>
                    <a:pt x="935908" y="935908"/>
                  </a:lnTo>
                  <a:lnTo>
                    <a:pt x="0" y="935908"/>
                  </a:lnTo>
                  <a:lnTo>
                    <a:pt x="0" y="0"/>
                  </a:lnTo>
                  <a:close/>
                </a:path>
              </a:pathLst>
            </a:custGeom>
            <a:blipFill>
              <a:blip r:embed="rId6"/>
              <a:stretch>
                <a:fillRect/>
              </a:stretch>
            </a:blipFill>
          </p:spPr>
        </p:sp>
        <p:sp>
          <p:nvSpPr>
            <p:cNvPr id="13" name="Freeform 13"/>
            <p:cNvSpPr/>
            <p:nvPr/>
          </p:nvSpPr>
          <p:spPr>
            <a:xfrm>
              <a:off x="2011998" y="0"/>
              <a:ext cx="920973" cy="935908"/>
            </a:xfrm>
            <a:custGeom>
              <a:avLst/>
              <a:gdLst/>
              <a:ahLst/>
              <a:cxnLst/>
              <a:rect l="l" t="t" r="r" b="b"/>
              <a:pathLst>
                <a:path w="920973" h="935908">
                  <a:moveTo>
                    <a:pt x="0" y="0"/>
                  </a:moveTo>
                  <a:lnTo>
                    <a:pt x="920974" y="0"/>
                  </a:lnTo>
                  <a:lnTo>
                    <a:pt x="920974" y="935908"/>
                  </a:lnTo>
                  <a:lnTo>
                    <a:pt x="0" y="935908"/>
                  </a:lnTo>
                  <a:lnTo>
                    <a:pt x="0" y="0"/>
                  </a:lnTo>
                  <a:close/>
                </a:path>
              </a:pathLst>
            </a:custGeom>
            <a:blipFill>
              <a:blip r:embed="rId7"/>
              <a:stretch>
                <a:fillRect l="-6537" t="-48240" r="-5931" b="-48445"/>
              </a:stretch>
            </a:blipFill>
          </p:spPr>
        </p:sp>
        <p:sp>
          <p:nvSpPr>
            <p:cNvPr id="14" name="Freeform 14"/>
            <p:cNvSpPr/>
            <p:nvPr/>
          </p:nvSpPr>
          <p:spPr>
            <a:xfrm>
              <a:off x="3009344" y="103625"/>
              <a:ext cx="2618615" cy="728658"/>
            </a:xfrm>
            <a:custGeom>
              <a:avLst/>
              <a:gdLst/>
              <a:ahLst/>
              <a:cxnLst/>
              <a:rect l="l" t="t" r="r" b="b"/>
              <a:pathLst>
                <a:path w="2618615" h="728658">
                  <a:moveTo>
                    <a:pt x="0" y="0"/>
                  </a:moveTo>
                  <a:lnTo>
                    <a:pt x="2618615" y="0"/>
                  </a:lnTo>
                  <a:lnTo>
                    <a:pt x="2618615" y="728658"/>
                  </a:lnTo>
                  <a:lnTo>
                    <a:pt x="0" y="728658"/>
                  </a:lnTo>
                  <a:lnTo>
                    <a:pt x="0" y="0"/>
                  </a:lnTo>
                  <a:close/>
                </a:path>
              </a:pathLst>
            </a:custGeom>
            <a:blipFill>
              <a:blip r:embed="rId8"/>
              <a:stretch>
                <a:fillRect l="-8614" t="-57846" r="-62053" b="-187155"/>
              </a:stretch>
            </a:blipFill>
          </p:spPr>
        </p:sp>
      </p:grpSp>
      <p:sp>
        <p:nvSpPr>
          <p:cNvPr id="15" name="TextBox 15"/>
          <p:cNvSpPr txBox="1"/>
          <p:nvPr/>
        </p:nvSpPr>
        <p:spPr>
          <a:xfrm>
            <a:off x="10200662" y="9224585"/>
            <a:ext cx="2878348" cy="762626"/>
          </a:xfrm>
          <a:prstGeom prst="rect">
            <a:avLst/>
          </a:prstGeom>
        </p:spPr>
        <p:txBody>
          <a:bodyPr lIns="0" tIns="0" rIns="0" bIns="0" rtlCol="0" anchor="t">
            <a:spAutoFit/>
          </a:bodyPr>
          <a:lstStyle/>
          <a:p>
            <a:pPr marL="0" lvl="0" indent="0" algn="l">
              <a:lnSpc>
                <a:spcPts val="3094"/>
              </a:lnSpc>
            </a:pPr>
            <a:r>
              <a:rPr lang="en-US" sz="2210"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1594813" y="2214439"/>
            <a:ext cx="6179192" cy="9617419"/>
          </a:xfrm>
          <a:custGeom>
            <a:avLst/>
            <a:gdLst/>
            <a:ahLst/>
            <a:cxnLst/>
            <a:rect l="l" t="t" r="r" b="b"/>
            <a:pathLst>
              <a:path w="6179192" h="9617419">
                <a:moveTo>
                  <a:pt x="0" y="0"/>
                </a:moveTo>
                <a:lnTo>
                  <a:pt x="6179192" y="0"/>
                </a:lnTo>
                <a:lnTo>
                  <a:pt x="6179192" y="9617419"/>
                </a:lnTo>
                <a:lnTo>
                  <a:pt x="0" y="9617419"/>
                </a:lnTo>
                <a:lnTo>
                  <a:pt x="0" y="0"/>
                </a:lnTo>
                <a:close/>
              </a:path>
            </a:pathLst>
          </a:custGeom>
          <a:blipFill>
            <a:blip r:embed="rId2"/>
            <a:stretch>
              <a:fillRect/>
            </a:stretch>
          </a:blipFill>
        </p:spPr>
      </p:sp>
      <p:sp>
        <p:nvSpPr>
          <p:cNvPr id="3" name="TextBox 3"/>
          <p:cNvSpPr txBox="1"/>
          <p:nvPr/>
        </p:nvSpPr>
        <p:spPr>
          <a:xfrm>
            <a:off x="1028700" y="1133475"/>
            <a:ext cx="12513184" cy="1572609"/>
          </a:xfrm>
          <a:prstGeom prst="rect">
            <a:avLst/>
          </a:prstGeom>
        </p:spPr>
        <p:txBody>
          <a:bodyPr lIns="0" tIns="0" rIns="0" bIns="0" rtlCol="0" anchor="t">
            <a:spAutoFit/>
          </a:bodyPr>
          <a:lstStyle/>
          <a:p>
            <a:pPr marL="0" lvl="0" indent="0" algn="l">
              <a:lnSpc>
                <a:spcPts val="6038"/>
              </a:lnSpc>
            </a:pPr>
            <a:r>
              <a:rPr lang="en-US" sz="6038" b="1" spc="60">
                <a:solidFill>
                  <a:srgbClr val="4B6E29"/>
                </a:solidFill>
                <a:latin typeface="Proxima Nova Heavy"/>
                <a:ea typeface="Proxima Nova Heavy"/>
                <a:cs typeface="Proxima Nova Heavy"/>
                <a:sym typeface="Proxima Nova Heavy"/>
              </a:rPr>
              <a:t>KOMPETENSI SOSIAL-EMOSIONAL</a:t>
            </a:r>
          </a:p>
        </p:txBody>
      </p:sp>
      <p:sp>
        <p:nvSpPr>
          <p:cNvPr id="4" name="TextBox 4"/>
          <p:cNvSpPr txBox="1"/>
          <p:nvPr/>
        </p:nvSpPr>
        <p:spPr>
          <a:xfrm>
            <a:off x="1028700" y="2979308"/>
            <a:ext cx="10087846" cy="1028750"/>
          </a:xfrm>
          <a:prstGeom prst="rect">
            <a:avLst/>
          </a:prstGeom>
        </p:spPr>
        <p:txBody>
          <a:bodyPr lIns="0" tIns="0" rIns="0" bIns="0" rtlCol="0" anchor="t">
            <a:spAutoFit/>
          </a:bodyPr>
          <a:lstStyle/>
          <a:p>
            <a:pPr marL="0" lvl="0" indent="0" algn="l">
              <a:lnSpc>
                <a:spcPts val="4197"/>
              </a:lnSpc>
            </a:pPr>
            <a:r>
              <a:rPr lang="en-US" sz="2998" b="1">
                <a:solidFill>
                  <a:srgbClr val="4B6E29"/>
                </a:solidFill>
                <a:latin typeface="Proxima Nova Bold"/>
                <a:ea typeface="Proxima Nova Bold"/>
                <a:cs typeface="Proxima Nova Bold"/>
                <a:sym typeface="Proxima Nova Bold"/>
              </a:rPr>
              <a:t>Lima kompetensi yang dikembangkan melalui tanggung jawab sosial di sekolah.</a:t>
            </a:r>
          </a:p>
        </p:txBody>
      </p:sp>
      <p:sp>
        <p:nvSpPr>
          <p:cNvPr id="5" name="TextBox 5"/>
          <p:cNvSpPr txBox="1"/>
          <p:nvPr/>
        </p:nvSpPr>
        <p:spPr>
          <a:xfrm>
            <a:off x="346601" y="4005056"/>
            <a:ext cx="10997284" cy="4172143"/>
          </a:xfrm>
          <a:prstGeom prst="rect">
            <a:avLst/>
          </a:prstGeom>
        </p:spPr>
        <p:txBody>
          <a:bodyPr lIns="0" tIns="0" rIns="0" bIns="0" rtlCol="0" anchor="t">
            <a:spAutoFit/>
          </a:bodyPr>
          <a:lstStyle/>
          <a:p>
            <a:pPr marL="585169" lvl="1" indent="-292585" algn="l">
              <a:lnSpc>
                <a:spcPts val="6775"/>
              </a:lnSpc>
              <a:buAutoNum type="arabicPeriod"/>
            </a:pPr>
            <a:r>
              <a:rPr lang="en-US" sz="2710" b="1">
                <a:solidFill>
                  <a:srgbClr val="4D2F20"/>
                </a:solidFill>
                <a:latin typeface="Proxima Nova Bold"/>
                <a:ea typeface="Proxima Nova Bold"/>
                <a:cs typeface="Proxima Nova Bold"/>
                <a:sym typeface="Proxima Nova Bold"/>
              </a:rPr>
              <a:t>Kesadaran Diri</a:t>
            </a:r>
            <a:r>
              <a:rPr lang="en-US" sz="2710">
                <a:solidFill>
                  <a:srgbClr val="4D2F20"/>
                </a:solidFill>
                <a:latin typeface="Proxima Nova"/>
                <a:ea typeface="Proxima Nova"/>
                <a:cs typeface="Proxima Nova"/>
                <a:sym typeface="Proxima Nova"/>
              </a:rPr>
              <a:t>: mengenali peran dan tanggung jawab</a:t>
            </a:r>
          </a:p>
          <a:p>
            <a:pPr marL="585169" lvl="1" indent="-292585" algn="l">
              <a:lnSpc>
                <a:spcPts val="6775"/>
              </a:lnSpc>
              <a:buAutoNum type="arabicPeriod"/>
            </a:pPr>
            <a:r>
              <a:rPr lang="en-US" sz="2710" b="1">
                <a:solidFill>
                  <a:srgbClr val="4D2F20"/>
                </a:solidFill>
                <a:latin typeface="Proxima Nova Bold"/>
                <a:ea typeface="Proxima Nova Bold"/>
                <a:cs typeface="Proxima Nova Bold"/>
                <a:sym typeface="Proxima Nova Bold"/>
              </a:rPr>
              <a:t>Pengelolaan Diri</a:t>
            </a:r>
            <a:r>
              <a:rPr lang="en-US" sz="2710">
                <a:solidFill>
                  <a:srgbClr val="4D2F20"/>
                </a:solidFill>
                <a:latin typeface="Proxima Nova"/>
                <a:ea typeface="Proxima Nova"/>
                <a:cs typeface="Proxima Nova"/>
                <a:sym typeface="Proxima Nova"/>
              </a:rPr>
              <a:t>: membuat komitmen bertindak bertanggung jawab</a:t>
            </a:r>
          </a:p>
          <a:p>
            <a:pPr marL="585169" lvl="1" indent="-292585" algn="l">
              <a:lnSpc>
                <a:spcPts val="6775"/>
              </a:lnSpc>
              <a:buAutoNum type="arabicPeriod"/>
            </a:pPr>
            <a:r>
              <a:rPr lang="en-US" sz="2710" b="1">
                <a:solidFill>
                  <a:srgbClr val="4D2F20"/>
                </a:solidFill>
                <a:latin typeface="Proxima Nova Bold"/>
                <a:ea typeface="Proxima Nova Bold"/>
                <a:cs typeface="Proxima Nova Bold"/>
                <a:sym typeface="Proxima Nova Bold"/>
              </a:rPr>
              <a:t>Kesadaran Sosial</a:t>
            </a:r>
            <a:r>
              <a:rPr lang="en-US" sz="2710">
                <a:solidFill>
                  <a:srgbClr val="4D2F20"/>
                </a:solidFill>
                <a:latin typeface="Proxima Nova"/>
                <a:ea typeface="Proxima Nova"/>
                <a:cs typeface="Proxima Nova"/>
                <a:sym typeface="Proxima Nova"/>
              </a:rPr>
              <a:t>: memahami dampak perilaku terhadap lingkungan</a:t>
            </a:r>
          </a:p>
          <a:p>
            <a:pPr marL="585169" lvl="1" indent="-292585" algn="l">
              <a:lnSpc>
                <a:spcPts val="6775"/>
              </a:lnSpc>
              <a:buAutoNum type="arabicPeriod"/>
            </a:pPr>
            <a:r>
              <a:rPr lang="en-US" sz="2710" b="1">
                <a:solidFill>
                  <a:srgbClr val="4D2F20"/>
                </a:solidFill>
                <a:latin typeface="Proxima Nova Bold"/>
                <a:ea typeface="Proxima Nova Bold"/>
                <a:cs typeface="Proxima Nova Bold"/>
                <a:sym typeface="Proxima Nova Bold"/>
              </a:rPr>
              <a:t>Keterampilan Berteman</a:t>
            </a:r>
            <a:r>
              <a:rPr lang="en-US" sz="2710">
                <a:solidFill>
                  <a:srgbClr val="4D2F20"/>
                </a:solidFill>
                <a:latin typeface="Proxima Nova"/>
                <a:ea typeface="Proxima Nova"/>
                <a:cs typeface="Proxima Nova"/>
                <a:sym typeface="Proxima Nova"/>
              </a:rPr>
              <a:t>: berdiskusi, mendengarkan, menghargai</a:t>
            </a:r>
          </a:p>
          <a:p>
            <a:pPr marL="585169" lvl="1" indent="-292585" algn="l">
              <a:lnSpc>
                <a:spcPts val="6775"/>
              </a:lnSpc>
              <a:buAutoNum type="arabicPeriod"/>
            </a:pPr>
            <a:r>
              <a:rPr lang="en-US" sz="2710" b="1">
                <a:solidFill>
                  <a:srgbClr val="4D2F20"/>
                </a:solidFill>
                <a:latin typeface="Proxima Nova Bold"/>
                <a:ea typeface="Proxima Nova Bold"/>
                <a:cs typeface="Proxima Nova Bold"/>
                <a:sym typeface="Proxima Nova Bold"/>
              </a:rPr>
              <a:t>Pengambilan Keputusan</a:t>
            </a:r>
            <a:r>
              <a:rPr lang="en-US" sz="2710">
                <a:solidFill>
                  <a:srgbClr val="4D2F20"/>
                </a:solidFill>
                <a:latin typeface="Proxima Nova"/>
                <a:ea typeface="Proxima Nova"/>
                <a:cs typeface="Proxima Nova"/>
                <a:sym typeface="Proxima Nova"/>
              </a:rPr>
              <a:t>: memilih tindakan yang tepat</a:t>
            </a:r>
          </a:p>
        </p:txBody>
      </p:sp>
      <p:sp>
        <p:nvSpPr>
          <p:cNvPr id="6" name="Freeform 6"/>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1500960">
            <a:off x="-375897" y="77547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rot="523809">
            <a:off x="1676502" y="84427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5829682" y="9283146"/>
            <a:ext cx="3822212" cy="635619"/>
            <a:chOff x="0" y="0"/>
            <a:chExt cx="5096283" cy="847492"/>
          </a:xfrm>
        </p:grpSpPr>
        <p:sp>
          <p:nvSpPr>
            <p:cNvPr id="11" name="Freeform 11"/>
            <p:cNvSpPr/>
            <p:nvPr/>
          </p:nvSpPr>
          <p:spPr>
            <a:xfrm>
              <a:off x="0" y="0"/>
              <a:ext cx="836116" cy="847492"/>
            </a:xfrm>
            <a:custGeom>
              <a:avLst/>
              <a:gdLst/>
              <a:ahLst/>
              <a:cxnLst/>
              <a:rect l="l" t="t" r="r" b="b"/>
              <a:pathLst>
                <a:path w="836116" h="847492">
                  <a:moveTo>
                    <a:pt x="0" y="0"/>
                  </a:moveTo>
                  <a:lnTo>
                    <a:pt x="836116" y="0"/>
                  </a:lnTo>
                  <a:lnTo>
                    <a:pt x="836116" y="847492"/>
                  </a:lnTo>
                  <a:lnTo>
                    <a:pt x="0" y="847492"/>
                  </a:lnTo>
                  <a:lnTo>
                    <a:pt x="0" y="0"/>
                  </a:lnTo>
                  <a:close/>
                </a:path>
              </a:pathLst>
            </a:custGeom>
            <a:blipFill>
              <a:blip r:embed="rId5"/>
              <a:stretch>
                <a:fillRect/>
              </a:stretch>
            </a:blipFill>
          </p:spPr>
        </p:sp>
        <p:sp>
          <p:nvSpPr>
            <p:cNvPr id="12" name="Freeform 12"/>
            <p:cNvSpPr/>
            <p:nvPr/>
          </p:nvSpPr>
          <p:spPr>
            <a:xfrm>
              <a:off x="905274" y="0"/>
              <a:ext cx="847492" cy="847492"/>
            </a:xfrm>
            <a:custGeom>
              <a:avLst/>
              <a:gdLst/>
              <a:ahLst/>
              <a:cxnLst/>
              <a:rect l="l" t="t" r="r" b="b"/>
              <a:pathLst>
                <a:path w="847492" h="847492">
                  <a:moveTo>
                    <a:pt x="0" y="0"/>
                  </a:moveTo>
                  <a:lnTo>
                    <a:pt x="847492" y="0"/>
                  </a:lnTo>
                  <a:lnTo>
                    <a:pt x="847492" y="847492"/>
                  </a:lnTo>
                  <a:lnTo>
                    <a:pt x="0" y="847492"/>
                  </a:lnTo>
                  <a:lnTo>
                    <a:pt x="0" y="0"/>
                  </a:lnTo>
                  <a:close/>
                </a:path>
              </a:pathLst>
            </a:custGeom>
            <a:blipFill>
              <a:blip r:embed="rId6"/>
              <a:stretch>
                <a:fillRect/>
              </a:stretch>
            </a:blipFill>
          </p:spPr>
        </p:sp>
        <p:sp>
          <p:nvSpPr>
            <p:cNvPr id="13" name="Freeform 13"/>
            <p:cNvSpPr/>
            <p:nvPr/>
          </p:nvSpPr>
          <p:spPr>
            <a:xfrm>
              <a:off x="1821924" y="0"/>
              <a:ext cx="833968" cy="847492"/>
            </a:xfrm>
            <a:custGeom>
              <a:avLst/>
              <a:gdLst/>
              <a:ahLst/>
              <a:cxnLst/>
              <a:rect l="l" t="t" r="r" b="b"/>
              <a:pathLst>
                <a:path w="833968" h="847492">
                  <a:moveTo>
                    <a:pt x="0" y="0"/>
                  </a:moveTo>
                  <a:lnTo>
                    <a:pt x="833968" y="0"/>
                  </a:lnTo>
                  <a:lnTo>
                    <a:pt x="833968" y="847492"/>
                  </a:lnTo>
                  <a:lnTo>
                    <a:pt x="0" y="847492"/>
                  </a:lnTo>
                  <a:lnTo>
                    <a:pt x="0" y="0"/>
                  </a:lnTo>
                  <a:close/>
                </a:path>
              </a:pathLst>
            </a:custGeom>
            <a:blipFill>
              <a:blip r:embed="rId7"/>
              <a:stretch>
                <a:fillRect l="-6537" t="-48240" r="-5931" b="-48445"/>
              </a:stretch>
            </a:blipFill>
          </p:spPr>
        </p:sp>
        <p:sp>
          <p:nvSpPr>
            <p:cNvPr id="14" name="Freeform 14"/>
            <p:cNvSpPr/>
            <p:nvPr/>
          </p:nvSpPr>
          <p:spPr>
            <a:xfrm>
              <a:off x="2725050" y="93835"/>
              <a:ext cx="2371233" cy="659821"/>
            </a:xfrm>
            <a:custGeom>
              <a:avLst/>
              <a:gdLst/>
              <a:ahLst/>
              <a:cxnLst/>
              <a:rect l="l" t="t" r="r" b="b"/>
              <a:pathLst>
                <a:path w="2371233" h="659821">
                  <a:moveTo>
                    <a:pt x="0" y="0"/>
                  </a:moveTo>
                  <a:lnTo>
                    <a:pt x="2371233" y="0"/>
                  </a:lnTo>
                  <a:lnTo>
                    <a:pt x="2371233" y="659822"/>
                  </a:lnTo>
                  <a:lnTo>
                    <a:pt x="0" y="659822"/>
                  </a:lnTo>
                  <a:lnTo>
                    <a:pt x="0" y="0"/>
                  </a:lnTo>
                  <a:close/>
                </a:path>
              </a:pathLst>
            </a:custGeom>
            <a:blipFill>
              <a:blip r:embed="rId8"/>
              <a:stretch>
                <a:fillRect l="-8614" t="-57846" r="-62053" b="-187155"/>
              </a:stretch>
            </a:blipFill>
          </p:spPr>
        </p:sp>
      </p:grpSp>
      <p:sp>
        <p:nvSpPr>
          <p:cNvPr id="15" name="TextBox 15"/>
          <p:cNvSpPr txBox="1"/>
          <p:nvPr/>
        </p:nvSpPr>
        <p:spPr>
          <a:xfrm>
            <a:off x="9787733" y="9215060"/>
            <a:ext cx="2606429" cy="703705"/>
          </a:xfrm>
          <a:prstGeom prst="rect">
            <a:avLst/>
          </a:prstGeom>
        </p:spPr>
        <p:txBody>
          <a:bodyPr lIns="0" tIns="0" rIns="0" bIns="0" rtlCol="0" anchor="t">
            <a:spAutoFit/>
          </a:bodyPr>
          <a:lstStyle/>
          <a:p>
            <a:pPr marL="0" lvl="0" indent="0" algn="l">
              <a:lnSpc>
                <a:spcPts val="2801"/>
              </a:lnSpc>
            </a:pPr>
            <a:r>
              <a:rPr lang="en-US" sz="2001"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D5CE"/>
        </a:solidFill>
        <a:effectLst/>
      </p:bgPr>
    </p:bg>
    <p:spTree>
      <p:nvGrpSpPr>
        <p:cNvPr id="1" name=""/>
        <p:cNvGrpSpPr/>
        <p:nvPr/>
      </p:nvGrpSpPr>
      <p:grpSpPr>
        <a:xfrm>
          <a:off x="0" y="0"/>
          <a:ext cx="0" cy="0"/>
          <a:chOff x="0" y="0"/>
          <a:chExt cx="0" cy="0"/>
        </a:xfrm>
      </p:grpSpPr>
      <p:sp>
        <p:nvSpPr>
          <p:cNvPr id="2" name="Freeform 2"/>
          <p:cNvSpPr/>
          <p:nvPr/>
        </p:nvSpPr>
        <p:spPr>
          <a:xfrm>
            <a:off x="10012806" y="1810320"/>
            <a:ext cx="4875349" cy="7209388"/>
          </a:xfrm>
          <a:custGeom>
            <a:avLst/>
            <a:gdLst/>
            <a:ahLst/>
            <a:cxnLst/>
            <a:rect l="l" t="t" r="r" b="b"/>
            <a:pathLst>
              <a:path w="4875349" h="7209388">
                <a:moveTo>
                  <a:pt x="0" y="0"/>
                </a:moveTo>
                <a:lnTo>
                  <a:pt x="4875349" y="0"/>
                </a:lnTo>
                <a:lnTo>
                  <a:pt x="4875349" y="7209388"/>
                </a:lnTo>
                <a:lnTo>
                  <a:pt x="0" y="7209388"/>
                </a:lnTo>
                <a:lnTo>
                  <a:pt x="0" y="0"/>
                </a:lnTo>
                <a:close/>
              </a:path>
            </a:pathLst>
          </a:custGeom>
          <a:blipFill>
            <a:blip r:embed="rId2"/>
            <a:stretch>
              <a:fillRect/>
            </a:stretch>
          </a:blipFill>
        </p:spPr>
      </p:sp>
      <p:sp>
        <p:nvSpPr>
          <p:cNvPr id="3" name="TextBox 3"/>
          <p:cNvSpPr txBox="1"/>
          <p:nvPr/>
        </p:nvSpPr>
        <p:spPr>
          <a:xfrm>
            <a:off x="2948595" y="3710119"/>
            <a:ext cx="5762175" cy="790468"/>
          </a:xfrm>
          <a:prstGeom prst="rect">
            <a:avLst/>
          </a:prstGeom>
        </p:spPr>
        <p:txBody>
          <a:bodyPr lIns="0" tIns="0" rIns="0" bIns="0" rtlCol="0" anchor="t">
            <a:spAutoFit/>
          </a:bodyPr>
          <a:lstStyle/>
          <a:p>
            <a:pPr marL="0" lvl="0" indent="0" algn="ctr">
              <a:lnSpc>
                <a:spcPts val="5995"/>
              </a:lnSpc>
            </a:pPr>
            <a:r>
              <a:rPr lang="en-US" sz="5995" b="1" spc="59">
                <a:solidFill>
                  <a:srgbClr val="4B6E29"/>
                </a:solidFill>
                <a:latin typeface="Proxima Nova Heavy"/>
                <a:ea typeface="Proxima Nova Heavy"/>
                <a:cs typeface="Proxima Nova Heavy"/>
                <a:sym typeface="Proxima Nova Heavy"/>
              </a:rPr>
              <a:t>TERIMA KASIH!</a:t>
            </a:r>
          </a:p>
        </p:txBody>
      </p:sp>
      <p:sp>
        <p:nvSpPr>
          <p:cNvPr id="4" name="TextBox 4"/>
          <p:cNvSpPr txBox="1"/>
          <p:nvPr/>
        </p:nvSpPr>
        <p:spPr>
          <a:xfrm>
            <a:off x="2119695" y="5885618"/>
            <a:ext cx="7419975" cy="842367"/>
          </a:xfrm>
          <a:prstGeom prst="rect">
            <a:avLst/>
          </a:prstGeom>
        </p:spPr>
        <p:txBody>
          <a:bodyPr lIns="0" tIns="0" rIns="0" bIns="0" rtlCol="0" anchor="t">
            <a:spAutoFit/>
          </a:bodyPr>
          <a:lstStyle/>
          <a:p>
            <a:pPr marL="0" lvl="0" indent="0" algn="ctr">
              <a:lnSpc>
                <a:spcPts val="3445"/>
              </a:lnSpc>
            </a:pPr>
            <a:r>
              <a:rPr lang="en-US" sz="2460" b="1">
                <a:solidFill>
                  <a:srgbClr val="4B6E29"/>
                </a:solidFill>
                <a:latin typeface="Proxima Nova Bold"/>
                <a:ea typeface="Proxima Nova Bold"/>
                <a:cs typeface="Proxima Nova Bold"/>
                <a:sym typeface="Proxima Nova Bold"/>
              </a:rPr>
              <a:t>Mari kita jalankan tanggung jawab sosial dengan sungguh-sungguh sebagai warga sekolah yang baik.</a:t>
            </a:r>
          </a:p>
        </p:txBody>
      </p:sp>
      <p:sp>
        <p:nvSpPr>
          <p:cNvPr id="5" name="Freeform 5"/>
          <p:cNvSpPr/>
          <p:nvPr/>
        </p:nvSpPr>
        <p:spPr>
          <a:xfrm rot="-3840000" flipH="1">
            <a:off x="15659745" y="-1028700"/>
            <a:ext cx="3111818" cy="4114800"/>
          </a:xfrm>
          <a:custGeom>
            <a:avLst/>
            <a:gdLst/>
            <a:ahLst/>
            <a:cxnLst/>
            <a:rect l="l" t="t" r="r" b="b"/>
            <a:pathLst>
              <a:path w="3111818" h="4114800">
                <a:moveTo>
                  <a:pt x="3111817" y="0"/>
                </a:moveTo>
                <a:lnTo>
                  <a:pt x="0" y="0"/>
                </a:lnTo>
                <a:lnTo>
                  <a:pt x="0" y="4114800"/>
                </a:lnTo>
                <a:lnTo>
                  <a:pt x="3111817" y="4114800"/>
                </a:lnTo>
                <a:lnTo>
                  <a:pt x="3111817"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523809">
            <a:off x="13062473" y="-2091637"/>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rot="-1500960">
            <a:off x="-375897" y="7488093"/>
            <a:ext cx="3111817" cy="4114800"/>
          </a:xfrm>
          <a:custGeom>
            <a:avLst/>
            <a:gdLst/>
            <a:ahLst/>
            <a:cxnLst/>
            <a:rect l="l" t="t" r="r" b="b"/>
            <a:pathLst>
              <a:path w="3111817" h="4114800">
                <a:moveTo>
                  <a:pt x="0" y="0"/>
                </a:moveTo>
                <a:lnTo>
                  <a:pt x="3111818" y="0"/>
                </a:lnTo>
                <a:lnTo>
                  <a:pt x="311181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rot="523809">
            <a:off x="1676502" y="8176090"/>
            <a:ext cx="3887671" cy="3795339"/>
          </a:xfrm>
          <a:custGeom>
            <a:avLst/>
            <a:gdLst/>
            <a:ahLst/>
            <a:cxnLst/>
            <a:rect l="l" t="t" r="r" b="b"/>
            <a:pathLst>
              <a:path w="3887671" h="3795339">
                <a:moveTo>
                  <a:pt x="0" y="0"/>
                </a:moveTo>
                <a:lnTo>
                  <a:pt x="3887671" y="0"/>
                </a:lnTo>
                <a:lnTo>
                  <a:pt x="3887671" y="3795339"/>
                </a:lnTo>
                <a:lnTo>
                  <a:pt x="0" y="3795339"/>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1028700" y="517574"/>
            <a:ext cx="4725188" cy="785780"/>
            <a:chOff x="0" y="0"/>
            <a:chExt cx="6300251" cy="1047707"/>
          </a:xfrm>
        </p:grpSpPr>
        <p:sp>
          <p:nvSpPr>
            <p:cNvPr id="10" name="Freeform 10"/>
            <p:cNvSpPr/>
            <p:nvPr/>
          </p:nvSpPr>
          <p:spPr>
            <a:xfrm>
              <a:off x="0" y="0"/>
              <a:ext cx="1033644" cy="1047707"/>
            </a:xfrm>
            <a:custGeom>
              <a:avLst/>
              <a:gdLst/>
              <a:ahLst/>
              <a:cxnLst/>
              <a:rect l="l" t="t" r="r" b="b"/>
              <a:pathLst>
                <a:path w="1033644" h="1047707">
                  <a:moveTo>
                    <a:pt x="0" y="0"/>
                  </a:moveTo>
                  <a:lnTo>
                    <a:pt x="1033644" y="0"/>
                  </a:lnTo>
                  <a:lnTo>
                    <a:pt x="1033644" y="1047707"/>
                  </a:lnTo>
                  <a:lnTo>
                    <a:pt x="0" y="1047707"/>
                  </a:lnTo>
                  <a:lnTo>
                    <a:pt x="0" y="0"/>
                  </a:lnTo>
                  <a:close/>
                </a:path>
              </a:pathLst>
            </a:custGeom>
            <a:blipFill>
              <a:blip r:embed="rId5"/>
              <a:stretch>
                <a:fillRect/>
              </a:stretch>
            </a:blipFill>
          </p:spPr>
        </p:sp>
        <p:sp>
          <p:nvSpPr>
            <p:cNvPr id="11" name="Freeform 11"/>
            <p:cNvSpPr/>
            <p:nvPr/>
          </p:nvSpPr>
          <p:spPr>
            <a:xfrm>
              <a:off x="1119140" y="0"/>
              <a:ext cx="1047707" cy="1047707"/>
            </a:xfrm>
            <a:custGeom>
              <a:avLst/>
              <a:gdLst/>
              <a:ahLst/>
              <a:cxnLst/>
              <a:rect l="l" t="t" r="r" b="b"/>
              <a:pathLst>
                <a:path w="1047707" h="1047707">
                  <a:moveTo>
                    <a:pt x="0" y="0"/>
                  </a:moveTo>
                  <a:lnTo>
                    <a:pt x="1047707" y="0"/>
                  </a:lnTo>
                  <a:lnTo>
                    <a:pt x="1047707" y="1047707"/>
                  </a:lnTo>
                  <a:lnTo>
                    <a:pt x="0" y="1047707"/>
                  </a:lnTo>
                  <a:lnTo>
                    <a:pt x="0" y="0"/>
                  </a:lnTo>
                  <a:close/>
                </a:path>
              </a:pathLst>
            </a:custGeom>
            <a:blipFill>
              <a:blip r:embed="rId6"/>
              <a:stretch>
                <a:fillRect/>
              </a:stretch>
            </a:blipFill>
          </p:spPr>
        </p:sp>
        <p:sp>
          <p:nvSpPr>
            <p:cNvPr id="12" name="Freeform 12"/>
            <p:cNvSpPr/>
            <p:nvPr/>
          </p:nvSpPr>
          <p:spPr>
            <a:xfrm>
              <a:off x="2252343" y="0"/>
              <a:ext cx="1030989" cy="1047707"/>
            </a:xfrm>
            <a:custGeom>
              <a:avLst/>
              <a:gdLst/>
              <a:ahLst/>
              <a:cxnLst/>
              <a:rect l="l" t="t" r="r" b="b"/>
              <a:pathLst>
                <a:path w="1030989" h="1047707">
                  <a:moveTo>
                    <a:pt x="0" y="0"/>
                  </a:moveTo>
                  <a:lnTo>
                    <a:pt x="1030988" y="0"/>
                  </a:lnTo>
                  <a:lnTo>
                    <a:pt x="1030988" y="1047707"/>
                  </a:lnTo>
                  <a:lnTo>
                    <a:pt x="0" y="1047707"/>
                  </a:lnTo>
                  <a:lnTo>
                    <a:pt x="0" y="0"/>
                  </a:lnTo>
                  <a:close/>
                </a:path>
              </a:pathLst>
            </a:custGeom>
            <a:blipFill>
              <a:blip r:embed="rId7"/>
              <a:stretch>
                <a:fillRect l="-6537" t="-48240" r="-5931" b="-48445"/>
              </a:stretch>
            </a:blipFill>
          </p:spPr>
        </p:sp>
        <p:sp>
          <p:nvSpPr>
            <p:cNvPr id="13" name="Freeform 13"/>
            <p:cNvSpPr/>
            <p:nvPr/>
          </p:nvSpPr>
          <p:spPr>
            <a:xfrm>
              <a:off x="3368827" y="116003"/>
              <a:ext cx="2931423" cy="815700"/>
            </a:xfrm>
            <a:custGeom>
              <a:avLst/>
              <a:gdLst/>
              <a:ahLst/>
              <a:cxnLst/>
              <a:rect l="l" t="t" r="r" b="b"/>
              <a:pathLst>
                <a:path w="2931423" h="815700">
                  <a:moveTo>
                    <a:pt x="0" y="0"/>
                  </a:moveTo>
                  <a:lnTo>
                    <a:pt x="2931424" y="0"/>
                  </a:lnTo>
                  <a:lnTo>
                    <a:pt x="2931424" y="815701"/>
                  </a:lnTo>
                  <a:lnTo>
                    <a:pt x="0" y="815701"/>
                  </a:lnTo>
                  <a:lnTo>
                    <a:pt x="0" y="0"/>
                  </a:lnTo>
                  <a:close/>
                </a:path>
              </a:pathLst>
            </a:custGeom>
            <a:blipFill>
              <a:blip r:embed="rId8"/>
              <a:stretch>
                <a:fillRect l="-8614" t="-57846" r="-62053" b="-187155"/>
              </a:stretch>
            </a:blipFill>
          </p:spPr>
        </p:sp>
      </p:grpSp>
      <p:sp>
        <p:nvSpPr>
          <p:cNvPr id="14" name="TextBox 14"/>
          <p:cNvSpPr txBox="1"/>
          <p:nvPr/>
        </p:nvSpPr>
        <p:spPr>
          <a:xfrm>
            <a:off x="5921818" y="444654"/>
            <a:ext cx="3222182" cy="858700"/>
          </a:xfrm>
          <a:prstGeom prst="rect">
            <a:avLst/>
          </a:prstGeom>
        </p:spPr>
        <p:txBody>
          <a:bodyPr lIns="0" tIns="0" rIns="0" bIns="0" rtlCol="0" anchor="t">
            <a:spAutoFit/>
          </a:bodyPr>
          <a:lstStyle/>
          <a:p>
            <a:pPr marL="0" lvl="0" indent="0" algn="l">
              <a:lnSpc>
                <a:spcPts val="3463"/>
              </a:lnSpc>
            </a:pPr>
            <a:r>
              <a:rPr lang="en-US" sz="2474" b="1">
                <a:solidFill>
                  <a:srgbClr val="4B6E29"/>
                </a:solidFill>
                <a:latin typeface="Proxima Nova Bold"/>
                <a:ea typeface="Proxima Nova Bold"/>
                <a:cs typeface="Proxima Nova Bold"/>
                <a:sym typeface="Proxima Nova Bold"/>
              </a:rPr>
              <a:t>PPL PPG Calon Guru UNM 2026</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590</Words>
  <Application>Microsoft Office PowerPoint</Application>
  <PresentationFormat>Kustom</PresentationFormat>
  <Paragraphs>89</Paragraphs>
  <Slides>12</Slides>
  <Notes>0</Notes>
  <HiddenSlides>0</HiddenSlides>
  <MMClips>0</MMClips>
  <ScaleCrop>false</ScaleCrop>
  <HeadingPairs>
    <vt:vector size="6" baseType="variant">
      <vt:variant>
        <vt:lpstr>Font Dipakai</vt:lpstr>
      </vt:variant>
      <vt:variant>
        <vt:i4>7</vt:i4>
      </vt:variant>
      <vt:variant>
        <vt:lpstr>Tema</vt:lpstr>
      </vt:variant>
      <vt:variant>
        <vt:i4>1</vt:i4>
      </vt:variant>
      <vt:variant>
        <vt:lpstr>Judul Slide</vt:lpstr>
      </vt:variant>
      <vt:variant>
        <vt:i4>12</vt:i4>
      </vt:variant>
    </vt:vector>
  </HeadingPairs>
  <TitlesOfParts>
    <vt:vector size="20" baseType="lpstr">
      <vt:lpstr>Open Sans</vt:lpstr>
      <vt:lpstr>Proxima Nova Heavy</vt:lpstr>
      <vt:lpstr>Proxima Nova</vt:lpstr>
      <vt:lpstr>Calibri</vt:lpstr>
      <vt:lpstr>Proxima Nova Bold</vt:lpstr>
      <vt:lpstr>Open Sans Bold</vt:lpstr>
      <vt:lpstr>Arial</vt:lpstr>
      <vt:lpstr>Office Theme</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Tanggung Jawab Sosial Sekolah Kelas VII</dc:title>
  <cp:lastModifiedBy>Supriadi J</cp:lastModifiedBy>
  <cp:revision>4</cp:revision>
  <dcterms:created xsi:type="dcterms:W3CDTF">2006-08-16T00:00:00Z</dcterms:created>
  <dcterms:modified xsi:type="dcterms:W3CDTF">2026-04-25T10:51:55Z</dcterms:modified>
  <dc:identifier>DAHHxFiJWBA</dc:identifier>
</cp:coreProperties>
</file>