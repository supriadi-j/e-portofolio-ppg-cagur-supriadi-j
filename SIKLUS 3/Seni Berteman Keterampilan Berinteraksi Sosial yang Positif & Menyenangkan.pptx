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</p:sldIdLst>
  <p:sldSz cx="18288000" cy="10287000"/>
  <p:notesSz cx="6858000" cy="9144000"/>
  <p:embeddedFontLst>
    <p:embeddedFont>
      <p:font typeface="Barlow" panose="020F0502020204030204" pitchFamily="2" charset="0"/>
      <p:regular r:id="rId18"/>
    </p:embeddedFont>
    <p:embeddedFont>
      <p:font typeface="Barlow Bold" panose="020B0604020202020204" charset="0"/>
      <p:regular r:id="rId19"/>
    </p:embeddedFont>
    <p:embeddedFont>
      <p:font typeface="Francois One" panose="020B0604020202020204" charset="0"/>
      <p:regular r:id="rId20"/>
    </p:embeddedFont>
    <p:embeddedFont>
      <p:font typeface="Intro Rust" panose="020B0604020202020204" charset="0"/>
      <p:regular r:id="rId21"/>
    </p:embeddedFont>
    <p:embeddedFont>
      <p:font typeface="Open Sans" panose="020B0606030504020204" pitchFamily="34" charset="0"/>
      <p:regular r:id="rId22"/>
    </p:embeddedFont>
    <p:embeddedFont>
      <p:font typeface="Open Sans Bold" panose="020B0806030504020204" charset="0"/>
      <p:regular r:id="rId23"/>
    </p:embeddedFont>
    <p:embeddedFont>
      <p:font typeface="Open Sans Bold Italics" panose="020B0604020202020204" charset="0"/>
      <p:regular r:id="rId24"/>
    </p:embeddedFont>
    <p:embeddedFont>
      <p:font typeface="Open Sans Italics" panose="020B0604020202020204" charset="0"/>
      <p:regular r:id="rId25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>
        <p:scale>
          <a:sx n="50" d="100"/>
          <a:sy n="50" d="100"/>
        </p:scale>
        <p:origin x="300" y="-504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font" Target="fonts/font1.fntdata"/><Relationship Id="rId26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font" Target="fonts/font4.fntdata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font" Target="fonts/font8.fntdata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font" Target="fonts/font3.fntdata"/><Relationship Id="rId29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font" Target="fonts/font7.fntdata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font" Target="fonts/font6.fntdata"/><Relationship Id="rId28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font" Target="fonts/font2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font" Target="fonts/font5.fntdata"/><Relationship Id="rId27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6/8/2026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6/8/2026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6/8/2026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6/8/2026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6/8/2026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6/8/2026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6/8/2026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6/8/2026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6/8/2026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6/8/2026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6/8/2026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6/8/2026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8.png"/><Relationship Id="rId3" Type="http://schemas.openxmlformats.org/officeDocument/2006/relationships/image" Target="../media/image3.png"/><Relationship Id="rId7" Type="http://schemas.openxmlformats.org/officeDocument/2006/relationships/image" Target="../media/image7.jpe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6.png"/><Relationship Id="rId5" Type="http://schemas.openxmlformats.org/officeDocument/2006/relationships/image" Target="../media/image5.png"/><Relationship Id="rId4" Type="http://schemas.openxmlformats.org/officeDocument/2006/relationships/image" Target="../media/image4.png"/><Relationship Id="rId9" Type="http://schemas.openxmlformats.org/officeDocument/2006/relationships/image" Target="../media/image9.png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sv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-463030" y="-446387"/>
            <a:ext cx="9607030" cy="11179775"/>
            <a:chOff x="0" y="0"/>
            <a:chExt cx="2530247" cy="2944467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2530247" cy="2944467"/>
            </a:xfrm>
            <a:custGeom>
              <a:avLst/>
              <a:gdLst/>
              <a:ahLst/>
              <a:cxnLst/>
              <a:rect l="l" t="t" r="r" b="b"/>
              <a:pathLst>
                <a:path w="2530247" h="2944467">
                  <a:moveTo>
                    <a:pt x="0" y="0"/>
                  </a:moveTo>
                  <a:lnTo>
                    <a:pt x="2530247" y="0"/>
                  </a:lnTo>
                  <a:lnTo>
                    <a:pt x="2530247" y="2944467"/>
                  </a:lnTo>
                  <a:lnTo>
                    <a:pt x="0" y="2944467"/>
                  </a:lnTo>
                  <a:close/>
                </a:path>
              </a:pathLst>
            </a:custGeom>
            <a:solidFill>
              <a:srgbClr val="00687A"/>
            </a:solidFill>
          </p:spPr>
        </p:sp>
        <p:sp>
          <p:nvSpPr>
            <p:cNvPr id="4" name="TextBox 4"/>
            <p:cNvSpPr txBox="1"/>
            <p:nvPr/>
          </p:nvSpPr>
          <p:spPr>
            <a:xfrm>
              <a:off x="0" y="-38100"/>
              <a:ext cx="2530247" cy="2982567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sp>
        <p:nvSpPr>
          <p:cNvPr id="5" name="Freeform 5"/>
          <p:cNvSpPr/>
          <p:nvPr/>
        </p:nvSpPr>
        <p:spPr>
          <a:xfrm>
            <a:off x="10186495" y="2371844"/>
            <a:ext cx="7072805" cy="5543311"/>
          </a:xfrm>
          <a:custGeom>
            <a:avLst/>
            <a:gdLst/>
            <a:ahLst/>
            <a:cxnLst/>
            <a:rect l="l" t="t" r="r" b="b"/>
            <a:pathLst>
              <a:path w="7072805" h="5543311">
                <a:moveTo>
                  <a:pt x="0" y="0"/>
                </a:moveTo>
                <a:lnTo>
                  <a:pt x="7072805" y="0"/>
                </a:lnTo>
                <a:lnTo>
                  <a:pt x="7072805" y="5543312"/>
                </a:lnTo>
                <a:lnTo>
                  <a:pt x="0" y="5543312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</p:sp>
      <p:sp>
        <p:nvSpPr>
          <p:cNvPr id="6" name="TextBox 6"/>
          <p:cNvSpPr txBox="1"/>
          <p:nvPr/>
        </p:nvSpPr>
        <p:spPr>
          <a:xfrm>
            <a:off x="1028700" y="2130080"/>
            <a:ext cx="7250982" cy="20796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5599"/>
              </a:lnSpc>
            </a:pPr>
            <a:r>
              <a:rPr lang="en-US" sz="3999">
                <a:solidFill>
                  <a:srgbClr val="FFFFFF"/>
                </a:solidFill>
                <a:latin typeface="Francois One"/>
                <a:ea typeface="Francois One"/>
                <a:cs typeface="Francois One"/>
                <a:sym typeface="Francois One"/>
              </a:rPr>
              <a:t>“Pernahkah kamu merasa sulit berkomunikasi dengan orang baru? “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1028700" y="4896455"/>
            <a:ext cx="7250982" cy="13747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5599"/>
              </a:lnSpc>
            </a:pPr>
            <a:r>
              <a:rPr lang="en-US" sz="3999">
                <a:solidFill>
                  <a:srgbClr val="FFFFFF"/>
                </a:solidFill>
                <a:latin typeface="Francois One"/>
                <a:ea typeface="Francois One"/>
                <a:cs typeface="Francois One"/>
                <a:sym typeface="Francois One"/>
              </a:rPr>
              <a:t>“Apa bedanya teman baik dengan sekadar kenalan?”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25330" y="5471252"/>
            <a:ext cx="5336009" cy="4815748"/>
          </a:xfrm>
          <a:custGeom>
            <a:avLst/>
            <a:gdLst/>
            <a:ahLst/>
            <a:cxnLst/>
            <a:rect l="l" t="t" r="r" b="b"/>
            <a:pathLst>
              <a:path w="5336009" h="4815748">
                <a:moveTo>
                  <a:pt x="0" y="0"/>
                </a:moveTo>
                <a:lnTo>
                  <a:pt x="5336009" y="0"/>
                </a:lnTo>
                <a:lnTo>
                  <a:pt x="5336009" y="4815748"/>
                </a:lnTo>
                <a:lnTo>
                  <a:pt x="0" y="4815748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</p:sp>
      <p:sp>
        <p:nvSpPr>
          <p:cNvPr id="3" name="Freeform 3"/>
          <p:cNvSpPr/>
          <p:nvPr/>
        </p:nvSpPr>
        <p:spPr>
          <a:xfrm flipH="1">
            <a:off x="12951991" y="5471252"/>
            <a:ext cx="5336009" cy="4815748"/>
          </a:xfrm>
          <a:custGeom>
            <a:avLst/>
            <a:gdLst/>
            <a:ahLst/>
            <a:cxnLst/>
            <a:rect l="l" t="t" r="r" b="b"/>
            <a:pathLst>
              <a:path w="5336009" h="4815748">
                <a:moveTo>
                  <a:pt x="5336009" y="0"/>
                </a:moveTo>
                <a:lnTo>
                  <a:pt x="0" y="0"/>
                </a:lnTo>
                <a:lnTo>
                  <a:pt x="0" y="4815748"/>
                </a:lnTo>
                <a:lnTo>
                  <a:pt x="5336009" y="4815748"/>
                </a:lnTo>
                <a:lnTo>
                  <a:pt x="5336009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</p:sp>
      <p:sp>
        <p:nvSpPr>
          <p:cNvPr id="4" name="Freeform 4"/>
          <p:cNvSpPr/>
          <p:nvPr/>
        </p:nvSpPr>
        <p:spPr>
          <a:xfrm>
            <a:off x="0" y="0"/>
            <a:ext cx="3967457" cy="3853393"/>
          </a:xfrm>
          <a:custGeom>
            <a:avLst/>
            <a:gdLst/>
            <a:ahLst/>
            <a:cxnLst/>
            <a:rect l="l" t="t" r="r" b="b"/>
            <a:pathLst>
              <a:path w="3967457" h="3853393">
                <a:moveTo>
                  <a:pt x="0" y="0"/>
                </a:moveTo>
                <a:lnTo>
                  <a:pt x="3967457" y="0"/>
                </a:lnTo>
                <a:lnTo>
                  <a:pt x="3967457" y="3853393"/>
                </a:lnTo>
                <a:lnTo>
                  <a:pt x="0" y="3853393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</p:sp>
      <p:sp>
        <p:nvSpPr>
          <p:cNvPr id="5" name="Freeform 5"/>
          <p:cNvSpPr/>
          <p:nvPr/>
        </p:nvSpPr>
        <p:spPr>
          <a:xfrm flipH="1">
            <a:off x="14320543" y="0"/>
            <a:ext cx="3967457" cy="3853393"/>
          </a:xfrm>
          <a:custGeom>
            <a:avLst/>
            <a:gdLst/>
            <a:ahLst/>
            <a:cxnLst/>
            <a:rect l="l" t="t" r="r" b="b"/>
            <a:pathLst>
              <a:path w="3967457" h="3853393">
                <a:moveTo>
                  <a:pt x="3967457" y="0"/>
                </a:moveTo>
                <a:lnTo>
                  <a:pt x="0" y="0"/>
                </a:lnTo>
                <a:lnTo>
                  <a:pt x="0" y="3853393"/>
                </a:lnTo>
                <a:lnTo>
                  <a:pt x="3967457" y="3853393"/>
                </a:lnTo>
                <a:lnTo>
                  <a:pt x="3967457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</p:sp>
      <p:grpSp>
        <p:nvGrpSpPr>
          <p:cNvPr id="6" name="Group 6"/>
          <p:cNvGrpSpPr/>
          <p:nvPr/>
        </p:nvGrpSpPr>
        <p:grpSpPr>
          <a:xfrm>
            <a:off x="5496027" y="1028700"/>
            <a:ext cx="7295946" cy="915713"/>
            <a:chOff x="0" y="0"/>
            <a:chExt cx="9727928" cy="1220951"/>
          </a:xfrm>
        </p:grpSpPr>
        <p:sp>
          <p:nvSpPr>
            <p:cNvPr id="7" name="Freeform 7"/>
            <p:cNvSpPr/>
            <p:nvPr/>
          </p:nvSpPr>
          <p:spPr>
            <a:xfrm>
              <a:off x="0" y="0"/>
              <a:ext cx="1204562" cy="1220951"/>
            </a:xfrm>
            <a:custGeom>
              <a:avLst/>
              <a:gdLst/>
              <a:ahLst/>
              <a:cxnLst/>
              <a:rect l="l" t="t" r="r" b="b"/>
              <a:pathLst>
                <a:path w="1204562" h="1220951">
                  <a:moveTo>
                    <a:pt x="0" y="0"/>
                  </a:moveTo>
                  <a:lnTo>
                    <a:pt x="1204562" y="0"/>
                  </a:lnTo>
                  <a:lnTo>
                    <a:pt x="1204562" y="1220951"/>
                  </a:lnTo>
                  <a:lnTo>
                    <a:pt x="0" y="1220951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/>
              </a:stretch>
            </a:blipFill>
          </p:spPr>
        </p:sp>
        <p:sp>
          <p:nvSpPr>
            <p:cNvPr id="8" name="Freeform 8"/>
            <p:cNvSpPr/>
            <p:nvPr/>
          </p:nvSpPr>
          <p:spPr>
            <a:xfrm>
              <a:off x="1306484" y="0"/>
              <a:ext cx="1245868" cy="1220951"/>
            </a:xfrm>
            <a:custGeom>
              <a:avLst/>
              <a:gdLst/>
              <a:ahLst/>
              <a:cxnLst/>
              <a:rect l="l" t="t" r="r" b="b"/>
              <a:pathLst>
                <a:path w="1245868" h="1220951">
                  <a:moveTo>
                    <a:pt x="0" y="0"/>
                  </a:moveTo>
                  <a:lnTo>
                    <a:pt x="1245868" y="0"/>
                  </a:lnTo>
                  <a:lnTo>
                    <a:pt x="1245868" y="1220951"/>
                  </a:lnTo>
                  <a:lnTo>
                    <a:pt x="0" y="1220951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>
                <a:fillRect l="-5991" t="-52012" r="-6436" b="-51869"/>
              </a:stretch>
            </a:blipFill>
          </p:spPr>
        </p:sp>
        <p:sp>
          <p:nvSpPr>
            <p:cNvPr id="9" name="Freeform 9"/>
            <p:cNvSpPr/>
            <p:nvPr/>
          </p:nvSpPr>
          <p:spPr>
            <a:xfrm>
              <a:off x="2654273" y="0"/>
              <a:ext cx="1199809" cy="1220951"/>
            </a:xfrm>
            <a:custGeom>
              <a:avLst/>
              <a:gdLst/>
              <a:ahLst/>
              <a:cxnLst/>
              <a:rect l="l" t="t" r="r" b="b"/>
              <a:pathLst>
                <a:path w="1199809" h="1220951">
                  <a:moveTo>
                    <a:pt x="0" y="0"/>
                  </a:moveTo>
                  <a:lnTo>
                    <a:pt x="1199809" y="0"/>
                  </a:lnTo>
                  <a:lnTo>
                    <a:pt x="1199809" y="1220951"/>
                  </a:lnTo>
                  <a:lnTo>
                    <a:pt x="0" y="1220951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6"/>
              <a:stretch>
                <a:fillRect l="-8260" t="-7080" r="-8113" b="-7278"/>
              </a:stretch>
            </a:blipFill>
          </p:spPr>
        </p:sp>
        <p:sp>
          <p:nvSpPr>
            <p:cNvPr id="10" name="Freeform 10"/>
            <p:cNvSpPr/>
            <p:nvPr/>
          </p:nvSpPr>
          <p:spPr>
            <a:xfrm>
              <a:off x="6648333" y="0"/>
              <a:ext cx="3079595" cy="1220951"/>
            </a:xfrm>
            <a:custGeom>
              <a:avLst/>
              <a:gdLst/>
              <a:ahLst/>
              <a:cxnLst/>
              <a:rect l="l" t="t" r="r" b="b"/>
              <a:pathLst>
                <a:path w="3079595" h="1220951">
                  <a:moveTo>
                    <a:pt x="0" y="0"/>
                  </a:moveTo>
                  <a:lnTo>
                    <a:pt x="3079595" y="0"/>
                  </a:lnTo>
                  <a:lnTo>
                    <a:pt x="3079595" y="1220951"/>
                  </a:lnTo>
                  <a:lnTo>
                    <a:pt x="0" y="1220951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7"/>
              <a:stretch>
                <a:fillRect l="-9373" t="-29336" r="-9312" b="-19535"/>
              </a:stretch>
            </a:blipFill>
          </p:spPr>
        </p:sp>
        <p:sp>
          <p:nvSpPr>
            <p:cNvPr id="11" name="Freeform 11"/>
            <p:cNvSpPr/>
            <p:nvPr/>
          </p:nvSpPr>
          <p:spPr>
            <a:xfrm>
              <a:off x="3950487" y="0"/>
              <a:ext cx="1284085" cy="1220951"/>
            </a:xfrm>
            <a:custGeom>
              <a:avLst/>
              <a:gdLst/>
              <a:ahLst/>
              <a:cxnLst/>
              <a:rect l="l" t="t" r="r" b="b"/>
              <a:pathLst>
                <a:path w="1284085" h="1220951">
                  <a:moveTo>
                    <a:pt x="0" y="0"/>
                  </a:moveTo>
                  <a:lnTo>
                    <a:pt x="1284085" y="0"/>
                  </a:lnTo>
                  <a:lnTo>
                    <a:pt x="1284085" y="1220951"/>
                  </a:lnTo>
                  <a:lnTo>
                    <a:pt x="0" y="1220951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8"/>
              <a:stretch>
                <a:fillRect/>
              </a:stretch>
            </a:blipFill>
          </p:spPr>
        </p:sp>
        <p:sp>
          <p:nvSpPr>
            <p:cNvPr id="12" name="Freeform 12"/>
            <p:cNvSpPr/>
            <p:nvPr/>
          </p:nvSpPr>
          <p:spPr>
            <a:xfrm>
              <a:off x="5330977" y="0"/>
              <a:ext cx="1220951" cy="1220951"/>
            </a:xfrm>
            <a:custGeom>
              <a:avLst/>
              <a:gdLst/>
              <a:ahLst/>
              <a:cxnLst/>
              <a:rect l="l" t="t" r="r" b="b"/>
              <a:pathLst>
                <a:path w="1220951" h="1220951">
                  <a:moveTo>
                    <a:pt x="0" y="0"/>
                  </a:moveTo>
                  <a:lnTo>
                    <a:pt x="1220951" y="0"/>
                  </a:lnTo>
                  <a:lnTo>
                    <a:pt x="1220951" y="1220951"/>
                  </a:lnTo>
                  <a:lnTo>
                    <a:pt x="0" y="1220951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9"/>
              <a:stretch>
                <a:fillRect/>
              </a:stretch>
            </a:blipFill>
          </p:spPr>
        </p:sp>
      </p:grpSp>
      <p:sp>
        <p:nvSpPr>
          <p:cNvPr id="13" name="TextBox 13"/>
          <p:cNvSpPr txBox="1"/>
          <p:nvPr/>
        </p:nvSpPr>
        <p:spPr>
          <a:xfrm>
            <a:off x="0" y="3241675"/>
            <a:ext cx="18288000" cy="36703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9799"/>
              </a:lnSpc>
            </a:pPr>
            <a:r>
              <a:rPr lang="en-US" sz="6999" b="1">
                <a:solidFill>
                  <a:srgbClr val="000000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Seni Berteman: Keterampilan Berinteraksi Sosial yang Positif &amp; Menyenangkan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7043489" y="8474075"/>
            <a:ext cx="4201021" cy="86994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500"/>
              </a:lnSpc>
            </a:pPr>
            <a:r>
              <a:rPr lang="en-US" sz="2500" b="1" i="1">
                <a:solidFill>
                  <a:srgbClr val="000000"/>
                </a:solidFill>
                <a:latin typeface="Open Sans Bold Italics"/>
                <a:ea typeface="Open Sans Bold Italics"/>
                <a:cs typeface="Open Sans Bold Italics"/>
                <a:sym typeface="Open Sans Bold Italics"/>
              </a:rPr>
              <a:t>PPL PPG Calon Guru UNM</a:t>
            </a:r>
          </a:p>
          <a:p>
            <a:pPr algn="ctr">
              <a:lnSpc>
                <a:spcPts val="3500"/>
              </a:lnSpc>
            </a:pPr>
            <a:r>
              <a:rPr lang="en-US" sz="2500" b="1" i="1">
                <a:solidFill>
                  <a:srgbClr val="000000"/>
                </a:solidFill>
                <a:latin typeface="Open Sans Bold Italics"/>
                <a:ea typeface="Open Sans Bold Italics"/>
                <a:cs typeface="Open Sans Bold Italics"/>
                <a:sym typeface="Open Sans Bold Italics"/>
              </a:rPr>
              <a:t>MTsN 1 Kota Makassar 2026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7402136" y="-257750"/>
            <a:ext cx="11653658" cy="11179775"/>
            <a:chOff x="0" y="0"/>
            <a:chExt cx="3069276" cy="2944467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3069276" cy="2944467"/>
            </a:xfrm>
            <a:custGeom>
              <a:avLst/>
              <a:gdLst/>
              <a:ahLst/>
              <a:cxnLst/>
              <a:rect l="l" t="t" r="r" b="b"/>
              <a:pathLst>
                <a:path w="3069276" h="2944467">
                  <a:moveTo>
                    <a:pt x="0" y="0"/>
                  </a:moveTo>
                  <a:lnTo>
                    <a:pt x="3069276" y="0"/>
                  </a:lnTo>
                  <a:lnTo>
                    <a:pt x="3069276" y="2944467"/>
                  </a:lnTo>
                  <a:lnTo>
                    <a:pt x="0" y="2944467"/>
                  </a:lnTo>
                  <a:close/>
                </a:path>
              </a:pathLst>
            </a:custGeom>
            <a:solidFill>
              <a:srgbClr val="00687A"/>
            </a:solidFill>
          </p:spPr>
        </p:sp>
        <p:sp>
          <p:nvSpPr>
            <p:cNvPr id="4" name="TextBox 4"/>
            <p:cNvSpPr txBox="1"/>
            <p:nvPr/>
          </p:nvSpPr>
          <p:spPr>
            <a:xfrm>
              <a:off x="0" y="-38100"/>
              <a:ext cx="3069276" cy="2982567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sp>
        <p:nvSpPr>
          <p:cNvPr id="5" name="Freeform 5"/>
          <p:cNvSpPr/>
          <p:nvPr/>
        </p:nvSpPr>
        <p:spPr>
          <a:xfrm>
            <a:off x="708266" y="2174797"/>
            <a:ext cx="5661505" cy="5661505"/>
          </a:xfrm>
          <a:custGeom>
            <a:avLst/>
            <a:gdLst/>
            <a:ahLst/>
            <a:cxnLst/>
            <a:rect l="l" t="t" r="r" b="b"/>
            <a:pathLst>
              <a:path w="5661505" h="5661505">
                <a:moveTo>
                  <a:pt x="0" y="0"/>
                </a:moveTo>
                <a:lnTo>
                  <a:pt x="5661505" y="0"/>
                </a:lnTo>
                <a:lnTo>
                  <a:pt x="5661505" y="5661506"/>
                </a:lnTo>
                <a:lnTo>
                  <a:pt x="0" y="5661506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</p:sp>
      <p:sp>
        <p:nvSpPr>
          <p:cNvPr id="6" name="TextBox 6"/>
          <p:cNvSpPr txBox="1"/>
          <p:nvPr/>
        </p:nvSpPr>
        <p:spPr>
          <a:xfrm>
            <a:off x="9826691" y="914400"/>
            <a:ext cx="7177169" cy="104443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8583"/>
              </a:lnSpc>
            </a:pPr>
            <a:r>
              <a:rPr lang="en-US" sz="6130">
                <a:solidFill>
                  <a:srgbClr val="FFFFFF"/>
                </a:solidFill>
                <a:latin typeface="Francois One"/>
                <a:ea typeface="Francois One"/>
                <a:cs typeface="Francois One"/>
                <a:sym typeface="Francois One"/>
              </a:rPr>
              <a:t>APA TUJUANNYA?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7764744" y="3100248"/>
            <a:ext cx="9837262" cy="518160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647697" lvl="1" indent="-323848" algn="just">
              <a:lnSpc>
                <a:spcPts val="5999"/>
              </a:lnSpc>
              <a:buAutoNum type="arabicPeriod"/>
            </a:pPr>
            <a:r>
              <a:rPr lang="en-US" sz="2999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anda memahami dan menerapkan 5 keterampilan sosial positif dalam berinteraksi di kehidupan sehari-hari,</a:t>
            </a:r>
          </a:p>
          <a:p>
            <a:pPr marL="647697" lvl="1" indent="-323848" algn="just">
              <a:lnSpc>
                <a:spcPts val="5999"/>
              </a:lnSpc>
              <a:buAutoNum type="arabicPeriod"/>
            </a:pPr>
            <a:r>
              <a:rPr lang="en-US" sz="2999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anda dapat mempraktikan komunikasi asertif di kehidupan sehari-hari,</a:t>
            </a:r>
          </a:p>
          <a:p>
            <a:pPr marL="647697" lvl="1" indent="-323848" algn="just">
              <a:lnSpc>
                <a:spcPts val="5999"/>
              </a:lnSpc>
              <a:buAutoNum type="arabicPeriod"/>
            </a:pPr>
            <a:r>
              <a:rPr lang="en-US" sz="2999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anda dapat menujukkan sikap empati dan kepedulian di kehidupan sehari-hari.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687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1773890" y="895350"/>
            <a:ext cx="14740219" cy="243205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9799"/>
              </a:lnSpc>
            </a:pPr>
            <a:r>
              <a:rPr lang="en-US" sz="6999" b="1">
                <a:solidFill>
                  <a:srgbClr val="FFFFFF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“Apa sih aktivitas kita dalam kegiatan ini?”</a:t>
            </a:r>
          </a:p>
        </p:txBody>
      </p:sp>
      <p:sp>
        <p:nvSpPr>
          <p:cNvPr id="3" name="TextBox 3"/>
          <p:cNvSpPr txBox="1"/>
          <p:nvPr/>
        </p:nvSpPr>
        <p:spPr>
          <a:xfrm>
            <a:off x="3443089" y="3915238"/>
            <a:ext cx="11401823" cy="8636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7000"/>
              </a:lnSpc>
            </a:pPr>
            <a:r>
              <a:rPr lang="en-US" sz="5000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Aktivitas 1: Peta Keterampilan Sosialku</a:t>
            </a:r>
          </a:p>
        </p:txBody>
      </p:sp>
      <p:sp>
        <p:nvSpPr>
          <p:cNvPr id="4" name="TextBox 4"/>
          <p:cNvSpPr txBox="1"/>
          <p:nvPr/>
        </p:nvSpPr>
        <p:spPr>
          <a:xfrm>
            <a:off x="706685" y="5204056"/>
            <a:ext cx="16874629" cy="8636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7000"/>
              </a:lnSpc>
            </a:pPr>
            <a:r>
              <a:rPr lang="en-US" sz="5000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Aktivitas 2: Latihan Sosiodrama dengan Kartu Skenarioku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2849959" y="6492875"/>
            <a:ext cx="12588082" cy="8636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7000"/>
              </a:lnSpc>
            </a:pPr>
            <a:r>
              <a:rPr lang="en-US" sz="5000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Aktivitas 3: Surat Apresiasi untuk Temanku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687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1773890" y="3860799"/>
            <a:ext cx="14740219" cy="243205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9799"/>
              </a:lnSpc>
            </a:pPr>
            <a:r>
              <a:rPr lang="en-US" sz="6999" b="1">
                <a:solidFill>
                  <a:srgbClr val="FFFFFF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"Apakah kalian sudah siap untuk belajar bersama hari ini?"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687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1773890" y="3860799"/>
            <a:ext cx="14740219" cy="243205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9799"/>
              </a:lnSpc>
            </a:pPr>
            <a:r>
              <a:rPr lang="en-US" sz="6999" b="1">
                <a:solidFill>
                  <a:srgbClr val="FFFFFF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Aktivitas 1: </a:t>
            </a:r>
          </a:p>
          <a:p>
            <a:pPr algn="ctr">
              <a:lnSpc>
                <a:spcPts val="9799"/>
              </a:lnSpc>
            </a:pPr>
            <a:r>
              <a:rPr lang="en-US" sz="6999" b="1">
                <a:solidFill>
                  <a:srgbClr val="FFFFFF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Peta Keterampilan Sosialku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Table 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729146933"/>
              </p:ext>
            </p:extLst>
          </p:nvPr>
        </p:nvGraphicFramePr>
        <p:xfrm>
          <a:off x="1028700" y="1634395"/>
          <a:ext cx="16230600" cy="8065944"/>
        </p:xfrm>
        <a:graphic>
          <a:graphicData uri="http://schemas.openxmlformats.org/drawingml/2006/table">
            <a:tbl>
              <a:tblPr/>
              <a:tblGrid>
                <a:gridCol w="68865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264871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875022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8402052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690446">
                <a:tc>
                  <a:txBody>
                    <a:bodyPr/>
                    <a:lstStyle/>
                    <a:p>
                      <a:pPr algn="ctr">
                        <a:lnSpc>
                          <a:spcPts val="2659"/>
                        </a:lnSpc>
                        <a:defRPr/>
                      </a:pPr>
                      <a:r>
                        <a:rPr lang="en-US" sz="1899">
                          <a:solidFill>
                            <a:srgbClr val="FFFFFF"/>
                          </a:solidFill>
                          <a:latin typeface="Intro Rust"/>
                          <a:ea typeface="Intro Rust"/>
                          <a:cs typeface="Intro Rust"/>
                          <a:sym typeface="Intro Rust"/>
                        </a:rPr>
                        <a:t>No</a:t>
                      </a:r>
                      <a:endParaRPr lang="en-US" sz="1100"/>
                    </a:p>
                  </a:txBody>
                  <a:tcPr marL="0" marR="0" marT="0" marB="0" anchor="ctr">
                    <a:lnL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687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659"/>
                        </a:lnSpc>
                        <a:defRPr/>
                      </a:pPr>
                      <a:r>
                        <a:rPr lang="en-US" sz="1899">
                          <a:solidFill>
                            <a:srgbClr val="FFFFFF"/>
                          </a:solidFill>
                          <a:latin typeface="Intro Rust"/>
                          <a:ea typeface="Intro Rust"/>
                          <a:cs typeface="Intro Rust"/>
                          <a:sym typeface="Intro Rust"/>
                        </a:rPr>
                        <a:t>Keterampilan</a:t>
                      </a:r>
                      <a:endParaRPr lang="en-US" sz="1100"/>
                    </a:p>
                  </a:txBody>
                  <a:tcPr marL="0" marR="0" marT="0" marB="0" anchor="ctr">
                    <a:lnL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687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659"/>
                        </a:lnSpc>
                        <a:defRPr/>
                      </a:pPr>
                      <a:r>
                        <a:rPr lang="en-US" sz="1899">
                          <a:solidFill>
                            <a:srgbClr val="FFFFFF"/>
                          </a:solidFill>
                          <a:latin typeface="Intro Rust"/>
                          <a:ea typeface="Intro Rust"/>
                          <a:cs typeface="Intro Rust"/>
                          <a:sym typeface="Intro Rust"/>
                        </a:rPr>
                        <a:t>Deskripsi</a:t>
                      </a:r>
                      <a:endParaRPr lang="en-US" sz="1100"/>
                    </a:p>
                  </a:txBody>
                  <a:tcPr marL="0" marR="0" marT="0" marB="0" anchor="ctr">
                    <a:lnL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687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659"/>
                        </a:lnSpc>
                        <a:defRPr/>
                      </a:pPr>
                      <a:r>
                        <a:rPr lang="en-US" sz="1899">
                          <a:solidFill>
                            <a:srgbClr val="FFFFFF"/>
                          </a:solidFill>
                          <a:latin typeface="Intro Rust"/>
                          <a:ea typeface="Intro Rust"/>
                          <a:cs typeface="Intro Rust"/>
                          <a:sym typeface="Intro Rust"/>
                        </a:rPr>
                        <a:t>Contoh</a:t>
                      </a:r>
                      <a:endParaRPr lang="en-US" sz="1100"/>
                    </a:p>
                  </a:txBody>
                  <a:tcPr marL="0" marR="0" marT="0" marB="0" anchor="ctr">
                    <a:lnL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687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458500">
                <a:tc>
                  <a:txBody>
                    <a:bodyPr/>
                    <a:lstStyle/>
                    <a:p>
                      <a:pPr algn="ctr">
                        <a:lnSpc>
                          <a:spcPts val="3079"/>
                        </a:lnSpc>
                        <a:defRPr/>
                      </a:pPr>
                      <a:r>
                        <a:rPr lang="en-US" sz="2199">
                          <a:solidFill>
                            <a:srgbClr val="000000"/>
                          </a:solidFill>
                          <a:latin typeface="Barlow"/>
                          <a:ea typeface="Barlow"/>
                          <a:cs typeface="Barlow"/>
                          <a:sym typeface="Barlow"/>
                        </a:rPr>
                        <a:t>1</a:t>
                      </a:r>
                      <a:endParaRPr lang="en-US" sz="1100"/>
                    </a:p>
                  </a:txBody>
                  <a:tcPr marL="0" marR="0" marT="0" marB="0" anchor="ctr">
                    <a:lnL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3079"/>
                        </a:lnSpc>
                        <a:defRPr/>
                      </a:pPr>
                      <a:r>
                        <a:rPr lang="en-US" sz="2199" b="1">
                          <a:solidFill>
                            <a:srgbClr val="000000"/>
                          </a:solidFill>
                          <a:latin typeface="Barlow Bold"/>
                          <a:ea typeface="Barlow Bold"/>
                          <a:cs typeface="Barlow Bold"/>
                          <a:sym typeface="Barlow Bold"/>
                        </a:rPr>
                        <a:t>Komunikasi Asertif</a:t>
                      </a:r>
                      <a:endParaRPr lang="en-US" sz="1100"/>
                    </a:p>
                  </a:txBody>
                  <a:tcPr marL="0" marR="0" marT="0" marB="0" anchor="ctr">
                    <a:lnL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3739"/>
                        </a:lnSpc>
                        <a:defRPr/>
                      </a:pPr>
                      <a:r>
                        <a:rPr lang="en-US" sz="2199">
                          <a:solidFill>
                            <a:srgbClr val="000000"/>
                          </a:solidFill>
                          <a:latin typeface="Barlow"/>
                          <a:ea typeface="Barlow"/>
                          <a:cs typeface="Barlow"/>
                          <a:sym typeface="Barlow"/>
                        </a:rPr>
                        <a:t>Kemampuan menyampaikan pikiran, perasaan, dan kebutuhan secara jujur, tegas, serta tetap menghormati hak orang lain.</a:t>
                      </a:r>
                      <a:endParaRPr lang="en-US" sz="1100"/>
                    </a:p>
                  </a:txBody>
                  <a:tcPr marL="0" marR="0" marT="0" marB="0" anchor="ctr">
                    <a:lnL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474976" lvl="1" indent="-237488" algn="l">
                        <a:lnSpc>
                          <a:spcPts val="3739"/>
                        </a:lnSpc>
                        <a:buFont typeface="Arial"/>
                        <a:buChar char="•"/>
                        <a:defRPr/>
                      </a:pPr>
                      <a:r>
                        <a:rPr lang="en-US" sz="2199">
                          <a:solidFill>
                            <a:srgbClr val="000000"/>
                          </a:solidFill>
                          <a:latin typeface="Barlow"/>
                          <a:ea typeface="Barlow"/>
                          <a:cs typeface="Barlow"/>
                          <a:sym typeface="Barlow"/>
                        </a:rPr>
                        <a:t>Mampu berkata "tidak" ketika diajak bolos sekolah. </a:t>
                      </a:r>
                      <a:endParaRPr lang="en-US" sz="1100"/>
                    </a:p>
                    <a:p>
                      <a:pPr marL="474976" lvl="1" indent="-237488" algn="l">
                        <a:lnSpc>
                          <a:spcPts val="3739"/>
                        </a:lnSpc>
                        <a:buFont typeface="Arial"/>
                        <a:buChar char="•"/>
                      </a:pPr>
                      <a:r>
                        <a:rPr lang="en-US" sz="2199">
                          <a:solidFill>
                            <a:srgbClr val="000000"/>
                          </a:solidFill>
                          <a:latin typeface="Barlow"/>
                          <a:ea typeface="Barlow"/>
                          <a:cs typeface="Barlow"/>
                          <a:sym typeface="Barlow"/>
                        </a:rPr>
                        <a:t>Menyampaikan ketidaksetujuan terhadap pendapat teman dengan bahasa yang sopan. </a:t>
                      </a:r>
                    </a:p>
                    <a:p>
                      <a:pPr marL="474976" lvl="1" indent="-237488" algn="l">
                        <a:lnSpc>
                          <a:spcPts val="3739"/>
                        </a:lnSpc>
                        <a:buFont typeface="Arial"/>
                        <a:buChar char="•"/>
                      </a:pPr>
                      <a:r>
                        <a:rPr lang="en-US" sz="2199">
                          <a:solidFill>
                            <a:srgbClr val="000000"/>
                          </a:solidFill>
                          <a:latin typeface="Barlow"/>
                          <a:ea typeface="Barlow"/>
                          <a:cs typeface="Barlow"/>
                          <a:sym typeface="Barlow"/>
                        </a:rPr>
                        <a:t>Mengungkapkan perasaan kecewa kepada teman tanpa marah atau menyalahkan.</a:t>
                      </a:r>
                    </a:p>
                  </a:txBody>
                  <a:tcPr marL="0" marR="0" marT="0" marB="0" anchor="ctr">
                    <a:lnL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966799">
                <a:tc>
                  <a:txBody>
                    <a:bodyPr/>
                    <a:lstStyle/>
                    <a:p>
                      <a:pPr algn="ctr">
                        <a:lnSpc>
                          <a:spcPts val="3079"/>
                        </a:lnSpc>
                        <a:defRPr/>
                      </a:pPr>
                      <a:r>
                        <a:rPr lang="en-US" sz="2199">
                          <a:solidFill>
                            <a:srgbClr val="000000"/>
                          </a:solidFill>
                          <a:latin typeface="Barlow"/>
                          <a:ea typeface="Barlow"/>
                          <a:cs typeface="Barlow"/>
                          <a:sym typeface="Barlow"/>
                        </a:rPr>
                        <a:t>2</a:t>
                      </a:r>
                      <a:endParaRPr lang="en-US" sz="1100"/>
                    </a:p>
                  </a:txBody>
                  <a:tcPr marL="0" marR="0" marT="0" marB="0" anchor="ctr">
                    <a:lnL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3079"/>
                        </a:lnSpc>
                        <a:defRPr/>
                      </a:pPr>
                      <a:r>
                        <a:rPr lang="en-US" sz="2199" b="1">
                          <a:solidFill>
                            <a:srgbClr val="000000"/>
                          </a:solidFill>
                          <a:latin typeface="Barlow Bold"/>
                          <a:ea typeface="Barlow Bold"/>
                          <a:cs typeface="Barlow Bold"/>
                          <a:sym typeface="Barlow Bold"/>
                        </a:rPr>
                        <a:t>Mendengarkan Aktif</a:t>
                      </a:r>
                      <a:endParaRPr lang="en-US" sz="1100"/>
                    </a:p>
                  </a:txBody>
                  <a:tcPr marL="0" marR="0" marT="0" marB="0" anchor="ctr">
                    <a:lnL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3739"/>
                        </a:lnSpc>
                        <a:defRPr/>
                      </a:pPr>
                      <a:r>
                        <a:rPr lang="en-US" sz="2199" dirty="0" err="1">
                          <a:solidFill>
                            <a:srgbClr val="000000"/>
                          </a:solidFill>
                          <a:latin typeface="Barlow"/>
                          <a:ea typeface="Barlow"/>
                          <a:cs typeface="Barlow"/>
                          <a:sym typeface="Barlow"/>
                        </a:rPr>
                        <a:t>Kemampuan</a:t>
                      </a:r>
                      <a:r>
                        <a:rPr lang="en-US" sz="2199" dirty="0">
                          <a:solidFill>
                            <a:srgbClr val="000000"/>
                          </a:solidFill>
                          <a:latin typeface="Barlow"/>
                          <a:ea typeface="Barlow"/>
                          <a:cs typeface="Barlow"/>
                          <a:sym typeface="Barlow"/>
                        </a:rPr>
                        <a:t> </a:t>
                      </a:r>
                      <a:r>
                        <a:rPr lang="en-US" sz="2199" dirty="0" err="1">
                          <a:solidFill>
                            <a:srgbClr val="000000"/>
                          </a:solidFill>
                          <a:latin typeface="Barlow"/>
                          <a:ea typeface="Barlow"/>
                          <a:cs typeface="Barlow"/>
                          <a:sym typeface="Barlow"/>
                        </a:rPr>
                        <a:t>mendengarkan</a:t>
                      </a:r>
                      <a:r>
                        <a:rPr lang="en-US" sz="2199" dirty="0">
                          <a:solidFill>
                            <a:srgbClr val="000000"/>
                          </a:solidFill>
                          <a:latin typeface="Barlow"/>
                          <a:ea typeface="Barlow"/>
                          <a:cs typeface="Barlow"/>
                          <a:sym typeface="Barlow"/>
                        </a:rPr>
                        <a:t> </a:t>
                      </a:r>
                      <a:r>
                        <a:rPr lang="en-US" sz="2199" dirty="0" err="1">
                          <a:solidFill>
                            <a:srgbClr val="000000"/>
                          </a:solidFill>
                          <a:latin typeface="Barlow"/>
                          <a:ea typeface="Barlow"/>
                          <a:cs typeface="Barlow"/>
                          <a:sym typeface="Barlow"/>
                        </a:rPr>
                        <a:t>dengan</a:t>
                      </a:r>
                      <a:r>
                        <a:rPr lang="en-US" sz="2199" dirty="0">
                          <a:solidFill>
                            <a:srgbClr val="000000"/>
                          </a:solidFill>
                          <a:latin typeface="Barlow"/>
                          <a:ea typeface="Barlow"/>
                          <a:cs typeface="Barlow"/>
                          <a:sym typeface="Barlow"/>
                        </a:rPr>
                        <a:t> </a:t>
                      </a:r>
                      <a:r>
                        <a:rPr lang="en-US" sz="2199" dirty="0" err="1">
                          <a:solidFill>
                            <a:srgbClr val="000000"/>
                          </a:solidFill>
                          <a:latin typeface="Barlow"/>
                          <a:ea typeface="Barlow"/>
                          <a:cs typeface="Barlow"/>
                          <a:sym typeface="Barlow"/>
                        </a:rPr>
                        <a:t>penuh</a:t>
                      </a:r>
                      <a:r>
                        <a:rPr lang="en-US" sz="2199" dirty="0">
                          <a:solidFill>
                            <a:srgbClr val="000000"/>
                          </a:solidFill>
                          <a:latin typeface="Barlow"/>
                          <a:ea typeface="Barlow"/>
                          <a:cs typeface="Barlow"/>
                          <a:sym typeface="Barlow"/>
                        </a:rPr>
                        <a:t> </a:t>
                      </a:r>
                      <a:r>
                        <a:rPr lang="en-US" sz="2199" dirty="0" err="1">
                          <a:solidFill>
                            <a:srgbClr val="000000"/>
                          </a:solidFill>
                          <a:latin typeface="Barlow"/>
                          <a:ea typeface="Barlow"/>
                          <a:cs typeface="Barlow"/>
                          <a:sym typeface="Barlow"/>
                        </a:rPr>
                        <a:t>perhatian</a:t>
                      </a:r>
                      <a:r>
                        <a:rPr lang="en-US" sz="2199" dirty="0">
                          <a:solidFill>
                            <a:srgbClr val="000000"/>
                          </a:solidFill>
                          <a:latin typeface="Barlow"/>
                          <a:ea typeface="Barlow"/>
                          <a:cs typeface="Barlow"/>
                          <a:sym typeface="Barlow"/>
                        </a:rPr>
                        <a:t>, </a:t>
                      </a:r>
                      <a:r>
                        <a:rPr lang="en-US" sz="2199" dirty="0" err="1">
                          <a:solidFill>
                            <a:srgbClr val="000000"/>
                          </a:solidFill>
                          <a:latin typeface="Barlow"/>
                          <a:ea typeface="Barlow"/>
                          <a:cs typeface="Barlow"/>
                          <a:sym typeface="Barlow"/>
                        </a:rPr>
                        <a:t>memahami</a:t>
                      </a:r>
                      <a:r>
                        <a:rPr lang="en-US" sz="2199" dirty="0">
                          <a:solidFill>
                            <a:srgbClr val="000000"/>
                          </a:solidFill>
                          <a:latin typeface="Barlow"/>
                          <a:ea typeface="Barlow"/>
                          <a:cs typeface="Barlow"/>
                          <a:sym typeface="Barlow"/>
                        </a:rPr>
                        <a:t> </a:t>
                      </a:r>
                      <a:r>
                        <a:rPr lang="en-US" sz="2199" dirty="0" err="1">
                          <a:solidFill>
                            <a:srgbClr val="000000"/>
                          </a:solidFill>
                          <a:latin typeface="Barlow"/>
                          <a:ea typeface="Barlow"/>
                          <a:cs typeface="Barlow"/>
                          <a:sym typeface="Barlow"/>
                        </a:rPr>
                        <a:t>pesan</a:t>
                      </a:r>
                      <a:r>
                        <a:rPr lang="en-US" sz="2199" dirty="0">
                          <a:solidFill>
                            <a:srgbClr val="000000"/>
                          </a:solidFill>
                          <a:latin typeface="Barlow"/>
                          <a:ea typeface="Barlow"/>
                          <a:cs typeface="Barlow"/>
                          <a:sym typeface="Barlow"/>
                        </a:rPr>
                        <a:t> yang </a:t>
                      </a:r>
                      <a:r>
                        <a:rPr lang="en-US" sz="2199" dirty="0" err="1">
                          <a:solidFill>
                            <a:srgbClr val="000000"/>
                          </a:solidFill>
                          <a:latin typeface="Barlow"/>
                          <a:ea typeface="Barlow"/>
                          <a:cs typeface="Barlow"/>
                          <a:sym typeface="Barlow"/>
                        </a:rPr>
                        <a:t>disampaikan</a:t>
                      </a:r>
                      <a:r>
                        <a:rPr lang="en-US" sz="2199" dirty="0">
                          <a:solidFill>
                            <a:srgbClr val="000000"/>
                          </a:solidFill>
                          <a:latin typeface="Barlow"/>
                          <a:ea typeface="Barlow"/>
                          <a:cs typeface="Barlow"/>
                          <a:sym typeface="Barlow"/>
                        </a:rPr>
                        <a:t>, dan </a:t>
                      </a:r>
                      <a:r>
                        <a:rPr lang="en-US" sz="2199" dirty="0" err="1">
                          <a:solidFill>
                            <a:srgbClr val="000000"/>
                          </a:solidFill>
                          <a:latin typeface="Barlow"/>
                          <a:ea typeface="Barlow"/>
                          <a:cs typeface="Barlow"/>
                          <a:sym typeface="Barlow"/>
                        </a:rPr>
                        <a:t>memberikan</a:t>
                      </a:r>
                      <a:r>
                        <a:rPr lang="en-US" sz="2199" dirty="0">
                          <a:solidFill>
                            <a:srgbClr val="000000"/>
                          </a:solidFill>
                          <a:latin typeface="Barlow"/>
                          <a:ea typeface="Barlow"/>
                          <a:cs typeface="Barlow"/>
                          <a:sym typeface="Barlow"/>
                        </a:rPr>
                        <a:t> </a:t>
                      </a:r>
                      <a:r>
                        <a:rPr lang="en-US" sz="2199" dirty="0" err="1">
                          <a:solidFill>
                            <a:srgbClr val="000000"/>
                          </a:solidFill>
                          <a:latin typeface="Barlow"/>
                          <a:ea typeface="Barlow"/>
                          <a:cs typeface="Barlow"/>
                          <a:sym typeface="Barlow"/>
                        </a:rPr>
                        <a:t>respons</a:t>
                      </a:r>
                      <a:r>
                        <a:rPr lang="en-US" sz="2199" dirty="0">
                          <a:solidFill>
                            <a:srgbClr val="000000"/>
                          </a:solidFill>
                          <a:latin typeface="Barlow"/>
                          <a:ea typeface="Barlow"/>
                          <a:cs typeface="Barlow"/>
                          <a:sym typeface="Barlow"/>
                        </a:rPr>
                        <a:t> yang </a:t>
                      </a:r>
                      <a:r>
                        <a:rPr lang="en-US" sz="2199" dirty="0" err="1">
                          <a:solidFill>
                            <a:srgbClr val="000000"/>
                          </a:solidFill>
                          <a:latin typeface="Barlow"/>
                          <a:ea typeface="Barlow"/>
                          <a:cs typeface="Barlow"/>
                          <a:sym typeface="Barlow"/>
                        </a:rPr>
                        <a:t>sesuai</a:t>
                      </a:r>
                      <a:r>
                        <a:rPr lang="en-US" sz="2199" dirty="0">
                          <a:solidFill>
                            <a:srgbClr val="000000"/>
                          </a:solidFill>
                          <a:latin typeface="Barlow"/>
                          <a:ea typeface="Barlow"/>
                          <a:cs typeface="Barlow"/>
                          <a:sym typeface="Barlow"/>
                        </a:rPr>
                        <a:t>.</a:t>
                      </a:r>
                      <a:endParaRPr lang="en-US" sz="1100" dirty="0"/>
                    </a:p>
                  </a:txBody>
                  <a:tcPr marL="0" marR="0" marT="0" marB="0" anchor="ctr">
                    <a:lnL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474976" lvl="1" indent="-237488" algn="l">
                        <a:lnSpc>
                          <a:spcPts val="3739"/>
                        </a:lnSpc>
                        <a:buFont typeface="Arial"/>
                        <a:buChar char="•"/>
                        <a:defRPr/>
                      </a:pPr>
                      <a:r>
                        <a:rPr lang="en-US" sz="2199">
                          <a:solidFill>
                            <a:srgbClr val="000000"/>
                          </a:solidFill>
                          <a:latin typeface="Barlow"/>
                          <a:ea typeface="Barlow"/>
                          <a:cs typeface="Barlow"/>
                          <a:sym typeface="Barlow"/>
                        </a:rPr>
                        <a:t>Melakukan kontak mata saat teman berbicara. </a:t>
                      </a:r>
                      <a:endParaRPr lang="en-US" sz="1100"/>
                    </a:p>
                    <a:p>
                      <a:pPr marL="474976" lvl="1" indent="-237488" algn="l">
                        <a:lnSpc>
                          <a:spcPts val="3739"/>
                        </a:lnSpc>
                        <a:buFont typeface="Arial"/>
                        <a:buChar char="•"/>
                      </a:pPr>
                      <a:r>
                        <a:rPr lang="en-US" sz="2199">
                          <a:solidFill>
                            <a:srgbClr val="000000"/>
                          </a:solidFill>
                          <a:latin typeface="Barlow"/>
                          <a:ea typeface="Barlow"/>
                          <a:cs typeface="Barlow"/>
                          <a:sym typeface="Barlow"/>
                        </a:rPr>
                        <a:t>Tidak memotong pembicaraan teman hingga selesai. </a:t>
                      </a:r>
                    </a:p>
                    <a:p>
                      <a:pPr marL="474976" lvl="1" indent="-237488" algn="l">
                        <a:lnSpc>
                          <a:spcPts val="3739"/>
                        </a:lnSpc>
                        <a:buFont typeface="Arial"/>
                        <a:buChar char="•"/>
                      </a:pPr>
                      <a:r>
                        <a:rPr lang="en-US" sz="2199">
                          <a:solidFill>
                            <a:srgbClr val="000000"/>
                          </a:solidFill>
                          <a:latin typeface="Barlow"/>
                          <a:ea typeface="Barlow"/>
                          <a:cs typeface="Barlow"/>
                          <a:sym typeface="Barlow"/>
                        </a:rPr>
                        <a:t>Mengajukan pertanyaan untuk memastikan pemahaman terhadap cerita atau masalah teman.</a:t>
                      </a:r>
                    </a:p>
                  </a:txBody>
                  <a:tcPr marL="0" marR="0" marT="0" marB="0" anchor="ctr">
                    <a:lnL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950199">
                <a:tc>
                  <a:txBody>
                    <a:bodyPr/>
                    <a:lstStyle/>
                    <a:p>
                      <a:pPr algn="ctr">
                        <a:lnSpc>
                          <a:spcPts val="3079"/>
                        </a:lnSpc>
                        <a:defRPr/>
                      </a:pPr>
                      <a:r>
                        <a:rPr lang="en-US" sz="2199">
                          <a:solidFill>
                            <a:srgbClr val="000000"/>
                          </a:solidFill>
                          <a:latin typeface="Barlow"/>
                          <a:ea typeface="Barlow"/>
                          <a:cs typeface="Barlow"/>
                          <a:sym typeface="Barlow"/>
                        </a:rPr>
                        <a:t>3</a:t>
                      </a:r>
                      <a:endParaRPr lang="en-US" sz="1100"/>
                    </a:p>
                  </a:txBody>
                  <a:tcPr marL="0" marR="0" marT="0" marB="0" anchor="ctr">
                    <a:lnL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3079"/>
                        </a:lnSpc>
                        <a:defRPr/>
                      </a:pPr>
                      <a:r>
                        <a:rPr lang="en-US" sz="2199" b="1">
                          <a:solidFill>
                            <a:srgbClr val="000000"/>
                          </a:solidFill>
                          <a:latin typeface="Barlow Bold"/>
                          <a:ea typeface="Barlow Bold"/>
                          <a:cs typeface="Barlow Bold"/>
                          <a:sym typeface="Barlow Bold"/>
                        </a:rPr>
                        <a:t>Empati</a:t>
                      </a:r>
                      <a:endParaRPr lang="en-US" sz="1100"/>
                    </a:p>
                  </a:txBody>
                  <a:tcPr marL="0" marR="0" marT="0" marB="0" anchor="ctr">
                    <a:lnL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3739"/>
                        </a:lnSpc>
                        <a:defRPr/>
                      </a:pPr>
                      <a:r>
                        <a:rPr lang="en-US" sz="2199">
                          <a:solidFill>
                            <a:srgbClr val="000000"/>
                          </a:solidFill>
                          <a:latin typeface="Barlow"/>
                          <a:ea typeface="Barlow"/>
                          <a:cs typeface="Barlow"/>
                          <a:sym typeface="Barlow"/>
                        </a:rPr>
                        <a:t>Kemampuan memahami dan merasakan apa yang dirasakan orang lain serta menunjukkan kepedulian terhadap kondisi mereka.</a:t>
                      </a:r>
                      <a:endParaRPr lang="en-US" sz="1100"/>
                    </a:p>
                  </a:txBody>
                  <a:tcPr marL="0" marR="0" marT="0" marB="0" anchor="ctr">
                    <a:lnL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474976" lvl="1" indent="-237488" algn="l">
                        <a:lnSpc>
                          <a:spcPts val="3739"/>
                        </a:lnSpc>
                        <a:buFont typeface="Arial"/>
                        <a:buChar char="•"/>
                        <a:defRPr/>
                      </a:pPr>
                      <a:r>
                        <a:rPr lang="en-US" sz="2199" dirty="0" err="1">
                          <a:solidFill>
                            <a:srgbClr val="000000"/>
                          </a:solidFill>
                          <a:latin typeface="Barlow"/>
                          <a:ea typeface="Barlow"/>
                          <a:cs typeface="Barlow"/>
                          <a:sym typeface="Barlow"/>
                        </a:rPr>
                        <a:t>Menawarkan</a:t>
                      </a:r>
                      <a:r>
                        <a:rPr lang="en-US" sz="2199" dirty="0">
                          <a:solidFill>
                            <a:srgbClr val="000000"/>
                          </a:solidFill>
                          <a:latin typeface="Barlow"/>
                          <a:ea typeface="Barlow"/>
                          <a:cs typeface="Barlow"/>
                          <a:sym typeface="Barlow"/>
                        </a:rPr>
                        <a:t> </a:t>
                      </a:r>
                      <a:r>
                        <a:rPr lang="en-US" sz="2199" dirty="0" err="1">
                          <a:solidFill>
                            <a:srgbClr val="000000"/>
                          </a:solidFill>
                          <a:latin typeface="Barlow"/>
                          <a:ea typeface="Barlow"/>
                          <a:cs typeface="Barlow"/>
                          <a:sym typeface="Barlow"/>
                        </a:rPr>
                        <a:t>bantuan</a:t>
                      </a:r>
                      <a:r>
                        <a:rPr lang="en-US" sz="2199" dirty="0">
                          <a:solidFill>
                            <a:srgbClr val="000000"/>
                          </a:solidFill>
                          <a:latin typeface="Barlow"/>
                          <a:ea typeface="Barlow"/>
                          <a:cs typeface="Barlow"/>
                          <a:sym typeface="Barlow"/>
                        </a:rPr>
                        <a:t> </a:t>
                      </a:r>
                      <a:r>
                        <a:rPr lang="en-US" sz="2199" dirty="0" err="1">
                          <a:solidFill>
                            <a:srgbClr val="000000"/>
                          </a:solidFill>
                          <a:latin typeface="Barlow"/>
                          <a:ea typeface="Barlow"/>
                          <a:cs typeface="Barlow"/>
                          <a:sym typeface="Barlow"/>
                        </a:rPr>
                        <a:t>kepada</a:t>
                      </a:r>
                      <a:r>
                        <a:rPr lang="en-US" sz="2199" dirty="0">
                          <a:solidFill>
                            <a:srgbClr val="000000"/>
                          </a:solidFill>
                          <a:latin typeface="Barlow"/>
                          <a:ea typeface="Barlow"/>
                          <a:cs typeface="Barlow"/>
                          <a:sym typeface="Barlow"/>
                        </a:rPr>
                        <a:t> </a:t>
                      </a:r>
                      <a:r>
                        <a:rPr lang="en-US" sz="2199" dirty="0" err="1">
                          <a:solidFill>
                            <a:srgbClr val="000000"/>
                          </a:solidFill>
                          <a:latin typeface="Barlow"/>
                          <a:ea typeface="Barlow"/>
                          <a:cs typeface="Barlow"/>
                          <a:sym typeface="Barlow"/>
                        </a:rPr>
                        <a:t>teman</a:t>
                      </a:r>
                      <a:r>
                        <a:rPr lang="en-US" sz="2199" dirty="0">
                          <a:solidFill>
                            <a:srgbClr val="000000"/>
                          </a:solidFill>
                          <a:latin typeface="Barlow"/>
                          <a:ea typeface="Barlow"/>
                          <a:cs typeface="Barlow"/>
                          <a:sym typeface="Barlow"/>
                        </a:rPr>
                        <a:t> yang </a:t>
                      </a:r>
                      <a:r>
                        <a:rPr lang="en-US" sz="2199" dirty="0" err="1">
                          <a:solidFill>
                            <a:srgbClr val="000000"/>
                          </a:solidFill>
                          <a:latin typeface="Barlow"/>
                          <a:ea typeface="Barlow"/>
                          <a:cs typeface="Barlow"/>
                          <a:sym typeface="Barlow"/>
                        </a:rPr>
                        <a:t>terlihat</a:t>
                      </a:r>
                      <a:r>
                        <a:rPr lang="en-US" sz="2199" dirty="0">
                          <a:solidFill>
                            <a:srgbClr val="000000"/>
                          </a:solidFill>
                          <a:latin typeface="Barlow"/>
                          <a:ea typeface="Barlow"/>
                          <a:cs typeface="Barlow"/>
                          <a:sym typeface="Barlow"/>
                        </a:rPr>
                        <a:t> </a:t>
                      </a:r>
                      <a:r>
                        <a:rPr lang="en-US" sz="2199" dirty="0" err="1">
                          <a:solidFill>
                            <a:srgbClr val="000000"/>
                          </a:solidFill>
                          <a:latin typeface="Barlow"/>
                          <a:ea typeface="Barlow"/>
                          <a:cs typeface="Barlow"/>
                          <a:sym typeface="Barlow"/>
                        </a:rPr>
                        <a:t>kesulitan</a:t>
                      </a:r>
                      <a:r>
                        <a:rPr lang="en-US" sz="2199" dirty="0">
                          <a:solidFill>
                            <a:srgbClr val="000000"/>
                          </a:solidFill>
                          <a:latin typeface="Barlow"/>
                          <a:ea typeface="Barlow"/>
                          <a:cs typeface="Barlow"/>
                          <a:sym typeface="Barlow"/>
                        </a:rPr>
                        <a:t> </a:t>
                      </a:r>
                      <a:r>
                        <a:rPr lang="en-US" sz="2199" dirty="0" err="1">
                          <a:solidFill>
                            <a:srgbClr val="000000"/>
                          </a:solidFill>
                          <a:latin typeface="Barlow"/>
                          <a:ea typeface="Barlow"/>
                          <a:cs typeface="Barlow"/>
                          <a:sym typeface="Barlow"/>
                        </a:rPr>
                        <a:t>belajar</a:t>
                      </a:r>
                      <a:r>
                        <a:rPr lang="en-US" sz="2199" dirty="0">
                          <a:solidFill>
                            <a:srgbClr val="000000"/>
                          </a:solidFill>
                          <a:latin typeface="Barlow"/>
                          <a:ea typeface="Barlow"/>
                          <a:cs typeface="Barlow"/>
                          <a:sym typeface="Barlow"/>
                        </a:rPr>
                        <a:t>. </a:t>
                      </a:r>
                      <a:endParaRPr lang="en-US" sz="1100" dirty="0"/>
                    </a:p>
                    <a:p>
                      <a:pPr marL="474976" lvl="1" indent="-237488" algn="l">
                        <a:lnSpc>
                          <a:spcPts val="3739"/>
                        </a:lnSpc>
                        <a:buFont typeface="Arial"/>
                        <a:buChar char="•"/>
                      </a:pPr>
                      <a:r>
                        <a:rPr lang="en-US" sz="2199" dirty="0" err="1">
                          <a:solidFill>
                            <a:srgbClr val="000000"/>
                          </a:solidFill>
                          <a:latin typeface="Barlow"/>
                          <a:ea typeface="Barlow"/>
                          <a:cs typeface="Barlow"/>
                          <a:sym typeface="Barlow"/>
                        </a:rPr>
                        <a:t>Menghibur</a:t>
                      </a:r>
                      <a:r>
                        <a:rPr lang="en-US" sz="2199" dirty="0">
                          <a:solidFill>
                            <a:srgbClr val="000000"/>
                          </a:solidFill>
                          <a:latin typeface="Barlow"/>
                          <a:ea typeface="Barlow"/>
                          <a:cs typeface="Barlow"/>
                          <a:sym typeface="Barlow"/>
                        </a:rPr>
                        <a:t> </a:t>
                      </a:r>
                      <a:r>
                        <a:rPr lang="en-US" sz="2199" dirty="0" err="1">
                          <a:solidFill>
                            <a:srgbClr val="000000"/>
                          </a:solidFill>
                          <a:latin typeface="Barlow"/>
                          <a:ea typeface="Barlow"/>
                          <a:cs typeface="Barlow"/>
                          <a:sym typeface="Barlow"/>
                        </a:rPr>
                        <a:t>teman</a:t>
                      </a:r>
                      <a:r>
                        <a:rPr lang="en-US" sz="2199" dirty="0">
                          <a:solidFill>
                            <a:srgbClr val="000000"/>
                          </a:solidFill>
                          <a:latin typeface="Barlow"/>
                          <a:ea typeface="Barlow"/>
                          <a:cs typeface="Barlow"/>
                          <a:sym typeface="Barlow"/>
                        </a:rPr>
                        <a:t> yang </a:t>
                      </a:r>
                      <a:r>
                        <a:rPr lang="en-US" sz="2199" dirty="0" err="1">
                          <a:solidFill>
                            <a:srgbClr val="000000"/>
                          </a:solidFill>
                          <a:latin typeface="Barlow"/>
                          <a:ea typeface="Barlow"/>
                          <a:cs typeface="Barlow"/>
                          <a:sym typeface="Barlow"/>
                        </a:rPr>
                        <a:t>sedang</a:t>
                      </a:r>
                      <a:r>
                        <a:rPr lang="en-US" sz="2199" dirty="0">
                          <a:solidFill>
                            <a:srgbClr val="000000"/>
                          </a:solidFill>
                          <a:latin typeface="Barlow"/>
                          <a:ea typeface="Barlow"/>
                          <a:cs typeface="Barlow"/>
                          <a:sym typeface="Barlow"/>
                        </a:rPr>
                        <a:t> </a:t>
                      </a:r>
                      <a:r>
                        <a:rPr lang="en-US" sz="2199" dirty="0" err="1">
                          <a:solidFill>
                            <a:srgbClr val="000000"/>
                          </a:solidFill>
                          <a:latin typeface="Barlow"/>
                          <a:ea typeface="Barlow"/>
                          <a:cs typeface="Barlow"/>
                          <a:sym typeface="Barlow"/>
                        </a:rPr>
                        <a:t>sedih</a:t>
                      </a:r>
                      <a:r>
                        <a:rPr lang="en-US" sz="2199" dirty="0">
                          <a:solidFill>
                            <a:srgbClr val="000000"/>
                          </a:solidFill>
                          <a:latin typeface="Barlow"/>
                          <a:ea typeface="Barlow"/>
                          <a:cs typeface="Barlow"/>
                          <a:sym typeface="Barlow"/>
                        </a:rPr>
                        <a:t> </a:t>
                      </a:r>
                      <a:r>
                        <a:rPr lang="en-US" sz="2199" dirty="0" err="1">
                          <a:solidFill>
                            <a:srgbClr val="000000"/>
                          </a:solidFill>
                          <a:latin typeface="Barlow"/>
                          <a:ea typeface="Barlow"/>
                          <a:cs typeface="Barlow"/>
                          <a:sym typeface="Barlow"/>
                        </a:rPr>
                        <a:t>karena</a:t>
                      </a:r>
                      <a:r>
                        <a:rPr lang="en-US" sz="2199" dirty="0">
                          <a:solidFill>
                            <a:srgbClr val="000000"/>
                          </a:solidFill>
                          <a:latin typeface="Barlow"/>
                          <a:ea typeface="Barlow"/>
                          <a:cs typeface="Barlow"/>
                          <a:sym typeface="Barlow"/>
                        </a:rPr>
                        <a:t> </a:t>
                      </a:r>
                      <a:r>
                        <a:rPr lang="en-US" sz="2199" dirty="0" err="1">
                          <a:solidFill>
                            <a:srgbClr val="000000"/>
                          </a:solidFill>
                          <a:latin typeface="Barlow"/>
                          <a:ea typeface="Barlow"/>
                          <a:cs typeface="Barlow"/>
                          <a:sym typeface="Barlow"/>
                        </a:rPr>
                        <a:t>masalah</a:t>
                      </a:r>
                      <a:r>
                        <a:rPr lang="en-US" sz="2199" dirty="0">
                          <a:solidFill>
                            <a:srgbClr val="000000"/>
                          </a:solidFill>
                          <a:latin typeface="Barlow"/>
                          <a:ea typeface="Barlow"/>
                          <a:cs typeface="Barlow"/>
                          <a:sym typeface="Barlow"/>
                        </a:rPr>
                        <a:t> </a:t>
                      </a:r>
                      <a:r>
                        <a:rPr lang="en-US" sz="2199" dirty="0" err="1">
                          <a:solidFill>
                            <a:srgbClr val="000000"/>
                          </a:solidFill>
                          <a:latin typeface="Barlow"/>
                          <a:ea typeface="Barlow"/>
                          <a:cs typeface="Barlow"/>
                          <a:sym typeface="Barlow"/>
                        </a:rPr>
                        <a:t>keluarga</a:t>
                      </a:r>
                      <a:r>
                        <a:rPr lang="en-US" sz="2199" dirty="0">
                          <a:solidFill>
                            <a:srgbClr val="000000"/>
                          </a:solidFill>
                          <a:latin typeface="Barlow"/>
                          <a:ea typeface="Barlow"/>
                          <a:cs typeface="Barlow"/>
                          <a:sym typeface="Barlow"/>
                        </a:rPr>
                        <a:t> </a:t>
                      </a:r>
                      <a:r>
                        <a:rPr lang="en-US" sz="2199" dirty="0" err="1">
                          <a:solidFill>
                            <a:srgbClr val="000000"/>
                          </a:solidFill>
                          <a:latin typeface="Barlow"/>
                          <a:ea typeface="Barlow"/>
                          <a:cs typeface="Barlow"/>
                          <a:sym typeface="Barlow"/>
                        </a:rPr>
                        <a:t>atau</a:t>
                      </a:r>
                      <a:r>
                        <a:rPr lang="en-US" sz="2199" dirty="0">
                          <a:solidFill>
                            <a:srgbClr val="000000"/>
                          </a:solidFill>
                          <a:latin typeface="Barlow"/>
                          <a:ea typeface="Barlow"/>
                          <a:cs typeface="Barlow"/>
                          <a:sym typeface="Barlow"/>
                        </a:rPr>
                        <a:t> </a:t>
                      </a:r>
                      <a:r>
                        <a:rPr lang="en-US" sz="2199" dirty="0" err="1">
                          <a:solidFill>
                            <a:srgbClr val="000000"/>
                          </a:solidFill>
                          <a:latin typeface="Barlow"/>
                          <a:ea typeface="Barlow"/>
                          <a:cs typeface="Barlow"/>
                          <a:sym typeface="Barlow"/>
                        </a:rPr>
                        <a:t>nilai</a:t>
                      </a:r>
                      <a:r>
                        <a:rPr lang="en-US" sz="2199" dirty="0">
                          <a:solidFill>
                            <a:srgbClr val="000000"/>
                          </a:solidFill>
                          <a:latin typeface="Barlow"/>
                          <a:ea typeface="Barlow"/>
                          <a:cs typeface="Barlow"/>
                          <a:sym typeface="Barlow"/>
                        </a:rPr>
                        <a:t> </a:t>
                      </a:r>
                      <a:r>
                        <a:rPr lang="en-US" sz="2199" dirty="0" err="1">
                          <a:solidFill>
                            <a:srgbClr val="000000"/>
                          </a:solidFill>
                          <a:latin typeface="Barlow"/>
                          <a:ea typeface="Barlow"/>
                          <a:cs typeface="Barlow"/>
                          <a:sym typeface="Barlow"/>
                        </a:rPr>
                        <a:t>rendah</a:t>
                      </a:r>
                      <a:r>
                        <a:rPr lang="en-US" sz="2199" dirty="0">
                          <a:solidFill>
                            <a:srgbClr val="000000"/>
                          </a:solidFill>
                          <a:latin typeface="Barlow"/>
                          <a:ea typeface="Barlow"/>
                          <a:cs typeface="Barlow"/>
                          <a:sym typeface="Barlow"/>
                        </a:rPr>
                        <a:t>. </a:t>
                      </a:r>
                    </a:p>
                    <a:p>
                      <a:pPr marL="474976" lvl="1" indent="-237488" algn="l">
                        <a:lnSpc>
                          <a:spcPts val="3739"/>
                        </a:lnSpc>
                        <a:buFont typeface="Arial"/>
                        <a:buChar char="•"/>
                      </a:pPr>
                      <a:r>
                        <a:rPr lang="en-US" sz="2199" dirty="0" err="1">
                          <a:solidFill>
                            <a:srgbClr val="000000"/>
                          </a:solidFill>
                          <a:latin typeface="Barlow"/>
                          <a:ea typeface="Barlow"/>
                          <a:cs typeface="Barlow"/>
                          <a:sym typeface="Barlow"/>
                        </a:rPr>
                        <a:t>Memahami</a:t>
                      </a:r>
                      <a:r>
                        <a:rPr lang="en-US" sz="2199" dirty="0">
                          <a:solidFill>
                            <a:srgbClr val="000000"/>
                          </a:solidFill>
                          <a:latin typeface="Barlow"/>
                          <a:ea typeface="Barlow"/>
                          <a:cs typeface="Barlow"/>
                          <a:sym typeface="Barlow"/>
                        </a:rPr>
                        <a:t> </a:t>
                      </a:r>
                      <a:r>
                        <a:rPr lang="en-US" sz="2199" dirty="0" err="1">
                          <a:solidFill>
                            <a:srgbClr val="000000"/>
                          </a:solidFill>
                          <a:latin typeface="Barlow"/>
                          <a:ea typeface="Barlow"/>
                          <a:cs typeface="Barlow"/>
                          <a:sym typeface="Barlow"/>
                        </a:rPr>
                        <a:t>alasan</a:t>
                      </a:r>
                      <a:r>
                        <a:rPr lang="en-US" sz="2199" dirty="0">
                          <a:solidFill>
                            <a:srgbClr val="000000"/>
                          </a:solidFill>
                          <a:latin typeface="Barlow"/>
                          <a:ea typeface="Barlow"/>
                          <a:cs typeface="Barlow"/>
                          <a:sym typeface="Barlow"/>
                        </a:rPr>
                        <a:t> </a:t>
                      </a:r>
                      <a:r>
                        <a:rPr lang="en-US" sz="2199" dirty="0" err="1">
                          <a:solidFill>
                            <a:srgbClr val="000000"/>
                          </a:solidFill>
                          <a:latin typeface="Barlow"/>
                          <a:ea typeface="Barlow"/>
                          <a:cs typeface="Barlow"/>
                          <a:sym typeface="Barlow"/>
                        </a:rPr>
                        <a:t>teman</a:t>
                      </a:r>
                      <a:r>
                        <a:rPr lang="en-US" sz="2199" dirty="0">
                          <a:solidFill>
                            <a:srgbClr val="000000"/>
                          </a:solidFill>
                          <a:latin typeface="Barlow"/>
                          <a:ea typeface="Barlow"/>
                          <a:cs typeface="Barlow"/>
                          <a:sym typeface="Barlow"/>
                        </a:rPr>
                        <a:t> </a:t>
                      </a:r>
                      <a:r>
                        <a:rPr lang="en-US" sz="2199" dirty="0" err="1">
                          <a:solidFill>
                            <a:srgbClr val="000000"/>
                          </a:solidFill>
                          <a:latin typeface="Barlow"/>
                          <a:ea typeface="Barlow"/>
                          <a:cs typeface="Barlow"/>
                          <a:sym typeface="Barlow"/>
                        </a:rPr>
                        <a:t>terlambat</a:t>
                      </a:r>
                      <a:r>
                        <a:rPr lang="en-US" sz="2199" dirty="0">
                          <a:solidFill>
                            <a:srgbClr val="000000"/>
                          </a:solidFill>
                          <a:latin typeface="Barlow"/>
                          <a:ea typeface="Barlow"/>
                          <a:cs typeface="Barlow"/>
                          <a:sym typeface="Barlow"/>
                        </a:rPr>
                        <a:t> </a:t>
                      </a:r>
                      <a:r>
                        <a:rPr lang="en-US" sz="2199" dirty="0" err="1">
                          <a:solidFill>
                            <a:srgbClr val="000000"/>
                          </a:solidFill>
                          <a:latin typeface="Barlow"/>
                          <a:ea typeface="Barlow"/>
                          <a:cs typeface="Barlow"/>
                          <a:sym typeface="Barlow"/>
                        </a:rPr>
                        <a:t>mengumpulkan</a:t>
                      </a:r>
                      <a:r>
                        <a:rPr lang="en-US" sz="2199" dirty="0">
                          <a:solidFill>
                            <a:srgbClr val="000000"/>
                          </a:solidFill>
                          <a:latin typeface="Barlow"/>
                          <a:ea typeface="Barlow"/>
                          <a:cs typeface="Barlow"/>
                          <a:sym typeface="Barlow"/>
                        </a:rPr>
                        <a:t> </a:t>
                      </a:r>
                      <a:r>
                        <a:rPr lang="en-US" sz="2199" dirty="0" err="1">
                          <a:solidFill>
                            <a:srgbClr val="000000"/>
                          </a:solidFill>
                          <a:latin typeface="Barlow"/>
                          <a:ea typeface="Barlow"/>
                          <a:cs typeface="Barlow"/>
                          <a:sym typeface="Barlow"/>
                        </a:rPr>
                        <a:t>tugas</a:t>
                      </a:r>
                      <a:r>
                        <a:rPr lang="en-US" sz="2199" dirty="0">
                          <a:solidFill>
                            <a:srgbClr val="000000"/>
                          </a:solidFill>
                          <a:latin typeface="Barlow"/>
                          <a:ea typeface="Barlow"/>
                          <a:cs typeface="Barlow"/>
                          <a:sym typeface="Barlow"/>
                        </a:rPr>
                        <a:t> </a:t>
                      </a:r>
                      <a:r>
                        <a:rPr lang="en-US" sz="2199" dirty="0" err="1">
                          <a:solidFill>
                            <a:srgbClr val="000000"/>
                          </a:solidFill>
                          <a:latin typeface="Barlow"/>
                          <a:ea typeface="Barlow"/>
                          <a:cs typeface="Barlow"/>
                          <a:sym typeface="Barlow"/>
                        </a:rPr>
                        <a:t>sebelum</a:t>
                      </a:r>
                      <a:r>
                        <a:rPr lang="en-US" sz="2199" dirty="0">
                          <a:solidFill>
                            <a:srgbClr val="000000"/>
                          </a:solidFill>
                          <a:latin typeface="Barlow"/>
                          <a:ea typeface="Barlow"/>
                          <a:cs typeface="Barlow"/>
                          <a:sym typeface="Barlow"/>
                        </a:rPr>
                        <a:t> </a:t>
                      </a:r>
                      <a:r>
                        <a:rPr lang="en-US" sz="2199" dirty="0" err="1">
                          <a:solidFill>
                            <a:srgbClr val="000000"/>
                          </a:solidFill>
                          <a:latin typeface="Barlow"/>
                          <a:ea typeface="Barlow"/>
                          <a:cs typeface="Barlow"/>
                          <a:sym typeface="Barlow"/>
                        </a:rPr>
                        <a:t>memberikan</a:t>
                      </a:r>
                      <a:r>
                        <a:rPr lang="en-US" sz="2199" dirty="0">
                          <a:solidFill>
                            <a:srgbClr val="000000"/>
                          </a:solidFill>
                          <a:latin typeface="Barlow"/>
                          <a:ea typeface="Barlow"/>
                          <a:cs typeface="Barlow"/>
                          <a:sym typeface="Barlow"/>
                        </a:rPr>
                        <a:t> </a:t>
                      </a:r>
                      <a:r>
                        <a:rPr lang="en-US" sz="2199" dirty="0" err="1">
                          <a:solidFill>
                            <a:srgbClr val="000000"/>
                          </a:solidFill>
                          <a:latin typeface="Barlow"/>
                          <a:ea typeface="Barlow"/>
                          <a:cs typeface="Barlow"/>
                          <a:sym typeface="Barlow"/>
                        </a:rPr>
                        <a:t>penilaian</a:t>
                      </a:r>
                      <a:r>
                        <a:rPr lang="en-US" sz="2199" dirty="0">
                          <a:solidFill>
                            <a:srgbClr val="000000"/>
                          </a:solidFill>
                          <a:latin typeface="Barlow"/>
                          <a:ea typeface="Barlow"/>
                          <a:cs typeface="Barlow"/>
                          <a:sym typeface="Barlow"/>
                        </a:rPr>
                        <a:t> </a:t>
                      </a:r>
                      <a:r>
                        <a:rPr lang="en-US" sz="2199" dirty="0" err="1">
                          <a:solidFill>
                            <a:srgbClr val="000000"/>
                          </a:solidFill>
                          <a:latin typeface="Barlow"/>
                          <a:ea typeface="Barlow"/>
                          <a:cs typeface="Barlow"/>
                          <a:sym typeface="Barlow"/>
                        </a:rPr>
                        <a:t>negatif</a:t>
                      </a:r>
                      <a:r>
                        <a:rPr lang="en-US" sz="2199" dirty="0">
                          <a:solidFill>
                            <a:srgbClr val="000000"/>
                          </a:solidFill>
                          <a:latin typeface="Barlow"/>
                          <a:ea typeface="Barlow"/>
                          <a:cs typeface="Barlow"/>
                          <a:sym typeface="Barlow"/>
                        </a:rPr>
                        <a:t>.</a:t>
                      </a:r>
                    </a:p>
                  </a:txBody>
                  <a:tcPr marL="0" marR="0" marT="0" marB="0" anchor="ctr">
                    <a:lnL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3" name="TextBox 3"/>
          <p:cNvSpPr txBox="1"/>
          <p:nvPr/>
        </p:nvSpPr>
        <p:spPr>
          <a:xfrm>
            <a:off x="4924103" y="586661"/>
            <a:ext cx="8439795" cy="104773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8617"/>
              </a:lnSpc>
            </a:pPr>
            <a:r>
              <a:rPr lang="en-US" sz="6155" b="1">
                <a:solidFill>
                  <a:srgbClr val="000000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5 Keterampilan Sosial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Table 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352905662"/>
              </p:ext>
            </p:extLst>
          </p:nvPr>
        </p:nvGraphicFramePr>
        <p:xfrm>
          <a:off x="1028700" y="1634395"/>
          <a:ext cx="16230600" cy="6480905"/>
        </p:xfrm>
        <a:graphic>
          <a:graphicData uri="http://schemas.openxmlformats.org/drawingml/2006/table">
            <a:tbl>
              <a:tblPr/>
              <a:tblGrid>
                <a:gridCol w="68865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264871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875022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8402052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758626">
                <a:tc>
                  <a:txBody>
                    <a:bodyPr/>
                    <a:lstStyle/>
                    <a:p>
                      <a:pPr algn="ctr">
                        <a:lnSpc>
                          <a:spcPts val="2659"/>
                        </a:lnSpc>
                        <a:defRPr/>
                      </a:pPr>
                      <a:r>
                        <a:rPr lang="en-US" sz="1899">
                          <a:solidFill>
                            <a:srgbClr val="FFFFFF"/>
                          </a:solidFill>
                          <a:latin typeface="Intro Rust"/>
                          <a:ea typeface="Intro Rust"/>
                          <a:cs typeface="Intro Rust"/>
                          <a:sym typeface="Intro Rust"/>
                        </a:rPr>
                        <a:t>No</a:t>
                      </a:r>
                      <a:endParaRPr lang="en-US" sz="1100"/>
                    </a:p>
                  </a:txBody>
                  <a:tcPr marL="0" marR="0" marT="0" marB="0" anchor="ctr">
                    <a:lnL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687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659"/>
                        </a:lnSpc>
                        <a:defRPr/>
                      </a:pPr>
                      <a:r>
                        <a:rPr lang="en-US" sz="1899">
                          <a:solidFill>
                            <a:srgbClr val="FFFFFF"/>
                          </a:solidFill>
                          <a:latin typeface="Intro Rust"/>
                          <a:ea typeface="Intro Rust"/>
                          <a:cs typeface="Intro Rust"/>
                          <a:sym typeface="Intro Rust"/>
                        </a:rPr>
                        <a:t>Keterampilan</a:t>
                      </a:r>
                      <a:endParaRPr lang="en-US" sz="1100"/>
                    </a:p>
                  </a:txBody>
                  <a:tcPr marL="0" marR="0" marT="0" marB="0" anchor="ctr">
                    <a:lnL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687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659"/>
                        </a:lnSpc>
                        <a:defRPr/>
                      </a:pPr>
                      <a:r>
                        <a:rPr lang="en-US" sz="1899">
                          <a:solidFill>
                            <a:srgbClr val="FFFFFF"/>
                          </a:solidFill>
                          <a:latin typeface="Intro Rust"/>
                          <a:ea typeface="Intro Rust"/>
                          <a:cs typeface="Intro Rust"/>
                          <a:sym typeface="Intro Rust"/>
                        </a:rPr>
                        <a:t>Deskripsi</a:t>
                      </a:r>
                      <a:endParaRPr lang="en-US" sz="1100"/>
                    </a:p>
                  </a:txBody>
                  <a:tcPr marL="0" marR="0" marT="0" marB="0" anchor="ctr">
                    <a:lnL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687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659"/>
                        </a:lnSpc>
                        <a:defRPr/>
                      </a:pPr>
                      <a:r>
                        <a:rPr lang="en-US" sz="1899">
                          <a:solidFill>
                            <a:srgbClr val="FFFFFF"/>
                          </a:solidFill>
                          <a:latin typeface="Intro Rust"/>
                          <a:ea typeface="Intro Rust"/>
                          <a:cs typeface="Intro Rust"/>
                          <a:sym typeface="Intro Rust"/>
                        </a:rPr>
                        <a:t>Contoh</a:t>
                      </a:r>
                      <a:endParaRPr lang="en-US" sz="1100"/>
                    </a:p>
                  </a:txBody>
                  <a:tcPr marL="0" marR="0" marT="0" marB="0" anchor="ctr">
                    <a:lnL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687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602038">
                <a:tc>
                  <a:txBody>
                    <a:bodyPr/>
                    <a:lstStyle/>
                    <a:p>
                      <a:pPr algn="ctr">
                        <a:lnSpc>
                          <a:spcPts val="2940"/>
                        </a:lnSpc>
                        <a:defRPr/>
                      </a:pPr>
                      <a:r>
                        <a:rPr lang="en-US" sz="2100">
                          <a:solidFill>
                            <a:srgbClr val="000000"/>
                          </a:solidFill>
                          <a:latin typeface="Barlow"/>
                          <a:ea typeface="Barlow"/>
                          <a:cs typeface="Barlow"/>
                          <a:sym typeface="Barlow"/>
                        </a:rPr>
                        <a:t>4</a:t>
                      </a:r>
                      <a:endParaRPr lang="en-US" sz="1100"/>
                    </a:p>
                  </a:txBody>
                  <a:tcPr marL="0" marR="0" marT="0" marB="0" anchor="ctr">
                    <a:lnL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940"/>
                        </a:lnSpc>
                        <a:defRPr/>
                      </a:pPr>
                      <a:r>
                        <a:rPr lang="en-US" sz="2100" b="1">
                          <a:solidFill>
                            <a:srgbClr val="000000"/>
                          </a:solidFill>
                          <a:latin typeface="Barlow Bold"/>
                          <a:ea typeface="Barlow Bold"/>
                          <a:cs typeface="Barlow Bold"/>
                          <a:sym typeface="Barlow Bold"/>
                        </a:rPr>
                        <a:t>Menghargai Perbedaan</a:t>
                      </a:r>
                      <a:endParaRPr lang="en-US" sz="1100"/>
                    </a:p>
                  </a:txBody>
                  <a:tcPr marL="0" marR="0" marT="0" marB="0" anchor="ctr">
                    <a:lnL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3569"/>
                        </a:lnSpc>
                        <a:defRPr/>
                      </a:pPr>
                      <a:r>
                        <a:rPr lang="en-US" sz="2100">
                          <a:solidFill>
                            <a:srgbClr val="000000"/>
                          </a:solidFill>
                          <a:latin typeface="Barlow"/>
                          <a:ea typeface="Barlow"/>
                          <a:cs typeface="Barlow"/>
                          <a:sym typeface="Barlow"/>
                        </a:rPr>
                        <a:t>Kemampuan menerima dan menghormati keberagaman pendapat, budaya, agama, suku, kebiasaan, dan karakteristik individu lainnya.</a:t>
                      </a:r>
                      <a:endParaRPr lang="en-US" sz="1100"/>
                    </a:p>
                  </a:txBody>
                  <a:tcPr marL="0" marR="0" marT="0" marB="0" anchor="ctr">
                    <a:lnL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453390" lvl="1" indent="-226695" algn="l">
                        <a:lnSpc>
                          <a:spcPts val="3569"/>
                        </a:lnSpc>
                        <a:buFont typeface="Arial"/>
                        <a:buChar char="•"/>
                        <a:defRPr/>
                      </a:pPr>
                      <a:r>
                        <a:rPr lang="en-US" sz="2100">
                          <a:solidFill>
                            <a:srgbClr val="000000"/>
                          </a:solidFill>
                          <a:latin typeface="Barlow"/>
                          <a:ea typeface="Barlow"/>
                          <a:cs typeface="Barlow"/>
                          <a:sym typeface="Barlow"/>
                        </a:rPr>
                        <a:t>Tidak mengejek teman   yang memiliki hobi berbeda. </a:t>
                      </a:r>
                      <a:endParaRPr lang="en-US" sz="1100"/>
                    </a:p>
                    <a:p>
                      <a:pPr marL="453390" lvl="1" indent="-226695" algn="l">
                        <a:lnSpc>
                          <a:spcPts val="3569"/>
                        </a:lnSpc>
                        <a:buFont typeface="Arial"/>
                        <a:buChar char="•"/>
                      </a:pPr>
                      <a:r>
                        <a:rPr lang="en-US" sz="2100">
                          <a:solidFill>
                            <a:srgbClr val="000000"/>
                          </a:solidFill>
                          <a:latin typeface="Barlow"/>
                          <a:ea typeface="Barlow"/>
                          <a:cs typeface="Barlow"/>
                          <a:sym typeface="Barlow"/>
                        </a:rPr>
                        <a:t> Memberikan kesempatan kepada semua anggota kelompok untuk menyampaikan pendapat. </a:t>
                      </a:r>
                    </a:p>
                    <a:p>
                      <a:pPr marL="453390" lvl="1" indent="-226695" algn="l">
                        <a:lnSpc>
                          <a:spcPts val="3569"/>
                        </a:lnSpc>
                        <a:buFont typeface="Arial"/>
                        <a:buChar char="•"/>
                      </a:pPr>
                      <a:r>
                        <a:rPr lang="en-US" sz="2100">
                          <a:solidFill>
                            <a:srgbClr val="000000"/>
                          </a:solidFill>
                          <a:latin typeface="Barlow"/>
                          <a:ea typeface="Barlow"/>
                          <a:cs typeface="Barlow"/>
                          <a:sym typeface="Barlow"/>
                        </a:rPr>
                        <a:t> Berteman dengan siapa saja tanpa membedakan latar belakang sosial atau akademik.</a:t>
                      </a:r>
                    </a:p>
                  </a:txBody>
                  <a:tcPr marL="0" marR="0" marT="0" marB="0" anchor="ctr">
                    <a:lnL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120241">
                <a:tc>
                  <a:txBody>
                    <a:bodyPr/>
                    <a:lstStyle/>
                    <a:p>
                      <a:pPr algn="ctr">
                        <a:lnSpc>
                          <a:spcPts val="2940"/>
                        </a:lnSpc>
                        <a:defRPr/>
                      </a:pPr>
                      <a:r>
                        <a:rPr lang="en-US" sz="2100">
                          <a:solidFill>
                            <a:srgbClr val="000000"/>
                          </a:solidFill>
                          <a:latin typeface="Barlow"/>
                          <a:ea typeface="Barlow"/>
                          <a:cs typeface="Barlow"/>
                          <a:sym typeface="Barlow"/>
                        </a:rPr>
                        <a:t>5</a:t>
                      </a:r>
                      <a:endParaRPr lang="en-US" sz="1100"/>
                    </a:p>
                  </a:txBody>
                  <a:tcPr marL="0" marR="0" marT="0" marB="0" anchor="ctr">
                    <a:lnL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940"/>
                        </a:lnSpc>
                        <a:defRPr/>
                      </a:pPr>
                      <a:r>
                        <a:rPr lang="en-US" sz="2100" b="1">
                          <a:solidFill>
                            <a:srgbClr val="000000"/>
                          </a:solidFill>
                          <a:latin typeface="Barlow Bold"/>
                          <a:ea typeface="Barlow Bold"/>
                          <a:cs typeface="Barlow Bold"/>
                          <a:sym typeface="Barlow Bold"/>
                        </a:rPr>
                        <a:t>Resolusi Konflik</a:t>
                      </a:r>
                      <a:endParaRPr lang="en-US" sz="1100"/>
                    </a:p>
                  </a:txBody>
                  <a:tcPr marL="0" marR="0" marT="0" marB="0" anchor="ctr">
                    <a:lnL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3569"/>
                        </a:lnSpc>
                        <a:defRPr/>
                      </a:pPr>
                      <a:r>
                        <a:rPr lang="en-US" sz="2100" dirty="0" err="1">
                          <a:solidFill>
                            <a:srgbClr val="000000"/>
                          </a:solidFill>
                          <a:latin typeface="Barlow"/>
                          <a:ea typeface="Barlow"/>
                          <a:cs typeface="Barlow"/>
                          <a:sym typeface="Barlow"/>
                        </a:rPr>
                        <a:t>Kemampuan</a:t>
                      </a:r>
                      <a:r>
                        <a:rPr lang="en-US" sz="2100" dirty="0">
                          <a:solidFill>
                            <a:srgbClr val="000000"/>
                          </a:solidFill>
                          <a:latin typeface="Barlow"/>
                          <a:ea typeface="Barlow"/>
                          <a:cs typeface="Barlow"/>
                          <a:sym typeface="Barlow"/>
                        </a:rPr>
                        <a:t> </a:t>
                      </a:r>
                      <a:r>
                        <a:rPr lang="en-US" sz="2100" dirty="0" err="1">
                          <a:solidFill>
                            <a:srgbClr val="000000"/>
                          </a:solidFill>
                          <a:latin typeface="Barlow"/>
                          <a:ea typeface="Barlow"/>
                          <a:cs typeface="Barlow"/>
                          <a:sym typeface="Barlow"/>
                        </a:rPr>
                        <a:t>menyelesaikan</a:t>
                      </a:r>
                      <a:r>
                        <a:rPr lang="en-US" sz="2100" dirty="0">
                          <a:solidFill>
                            <a:srgbClr val="000000"/>
                          </a:solidFill>
                          <a:latin typeface="Barlow"/>
                          <a:ea typeface="Barlow"/>
                          <a:cs typeface="Barlow"/>
                          <a:sym typeface="Barlow"/>
                        </a:rPr>
                        <a:t> </a:t>
                      </a:r>
                      <a:r>
                        <a:rPr lang="en-US" sz="2100" dirty="0" err="1">
                          <a:solidFill>
                            <a:srgbClr val="000000"/>
                          </a:solidFill>
                          <a:latin typeface="Barlow"/>
                          <a:ea typeface="Barlow"/>
                          <a:cs typeface="Barlow"/>
                          <a:sym typeface="Barlow"/>
                        </a:rPr>
                        <a:t>perselisihan</a:t>
                      </a:r>
                      <a:r>
                        <a:rPr lang="en-US" sz="2100" dirty="0">
                          <a:solidFill>
                            <a:srgbClr val="000000"/>
                          </a:solidFill>
                          <a:latin typeface="Barlow"/>
                          <a:ea typeface="Barlow"/>
                          <a:cs typeface="Barlow"/>
                          <a:sym typeface="Barlow"/>
                        </a:rPr>
                        <a:t> </a:t>
                      </a:r>
                      <a:r>
                        <a:rPr lang="en-US" sz="2100" dirty="0" err="1">
                          <a:solidFill>
                            <a:srgbClr val="000000"/>
                          </a:solidFill>
                          <a:latin typeface="Barlow"/>
                          <a:ea typeface="Barlow"/>
                          <a:cs typeface="Barlow"/>
                          <a:sym typeface="Barlow"/>
                        </a:rPr>
                        <a:t>atau</a:t>
                      </a:r>
                      <a:r>
                        <a:rPr lang="en-US" sz="2100" dirty="0">
                          <a:solidFill>
                            <a:srgbClr val="000000"/>
                          </a:solidFill>
                          <a:latin typeface="Barlow"/>
                          <a:ea typeface="Barlow"/>
                          <a:cs typeface="Barlow"/>
                          <a:sym typeface="Barlow"/>
                        </a:rPr>
                        <a:t> </a:t>
                      </a:r>
                      <a:r>
                        <a:rPr lang="en-US" sz="2100" dirty="0" err="1">
                          <a:solidFill>
                            <a:srgbClr val="000000"/>
                          </a:solidFill>
                          <a:latin typeface="Barlow"/>
                          <a:ea typeface="Barlow"/>
                          <a:cs typeface="Barlow"/>
                          <a:sym typeface="Barlow"/>
                        </a:rPr>
                        <a:t>masalah</a:t>
                      </a:r>
                      <a:r>
                        <a:rPr lang="en-US" sz="2100" dirty="0">
                          <a:solidFill>
                            <a:srgbClr val="000000"/>
                          </a:solidFill>
                          <a:latin typeface="Barlow"/>
                          <a:ea typeface="Barlow"/>
                          <a:cs typeface="Barlow"/>
                          <a:sym typeface="Barlow"/>
                        </a:rPr>
                        <a:t> </a:t>
                      </a:r>
                      <a:r>
                        <a:rPr lang="en-US" sz="2100" dirty="0" err="1">
                          <a:solidFill>
                            <a:srgbClr val="000000"/>
                          </a:solidFill>
                          <a:latin typeface="Barlow"/>
                          <a:ea typeface="Barlow"/>
                          <a:cs typeface="Barlow"/>
                          <a:sym typeface="Barlow"/>
                        </a:rPr>
                        <a:t>dengan</a:t>
                      </a:r>
                      <a:r>
                        <a:rPr lang="en-US" sz="2100" dirty="0">
                          <a:solidFill>
                            <a:srgbClr val="000000"/>
                          </a:solidFill>
                          <a:latin typeface="Barlow"/>
                          <a:ea typeface="Barlow"/>
                          <a:cs typeface="Barlow"/>
                          <a:sym typeface="Barlow"/>
                        </a:rPr>
                        <a:t> </a:t>
                      </a:r>
                      <a:r>
                        <a:rPr lang="en-US" sz="2100" dirty="0" err="1">
                          <a:solidFill>
                            <a:srgbClr val="000000"/>
                          </a:solidFill>
                          <a:latin typeface="Barlow"/>
                          <a:ea typeface="Barlow"/>
                          <a:cs typeface="Barlow"/>
                          <a:sym typeface="Barlow"/>
                        </a:rPr>
                        <a:t>cara</a:t>
                      </a:r>
                      <a:r>
                        <a:rPr lang="en-US" sz="2100" dirty="0">
                          <a:solidFill>
                            <a:srgbClr val="000000"/>
                          </a:solidFill>
                          <a:latin typeface="Barlow"/>
                          <a:ea typeface="Barlow"/>
                          <a:cs typeface="Barlow"/>
                          <a:sym typeface="Barlow"/>
                        </a:rPr>
                        <a:t> yang </a:t>
                      </a:r>
                      <a:r>
                        <a:rPr lang="en-US" sz="2100" dirty="0" err="1">
                          <a:solidFill>
                            <a:srgbClr val="000000"/>
                          </a:solidFill>
                          <a:latin typeface="Barlow"/>
                          <a:ea typeface="Barlow"/>
                          <a:cs typeface="Barlow"/>
                          <a:sym typeface="Barlow"/>
                        </a:rPr>
                        <a:t>damai</a:t>
                      </a:r>
                      <a:r>
                        <a:rPr lang="en-US" sz="2100" dirty="0">
                          <a:solidFill>
                            <a:srgbClr val="000000"/>
                          </a:solidFill>
                          <a:latin typeface="Barlow"/>
                          <a:ea typeface="Barlow"/>
                          <a:cs typeface="Barlow"/>
                          <a:sym typeface="Barlow"/>
                        </a:rPr>
                        <a:t>, </a:t>
                      </a:r>
                      <a:r>
                        <a:rPr lang="en-US" sz="2100" dirty="0" err="1">
                          <a:solidFill>
                            <a:srgbClr val="000000"/>
                          </a:solidFill>
                          <a:latin typeface="Barlow"/>
                          <a:ea typeface="Barlow"/>
                          <a:cs typeface="Barlow"/>
                          <a:sym typeface="Barlow"/>
                        </a:rPr>
                        <a:t>adil</a:t>
                      </a:r>
                      <a:r>
                        <a:rPr lang="en-US" sz="2100" dirty="0">
                          <a:solidFill>
                            <a:srgbClr val="000000"/>
                          </a:solidFill>
                          <a:latin typeface="Barlow"/>
                          <a:ea typeface="Barlow"/>
                          <a:cs typeface="Barlow"/>
                          <a:sym typeface="Barlow"/>
                        </a:rPr>
                        <a:t>, dan </a:t>
                      </a:r>
                      <a:r>
                        <a:rPr lang="en-US" sz="2100" dirty="0" err="1">
                          <a:solidFill>
                            <a:srgbClr val="000000"/>
                          </a:solidFill>
                          <a:latin typeface="Barlow"/>
                          <a:ea typeface="Barlow"/>
                          <a:cs typeface="Barlow"/>
                          <a:sym typeface="Barlow"/>
                        </a:rPr>
                        <a:t>saling</a:t>
                      </a:r>
                      <a:r>
                        <a:rPr lang="en-US" sz="2100" dirty="0">
                          <a:solidFill>
                            <a:srgbClr val="000000"/>
                          </a:solidFill>
                          <a:latin typeface="Barlow"/>
                          <a:ea typeface="Barlow"/>
                          <a:cs typeface="Barlow"/>
                          <a:sym typeface="Barlow"/>
                        </a:rPr>
                        <a:t> </a:t>
                      </a:r>
                      <a:r>
                        <a:rPr lang="en-US" sz="2100" dirty="0" err="1">
                          <a:solidFill>
                            <a:srgbClr val="000000"/>
                          </a:solidFill>
                          <a:latin typeface="Barlow"/>
                          <a:ea typeface="Barlow"/>
                          <a:cs typeface="Barlow"/>
                          <a:sym typeface="Barlow"/>
                        </a:rPr>
                        <a:t>menguntungkan</a:t>
                      </a:r>
                      <a:r>
                        <a:rPr lang="en-US" sz="2100" dirty="0">
                          <a:solidFill>
                            <a:srgbClr val="000000"/>
                          </a:solidFill>
                          <a:latin typeface="Barlow"/>
                          <a:ea typeface="Barlow"/>
                          <a:cs typeface="Barlow"/>
                          <a:sym typeface="Barlow"/>
                        </a:rPr>
                        <a:t>.</a:t>
                      </a:r>
                      <a:endParaRPr lang="en-US" sz="1100" dirty="0"/>
                    </a:p>
                  </a:txBody>
                  <a:tcPr marL="0" marR="0" marT="0" marB="0" anchor="ctr">
                    <a:lnL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453390" lvl="1" indent="-226695" algn="l">
                        <a:lnSpc>
                          <a:spcPts val="3569"/>
                        </a:lnSpc>
                        <a:buFont typeface="Arial"/>
                        <a:buChar char="•"/>
                        <a:defRPr/>
                      </a:pPr>
                      <a:r>
                        <a:rPr lang="en-US" sz="2100" dirty="0" err="1">
                          <a:solidFill>
                            <a:srgbClr val="000000"/>
                          </a:solidFill>
                          <a:latin typeface="Barlow"/>
                          <a:ea typeface="Barlow"/>
                          <a:cs typeface="Barlow"/>
                          <a:sym typeface="Barlow"/>
                        </a:rPr>
                        <a:t>Berdiskusi</a:t>
                      </a:r>
                      <a:r>
                        <a:rPr lang="en-US" sz="2100" dirty="0">
                          <a:solidFill>
                            <a:srgbClr val="000000"/>
                          </a:solidFill>
                          <a:latin typeface="Barlow"/>
                          <a:ea typeface="Barlow"/>
                          <a:cs typeface="Barlow"/>
                          <a:sym typeface="Barlow"/>
                        </a:rPr>
                        <a:t> </a:t>
                      </a:r>
                      <a:r>
                        <a:rPr lang="en-US" sz="2100" dirty="0" err="1">
                          <a:solidFill>
                            <a:srgbClr val="000000"/>
                          </a:solidFill>
                          <a:latin typeface="Barlow"/>
                          <a:ea typeface="Barlow"/>
                          <a:cs typeface="Barlow"/>
                          <a:sym typeface="Barlow"/>
                        </a:rPr>
                        <a:t>secara</a:t>
                      </a:r>
                      <a:r>
                        <a:rPr lang="en-US" sz="2100" dirty="0">
                          <a:solidFill>
                            <a:srgbClr val="000000"/>
                          </a:solidFill>
                          <a:latin typeface="Barlow"/>
                          <a:ea typeface="Barlow"/>
                          <a:cs typeface="Barlow"/>
                          <a:sym typeface="Barlow"/>
                        </a:rPr>
                        <a:t> </a:t>
                      </a:r>
                      <a:r>
                        <a:rPr lang="en-US" sz="2100" dirty="0" err="1">
                          <a:solidFill>
                            <a:srgbClr val="000000"/>
                          </a:solidFill>
                          <a:latin typeface="Barlow"/>
                          <a:ea typeface="Barlow"/>
                          <a:cs typeface="Barlow"/>
                          <a:sym typeface="Barlow"/>
                        </a:rPr>
                        <a:t>baik-baik</a:t>
                      </a:r>
                      <a:r>
                        <a:rPr lang="en-US" sz="2100" dirty="0">
                          <a:solidFill>
                            <a:srgbClr val="000000"/>
                          </a:solidFill>
                          <a:latin typeface="Barlow"/>
                          <a:ea typeface="Barlow"/>
                          <a:cs typeface="Barlow"/>
                          <a:sym typeface="Barlow"/>
                        </a:rPr>
                        <a:t> </a:t>
                      </a:r>
                      <a:r>
                        <a:rPr lang="en-US" sz="2100" dirty="0" err="1">
                          <a:solidFill>
                            <a:srgbClr val="000000"/>
                          </a:solidFill>
                          <a:latin typeface="Barlow"/>
                          <a:ea typeface="Barlow"/>
                          <a:cs typeface="Barlow"/>
                          <a:sym typeface="Barlow"/>
                        </a:rPr>
                        <a:t>saat</a:t>
                      </a:r>
                      <a:r>
                        <a:rPr lang="en-US" sz="2100" dirty="0">
                          <a:solidFill>
                            <a:srgbClr val="000000"/>
                          </a:solidFill>
                          <a:latin typeface="Barlow"/>
                          <a:ea typeface="Barlow"/>
                          <a:cs typeface="Barlow"/>
                          <a:sym typeface="Barlow"/>
                        </a:rPr>
                        <a:t> </a:t>
                      </a:r>
                      <a:r>
                        <a:rPr lang="en-US" sz="2100" dirty="0" err="1">
                          <a:solidFill>
                            <a:srgbClr val="000000"/>
                          </a:solidFill>
                          <a:latin typeface="Barlow"/>
                          <a:ea typeface="Barlow"/>
                          <a:cs typeface="Barlow"/>
                          <a:sym typeface="Barlow"/>
                        </a:rPr>
                        <a:t>terjadi</a:t>
                      </a:r>
                      <a:r>
                        <a:rPr lang="en-US" sz="2100" dirty="0">
                          <a:solidFill>
                            <a:srgbClr val="000000"/>
                          </a:solidFill>
                          <a:latin typeface="Barlow"/>
                          <a:ea typeface="Barlow"/>
                          <a:cs typeface="Barlow"/>
                          <a:sym typeface="Barlow"/>
                        </a:rPr>
                        <a:t> </a:t>
                      </a:r>
                      <a:r>
                        <a:rPr lang="en-US" sz="2100" dirty="0" err="1">
                          <a:solidFill>
                            <a:srgbClr val="000000"/>
                          </a:solidFill>
                          <a:latin typeface="Barlow"/>
                          <a:ea typeface="Barlow"/>
                          <a:cs typeface="Barlow"/>
                          <a:sym typeface="Barlow"/>
                        </a:rPr>
                        <a:t>kesalahpahaman</a:t>
                      </a:r>
                      <a:r>
                        <a:rPr lang="en-US" sz="2100" dirty="0">
                          <a:solidFill>
                            <a:srgbClr val="000000"/>
                          </a:solidFill>
                          <a:latin typeface="Barlow"/>
                          <a:ea typeface="Barlow"/>
                          <a:cs typeface="Barlow"/>
                          <a:sym typeface="Barlow"/>
                        </a:rPr>
                        <a:t> </a:t>
                      </a:r>
                      <a:r>
                        <a:rPr lang="en-US" sz="2100" dirty="0" err="1">
                          <a:solidFill>
                            <a:srgbClr val="000000"/>
                          </a:solidFill>
                          <a:latin typeface="Barlow"/>
                          <a:ea typeface="Barlow"/>
                          <a:cs typeface="Barlow"/>
                          <a:sym typeface="Barlow"/>
                        </a:rPr>
                        <a:t>dengan</a:t>
                      </a:r>
                      <a:r>
                        <a:rPr lang="en-US" sz="2100" dirty="0">
                          <a:solidFill>
                            <a:srgbClr val="000000"/>
                          </a:solidFill>
                          <a:latin typeface="Barlow"/>
                          <a:ea typeface="Barlow"/>
                          <a:cs typeface="Barlow"/>
                          <a:sym typeface="Barlow"/>
                        </a:rPr>
                        <a:t> </a:t>
                      </a:r>
                      <a:r>
                        <a:rPr lang="en-US" sz="2100" dirty="0" err="1">
                          <a:solidFill>
                            <a:srgbClr val="000000"/>
                          </a:solidFill>
                          <a:latin typeface="Barlow"/>
                          <a:ea typeface="Barlow"/>
                          <a:cs typeface="Barlow"/>
                          <a:sym typeface="Barlow"/>
                        </a:rPr>
                        <a:t>teman</a:t>
                      </a:r>
                      <a:r>
                        <a:rPr lang="en-US" sz="2100" dirty="0">
                          <a:solidFill>
                            <a:srgbClr val="000000"/>
                          </a:solidFill>
                          <a:latin typeface="Barlow"/>
                          <a:ea typeface="Barlow"/>
                          <a:cs typeface="Barlow"/>
                          <a:sym typeface="Barlow"/>
                        </a:rPr>
                        <a:t>. </a:t>
                      </a:r>
                      <a:endParaRPr lang="en-US" sz="1100" dirty="0"/>
                    </a:p>
                    <a:p>
                      <a:pPr marL="453390" lvl="1" indent="-226695" algn="l">
                        <a:lnSpc>
                          <a:spcPts val="3569"/>
                        </a:lnSpc>
                        <a:buFont typeface="Arial"/>
                        <a:buChar char="•"/>
                      </a:pPr>
                      <a:r>
                        <a:rPr lang="en-US" sz="2100" dirty="0" err="1">
                          <a:solidFill>
                            <a:srgbClr val="000000"/>
                          </a:solidFill>
                          <a:latin typeface="Barlow"/>
                          <a:ea typeface="Barlow"/>
                          <a:cs typeface="Barlow"/>
                          <a:sym typeface="Barlow"/>
                        </a:rPr>
                        <a:t>Mencari</a:t>
                      </a:r>
                      <a:r>
                        <a:rPr lang="en-US" sz="2100" dirty="0">
                          <a:solidFill>
                            <a:srgbClr val="000000"/>
                          </a:solidFill>
                          <a:latin typeface="Barlow"/>
                          <a:ea typeface="Barlow"/>
                          <a:cs typeface="Barlow"/>
                          <a:sym typeface="Barlow"/>
                        </a:rPr>
                        <a:t> </a:t>
                      </a:r>
                      <a:r>
                        <a:rPr lang="en-US" sz="2100" dirty="0" err="1">
                          <a:solidFill>
                            <a:srgbClr val="000000"/>
                          </a:solidFill>
                          <a:latin typeface="Barlow"/>
                          <a:ea typeface="Barlow"/>
                          <a:cs typeface="Barlow"/>
                          <a:sym typeface="Barlow"/>
                        </a:rPr>
                        <a:t>solusi</a:t>
                      </a:r>
                      <a:r>
                        <a:rPr lang="en-US" sz="2100" dirty="0">
                          <a:solidFill>
                            <a:srgbClr val="000000"/>
                          </a:solidFill>
                          <a:latin typeface="Barlow"/>
                          <a:ea typeface="Barlow"/>
                          <a:cs typeface="Barlow"/>
                          <a:sym typeface="Barlow"/>
                        </a:rPr>
                        <a:t> </a:t>
                      </a:r>
                      <a:r>
                        <a:rPr lang="en-US" sz="2100" dirty="0" err="1">
                          <a:solidFill>
                            <a:srgbClr val="000000"/>
                          </a:solidFill>
                          <a:latin typeface="Barlow"/>
                          <a:ea typeface="Barlow"/>
                          <a:cs typeface="Barlow"/>
                          <a:sym typeface="Barlow"/>
                        </a:rPr>
                        <a:t>bersama</a:t>
                      </a:r>
                      <a:r>
                        <a:rPr lang="en-US" sz="2100" dirty="0">
                          <a:solidFill>
                            <a:srgbClr val="000000"/>
                          </a:solidFill>
                          <a:latin typeface="Barlow"/>
                          <a:ea typeface="Barlow"/>
                          <a:cs typeface="Barlow"/>
                          <a:sym typeface="Barlow"/>
                        </a:rPr>
                        <a:t> </a:t>
                      </a:r>
                      <a:r>
                        <a:rPr lang="en-US" sz="2100" dirty="0" err="1">
                          <a:solidFill>
                            <a:srgbClr val="000000"/>
                          </a:solidFill>
                          <a:latin typeface="Barlow"/>
                          <a:ea typeface="Barlow"/>
                          <a:cs typeface="Barlow"/>
                          <a:sym typeface="Barlow"/>
                        </a:rPr>
                        <a:t>ketika</a:t>
                      </a:r>
                      <a:r>
                        <a:rPr lang="en-US" sz="2100" dirty="0">
                          <a:solidFill>
                            <a:srgbClr val="000000"/>
                          </a:solidFill>
                          <a:latin typeface="Barlow"/>
                          <a:ea typeface="Barlow"/>
                          <a:cs typeface="Barlow"/>
                          <a:sym typeface="Barlow"/>
                        </a:rPr>
                        <a:t> </a:t>
                      </a:r>
                      <a:r>
                        <a:rPr lang="en-US" sz="2100" dirty="0" err="1">
                          <a:solidFill>
                            <a:srgbClr val="000000"/>
                          </a:solidFill>
                          <a:latin typeface="Barlow"/>
                          <a:ea typeface="Barlow"/>
                          <a:cs typeface="Barlow"/>
                          <a:sym typeface="Barlow"/>
                        </a:rPr>
                        <a:t>terjadi</a:t>
                      </a:r>
                      <a:r>
                        <a:rPr lang="en-US" sz="2100" dirty="0">
                          <a:solidFill>
                            <a:srgbClr val="000000"/>
                          </a:solidFill>
                          <a:latin typeface="Barlow"/>
                          <a:ea typeface="Barlow"/>
                          <a:cs typeface="Barlow"/>
                          <a:sym typeface="Barlow"/>
                        </a:rPr>
                        <a:t> </a:t>
                      </a:r>
                      <a:r>
                        <a:rPr lang="en-US" sz="2100" dirty="0" err="1">
                          <a:solidFill>
                            <a:srgbClr val="000000"/>
                          </a:solidFill>
                          <a:latin typeface="Barlow"/>
                          <a:ea typeface="Barlow"/>
                          <a:cs typeface="Barlow"/>
                          <a:sym typeface="Barlow"/>
                        </a:rPr>
                        <a:t>perbedaan</a:t>
                      </a:r>
                      <a:r>
                        <a:rPr lang="en-US" sz="2100" dirty="0">
                          <a:solidFill>
                            <a:srgbClr val="000000"/>
                          </a:solidFill>
                          <a:latin typeface="Barlow"/>
                          <a:ea typeface="Barlow"/>
                          <a:cs typeface="Barlow"/>
                          <a:sym typeface="Barlow"/>
                        </a:rPr>
                        <a:t> </a:t>
                      </a:r>
                      <a:r>
                        <a:rPr lang="en-US" sz="2100" dirty="0" err="1">
                          <a:solidFill>
                            <a:srgbClr val="000000"/>
                          </a:solidFill>
                          <a:latin typeface="Barlow"/>
                          <a:ea typeface="Barlow"/>
                          <a:cs typeface="Barlow"/>
                          <a:sym typeface="Barlow"/>
                        </a:rPr>
                        <a:t>pendapat</a:t>
                      </a:r>
                      <a:r>
                        <a:rPr lang="en-US" sz="2100" dirty="0">
                          <a:solidFill>
                            <a:srgbClr val="000000"/>
                          </a:solidFill>
                          <a:latin typeface="Barlow"/>
                          <a:ea typeface="Barlow"/>
                          <a:cs typeface="Barlow"/>
                          <a:sym typeface="Barlow"/>
                        </a:rPr>
                        <a:t> </a:t>
                      </a:r>
                      <a:r>
                        <a:rPr lang="en-US" sz="2100" dirty="0" err="1">
                          <a:solidFill>
                            <a:srgbClr val="000000"/>
                          </a:solidFill>
                          <a:latin typeface="Barlow"/>
                          <a:ea typeface="Barlow"/>
                          <a:cs typeface="Barlow"/>
                          <a:sym typeface="Barlow"/>
                        </a:rPr>
                        <a:t>dalam</a:t>
                      </a:r>
                      <a:r>
                        <a:rPr lang="en-US" sz="2100" dirty="0">
                          <a:solidFill>
                            <a:srgbClr val="000000"/>
                          </a:solidFill>
                          <a:latin typeface="Barlow"/>
                          <a:ea typeface="Barlow"/>
                          <a:cs typeface="Barlow"/>
                          <a:sym typeface="Barlow"/>
                        </a:rPr>
                        <a:t> </a:t>
                      </a:r>
                      <a:r>
                        <a:rPr lang="en-US" sz="2100" dirty="0" err="1">
                          <a:solidFill>
                            <a:srgbClr val="000000"/>
                          </a:solidFill>
                          <a:latin typeface="Barlow"/>
                          <a:ea typeface="Barlow"/>
                          <a:cs typeface="Barlow"/>
                          <a:sym typeface="Barlow"/>
                        </a:rPr>
                        <a:t>kerja</a:t>
                      </a:r>
                      <a:r>
                        <a:rPr lang="en-US" sz="2100" dirty="0">
                          <a:solidFill>
                            <a:srgbClr val="000000"/>
                          </a:solidFill>
                          <a:latin typeface="Barlow"/>
                          <a:ea typeface="Barlow"/>
                          <a:cs typeface="Barlow"/>
                          <a:sym typeface="Barlow"/>
                        </a:rPr>
                        <a:t> </a:t>
                      </a:r>
                      <a:r>
                        <a:rPr lang="en-US" sz="2100" dirty="0" err="1">
                          <a:solidFill>
                            <a:srgbClr val="000000"/>
                          </a:solidFill>
                          <a:latin typeface="Barlow"/>
                          <a:ea typeface="Barlow"/>
                          <a:cs typeface="Barlow"/>
                          <a:sym typeface="Barlow"/>
                        </a:rPr>
                        <a:t>kelompok</a:t>
                      </a:r>
                      <a:r>
                        <a:rPr lang="en-US" sz="2100" dirty="0">
                          <a:solidFill>
                            <a:srgbClr val="000000"/>
                          </a:solidFill>
                          <a:latin typeface="Barlow"/>
                          <a:ea typeface="Barlow"/>
                          <a:cs typeface="Barlow"/>
                          <a:sym typeface="Barlow"/>
                        </a:rPr>
                        <a:t>. </a:t>
                      </a:r>
                    </a:p>
                    <a:p>
                      <a:pPr marL="453390" lvl="1" indent="-226695" algn="l">
                        <a:lnSpc>
                          <a:spcPts val="3569"/>
                        </a:lnSpc>
                        <a:buFont typeface="Arial"/>
                        <a:buChar char="•"/>
                      </a:pPr>
                      <a:r>
                        <a:rPr lang="en-US" sz="2100" dirty="0" err="1">
                          <a:solidFill>
                            <a:srgbClr val="000000"/>
                          </a:solidFill>
                          <a:latin typeface="Barlow"/>
                          <a:ea typeface="Barlow"/>
                          <a:cs typeface="Barlow"/>
                          <a:sym typeface="Barlow"/>
                        </a:rPr>
                        <a:t>Meminta</a:t>
                      </a:r>
                      <a:r>
                        <a:rPr lang="en-US" sz="2100" dirty="0">
                          <a:solidFill>
                            <a:srgbClr val="000000"/>
                          </a:solidFill>
                          <a:latin typeface="Barlow"/>
                          <a:ea typeface="Barlow"/>
                          <a:cs typeface="Barlow"/>
                          <a:sym typeface="Barlow"/>
                        </a:rPr>
                        <a:t> </a:t>
                      </a:r>
                      <a:r>
                        <a:rPr lang="en-US" sz="2100" dirty="0" err="1">
                          <a:solidFill>
                            <a:srgbClr val="000000"/>
                          </a:solidFill>
                          <a:latin typeface="Barlow"/>
                          <a:ea typeface="Barlow"/>
                          <a:cs typeface="Barlow"/>
                          <a:sym typeface="Barlow"/>
                        </a:rPr>
                        <a:t>maaf</a:t>
                      </a:r>
                      <a:r>
                        <a:rPr lang="en-US" sz="2100" dirty="0">
                          <a:solidFill>
                            <a:srgbClr val="000000"/>
                          </a:solidFill>
                          <a:latin typeface="Barlow"/>
                          <a:ea typeface="Barlow"/>
                          <a:cs typeface="Barlow"/>
                          <a:sym typeface="Barlow"/>
                        </a:rPr>
                        <a:t> dan </a:t>
                      </a:r>
                      <a:r>
                        <a:rPr lang="en-US" sz="2100" dirty="0" err="1">
                          <a:solidFill>
                            <a:srgbClr val="000000"/>
                          </a:solidFill>
                          <a:latin typeface="Barlow"/>
                          <a:ea typeface="Barlow"/>
                          <a:cs typeface="Barlow"/>
                          <a:sym typeface="Barlow"/>
                        </a:rPr>
                        <a:t>memaafkan</a:t>
                      </a:r>
                      <a:r>
                        <a:rPr lang="en-US" sz="2100" dirty="0">
                          <a:solidFill>
                            <a:srgbClr val="000000"/>
                          </a:solidFill>
                          <a:latin typeface="Barlow"/>
                          <a:ea typeface="Barlow"/>
                          <a:cs typeface="Barlow"/>
                          <a:sym typeface="Barlow"/>
                        </a:rPr>
                        <a:t> </a:t>
                      </a:r>
                      <a:r>
                        <a:rPr lang="en-US" sz="2100" dirty="0" err="1">
                          <a:solidFill>
                            <a:srgbClr val="000000"/>
                          </a:solidFill>
                          <a:latin typeface="Barlow"/>
                          <a:ea typeface="Barlow"/>
                          <a:cs typeface="Barlow"/>
                          <a:sym typeface="Barlow"/>
                        </a:rPr>
                        <a:t>setelah</a:t>
                      </a:r>
                      <a:r>
                        <a:rPr lang="en-US" sz="2100" dirty="0">
                          <a:solidFill>
                            <a:srgbClr val="000000"/>
                          </a:solidFill>
                          <a:latin typeface="Barlow"/>
                          <a:ea typeface="Barlow"/>
                          <a:cs typeface="Barlow"/>
                          <a:sym typeface="Barlow"/>
                        </a:rPr>
                        <a:t> </a:t>
                      </a:r>
                      <a:r>
                        <a:rPr lang="en-US" sz="2100" dirty="0" err="1">
                          <a:solidFill>
                            <a:srgbClr val="000000"/>
                          </a:solidFill>
                          <a:latin typeface="Barlow"/>
                          <a:ea typeface="Barlow"/>
                          <a:cs typeface="Barlow"/>
                          <a:sym typeface="Barlow"/>
                        </a:rPr>
                        <a:t>terjadi</a:t>
                      </a:r>
                      <a:r>
                        <a:rPr lang="en-US" sz="2100" dirty="0">
                          <a:solidFill>
                            <a:srgbClr val="000000"/>
                          </a:solidFill>
                          <a:latin typeface="Barlow"/>
                          <a:ea typeface="Barlow"/>
                          <a:cs typeface="Barlow"/>
                          <a:sym typeface="Barlow"/>
                        </a:rPr>
                        <a:t> </a:t>
                      </a:r>
                      <a:r>
                        <a:rPr lang="en-US" sz="2100" dirty="0" err="1">
                          <a:solidFill>
                            <a:srgbClr val="000000"/>
                          </a:solidFill>
                          <a:latin typeface="Barlow"/>
                          <a:ea typeface="Barlow"/>
                          <a:cs typeface="Barlow"/>
                          <a:sym typeface="Barlow"/>
                        </a:rPr>
                        <a:t>pertengkaran</a:t>
                      </a:r>
                      <a:r>
                        <a:rPr lang="en-US" sz="2100" dirty="0">
                          <a:solidFill>
                            <a:srgbClr val="000000"/>
                          </a:solidFill>
                          <a:latin typeface="Barlow"/>
                          <a:ea typeface="Barlow"/>
                          <a:cs typeface="Barlow"/>
                          <a:sym typeface="Barlow"/>
                        </a:rPr>
                        <a:t> </a:t>
                      </a:r>
                      <a:r>
                        <a:rPr lang="en-US" sz="2100" dirty="0" err="1">
                          <a:solidFill>
                            <a:srgbClr val="000000"/>
                          </a:solidFill>
                          <a:latin typeface="Barlow"/>
                          <a:ea typeface="Barlow"/>
                          <a:cs typeface="Barlow"/>
                          <a:sym typeface="Barlow"/>
                        </a:rPr>
                        <a:t>untuk</a:t>
                      </a:r>
                      <a:r>
                        <a:rPr lang="en-US" sz="2100" dirty="0">
                          <a:solidFill>
                            <a:srgbClr val="000000"/>
                          </a:solidFill>
                          <a:latin typeface="Barlow"/>
                          <a:ea typeface="Barlow"/>
                          <a:cs typeface="Barlow"/>
                          <a:sym typeface="Barlow"/>
                        </a:rPr>
                        <a:t> </a:t>
                      </a:r>
                      <a:r>
                        <a:rPr lang="en-US" sz="2100" dirty="0" err="1">
                          <a:solidFill>
                            <a:srgbClr val="000000"/>
                          </a:solidFill>
                          <a:latin typeface="Barlow"/>
                          <a:ea typeface="Barlow"/>
                          <a:cs typeface="Barlow"/>
                          <a:sym typeface="Barlow"/>
                        </a:rPr>
                        <a:t>memperbaiki</a:t>
                      </a:r>
                      <a:r>
                        <a:rPr lang="en-US" sz="2100" dirty="0">
                          <a:solidFill>
                            <a:srgbClr val="000000"/>
                          </a:solidFill>
                          <a:latin typeface="Barlow"/>
                          <a:ea typeface="Barlow"/>
                          <a:cs typeface="Barlow"/>
                          <a:sym typeface="Barlow"/>
                        </a:rPr>
                        <a:t> </a:t>
                      </a:r>
                      <a:r>
                        <a:rPr lang="en-US" sz="2100" dirty="0" err="1">
                          <a:solidFill>
                            <a:srgbClr val="000000"/>
                          </a:solidFill>
                          <a:latin typeface="Barlow"/>
                          <a:ea typeface="Barlow"/>
                          <a:cs typeface="Barlow"/>
                          <a:sym typeface="Barlow"/>
                        </a:rPr>
                        <a:t>hubungan</a:t>
                      </a:r>
                      <a:r>
                        <a:rPr lang="en-US" sz="2100" dirty="0">
                          <a:solidFill>
                            <a:srgbClr val="000000"/>
                          </a:solidFill>
                          <a:latin typeface="Barlow"/>
                          <a:ea typeface="Barlow"/>
                          <a:cs typeface="Barlow"/>
                          <a:sym typeface="Barlow"/>
                        </a:rPr>
                        <a:t>.</a:t>
                      </a:r>
                    </a:p>
                  </a:txBody>
                  <a:tcPr marL="0" marR="0" marT="0" marB="0" anchor="ctr">
                    <a:lnL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3" name="TextBox 3"/>
          <p:cNvSpPr txBox="1"/>
          <p:nvPr/>
        </p:nvSpPr>
        <p:spPr>
          <a:xfrm>
            <a:off x="4924103" y="586661"/>
            <a:ext cx="8439795" cy="104773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8617"/>
              </a:lnSpc>
            </a:pPr>
            <a:r>
              <a:rPr lang="en-US" sz="6155" b="1">
                <a:solidFill>
                  <a:srgbClr val="000000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5 Keterampilan Sosial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687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1773890" y="3241674"/>
            <a:ext cx="14740219" cy="367030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9799"/>
              </a:lnSpc>
            </a:pPr>
            <a:r>
              <a:rPr lang="en-US" sz="6999" b="1">
                <a:solidFill>
                  <a:srgbClr val="FFFFFF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Aktivitas 2: </a:t>
            </a:r>
          </a:p>
          <a:p>
            <a:pPr algn="ctr">
              <a:lnSpc>
                <a:spcPts val="9799"/>
              </a:lnSpc>
            </a:pPr>
            <a:r>
              <a:rPr lang="en-US" sz="6999" b="1">
                <a:solidFill>
                  <a:srgbClr val="FFFFFF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Latihan Sosiodrama dengan Kartu Skenarioku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687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1773890" y="952500"/>
            <a:ext cx="14740219" cy="134873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5460"/>
              </a:lnSpc>
            </a:pPr>
            <a:r>
              <a:rPr lang="en-US" sz="3900" b="1">
                <a:solidFill>
                  <a:srgbClr val="FFFFFF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Aktivitas 2: </a:t>
            </a:r>
          </a:p>
          <a:p>
            <a:pPr algn="ctr">
              <a:lnSpc>
                <a:spcPts val="5460"/>
              </a:lnSpc>
            </a:pPr>
            <a:r>
              <a:rPr lang="en-US" sz="3900" b="1">
                <a:solidFill>
                  <a:srgbClr val="FFFFFF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Latihan Sosiodrama dengan Kartu Skenarioku</a:t>
            </a:r>
          </a:p>
        </p:txBody>
      </p:sp>
      <p:sp>
        <p:nvSpPr>
          <p:cNvPr id="3" name="TextBox 3"/>
          <p:cNvSpPr txBox="1"/>
          <p:nvPr/>
        </p:nvSpPr>
        <p:spPr>
          <a:xfrm>
            <a:off x="1028700" y="2744956"/>
            <a:ext cx="3009900" cy="580390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4759"/>
              </a:lnSpc>
            </a:pPr>
            <a:r>
              <a:rPr lang="en-US" sz="3399" dirty="0" err="1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Petunjuknya</a:t>
            </a:r>
            <a:r>
              <a:rPr lang="en-US" sz="3399" dirty="0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:</a:t>
            </a:r>
          </a:p>
        </p:txBody>
      </p:sp>
      <p:sp>
        <p:nvSpPr>
          <p:cNvPr id="4" name="TextBox 4"/>
          <p:cNvSpPr txBox="1"/>
          <p:nvPr/>
        </p:nvSpPr>
        <p:spPr>
          <a:xfrm>
            <a:off x="1234996" y="3191688"/>
            <a:ext cx="16024304" cy="631571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734059" lvl="1" indent="-367030" algn="l">
              <a:lnSpc>
                <a:spcPts val="8499"/>
              </a:lnSpc>
              <a:buAutoNum type="arabicPeriod"/>
            </a:pPr>
            <a:r>
              <a:rPr lang="en-US" sz="3399" dirty="0" err="1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Bentuklah</a:t>
            </a:r>
            <a:r>
              <a:rPr lang="en-US" sz="3399" dirty="0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 </a:t>
            </a:r>
            <a:r>
              <a:rPr lang="en-US" sz="3399" dirty="0" err="1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Kelompok</a:t>
            </a:r>
            <a:r>
              <a:rPr lang="en-US" sz="3399" dirty="0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 </a:t>
            </a:r>
            <a:r>
              <a:rPr lang="en-US" sz="3399" dirty="0" err="1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kecil</a:t>
            </a:r>
            <a:r>
              <a:rPr lang="en-US" sz="3399" dirty="0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 </a:t>
            </a:r>
            <a:r>
              <a:rPr lang="en-US" sz="3399" dirty="0" err="1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beranggotakan</a:t>
            </a:r>
            <a:r>
              <a:rPr lang="en-US" sz="3399" dirty="0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 2-3 orang </a:t>
            </a:r>
            <a:r>
              <a:rPr lang="en-US" sz="3399" dirty="0" err="1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perkelompok</a:t>
            </a:r>
            <a:r>
              <a:rPr lang="en-US" sz="3399" dirty="0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,</a:t>
            </a:r>
          </a:p>
          <a:p>
            <a:pPr marL="734059" lvl="1" indent="-367030" algn="l">
              <a:lnSpc>
                <a:spcPts val="8499"/>
              </a:lnSpc>
              <a:buAutoNum type="arabicPeriod"/>
            </a:pPr>
            <a:r>
              <a:rPr lang="en-US" sz="3399" dirty="0" err="1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Bacalah</a:t>
            </a:r>
            <a:r>
              <a:rPr lang="en-US" sz="3399" dirty="0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 </a:t>
            </a:r>
            <a:r>
              <a:rPr lang="en-US" sz="3399" dirty="0" err="1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kartu</a:t>
            </a:r>
            <a:r>
              <a:rPr lang="en-US" sz="3399" dirty="0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 </a:t>
            </a:r>
            <a:r>
              <a:rPr lang="en-US" sz="3399" dirty="0" err="1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skenario</a:t>
            </a:r>
            <a:r>
              <a:rPr lang="en-US" sz="3399" dirty="0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 yang </a:t>
            </a:r>
            <a:r>
              <a:rPr lang="en-US" sz="3399" dirty="0" err="1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telah</a:t>
            </a:r>
            <a:r>
              <a:rPr lang="en-US" sz="3399" dirty="0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 </a:t>
            </a:r>
            <a:r>
              <a:rPr lang="en-US" sz="3399" dirty="0" err="1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dibagikan</a:t>
            </a:r>
            <a:r>
              <a:rPr lang="en-US" sz="3399" dirty="0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 oleh guru BK dan </a:t>
            </a:r>
            <a:r>
              <a:rPr lang="en-US" sz="3399" dirty="0" err="1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tentukan</a:t>
            </a:r>
            <a:r>
              <a:rPr lang="en-US" sz="3399" dirty="0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 </a:t>
            </a:r>
            <a:r>
              <a:rPr lang="en-US" sz="3399" dirty="0" err="1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pemerannya</a:t>
            </a:r>
            <a:r>
              <a:rPr lang="en-US" sz="3399" dirty="0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,</a:t>
            </a:r>
          </a:p>
          <a:p>
            <a:pPr marL="734059" lvl="1" indent="-367030" algn="l">
              <a:lnSpc>
                <a:spcPts val="8499"/>
              </a:lnSpc>
              <a:buAutoNum type="arabicPeriod"/>
            </a:pPr>
            <a:r>
              <a:rPr lang="en-US" sz="3399" dirty="0" err="1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Silahakan</a:t>
            </a:r>
            <a:r>
              <a:rPr lang="en-US" sz="3399" dirty="0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 </a:t>
            </a:r>
            <a:r>
              <a:rPr lang="en-US" sz="3399" dirty="0" err="1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tuliskan</a:t>
            </a:r>
            <a:r>
              <a:rPr lang="en-US" sz="3399" dirty="0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 </a:t>
            </a:r>
            <a:r>
              <a:rPr lang="en-US" sz="3399" dirty="0" err="1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apa</a:t>
            </a:r>
            <a:r>
              <a:rPr lang="en-US" sz="3399" dirty="0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 yang </a:t>
            </a:r>
            <a:r>
              <a:rPr lang="en-US" sz="3399" dirty="0" err="1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akan</a:t>
            </a:r>
            <a:r>
              <a:rPr lang="en-US" sz="3399" dirty="0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 </a:t>
            </a:r>
            <a:r>
              <a:rPr lang="en-US" sz="3399" dirty="0" err="1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kamu</a:t>
            </a:r>
            <a:r>
              <a:rPr lang="en-US" sz="3399" dirty="0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 </a:t>
            </a:r>
            <a:r>
              <a:rPr lang="en-US" sz="3399" dirty="0" err="1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lakukan</a:t>
            </a:r>
            <a:r>
              <a:rPr lang="en-US" sz="3399" dirty="0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 </a:t>
            </a:r>
            <a:r>
              <a:rPr lang="en-US" sz="3399" dirty="0" err="1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atau</a:t>
            </a:r>
            <a:r>
              <a:rPr lang="en-US" sz="3399" dirty="0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 </a:t>
            </a:r>
            <a:r>
              <a:rPr lang="en-US" sz="3399" dirty="0" err="1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katakan</a:t>
            </a:r>
            <a:r>
              <a:rPr lang="en-US" sz="3399" dirty="0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 </a:t>
            </a:r>
            <a:r>
              <a:rPr lang="en-US" sz="3399" dirty="0" err="1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sesuai</a:t>
            </a:r>
            <a:r>
              <a:rPr lang="en-US" sz="3399" dirty="0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 </a:t>
            </a:r>
            <a:r>
              <a:rPr lang="en-US" sz="3399" dirty="0" err="1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dengan</a:t>
            </a:r>
            <a:r>
              <a:rPr lang="en-US" sz="3399" dirty="0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 </a:t>
            </a:r>
            <a:r>
              <a:rPr lang="en-US" sz="3399" dirty="0" err="1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kartu</a:t>
            </a:r>
            <a:r>
              <a:rPr lang="en-US" sz="3399" dirty="0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 </a:t>
            </a:r>
            <a:r>
              <a:rPr lang="en-US" sz="3399" dirty="0" err="1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kasusmu</a:t>
            </a:r>
            <a:r>
              <a:rPr lang="en-US" sz="3399" dirty="0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, </a:t>
            </a:r>
          </a:p>
          <a:p>
            <a:pPr marL="734059" lvl="1" indent="-367030" algn="l">
              <a:lnSpc>
                <a:spcPts val="8499"/>
              </a:lnSpc>
              <a:buAutoNum type="arabicPeriod"/>
            </a:pPr>
            <a:r>
              <a:rPr lang="en-US" sz="3399" dirty="0" err="1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Praktekkan</a:t>
            </a:r>
            <a:r>
              <a:rPr lang="en-US" sz="3399" dirty="0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 di </a:t>
            </a:r>
            <a:r>
              <a:rPr lang="en-US" sz="3399" dirty="0" err="1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depan</a:t>
            </a:r>
            <a:r>
              <a:rPr lang="en-US" sz="3399" dirty="0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 </a:t>
            </a:r>
            <a:r>
              <a:rPr lang="en-US" sz="3399" dirty="0" err="1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kelas</a:t>
            </a:r>
            <a:r>
              <a:rPr lang="en-US" sz="3399" dirty="0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 </a:t>
            </a:r>
            <a:r>
              <a:rPr lang="en-US" sz="3399" dirty="0" err="1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dalam</a:t>
            </a:r>
            <a:r>
              <a:rPr lang="en-US" sz="3399" dirty="0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 </a:t>
            </a:r>
            <a:r>
              <a:rPr lang="en-US" sz="3399" dirty="0" err="1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permaina</a:t>
            </a:r>
            <a:r>
              <a:rPr lang="en-US" sz="3399" dirty="0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 </a:t>
            </a:r>
            <a:r>
              <a:rPr lang="en-US" sz="3399" dirty="0" err="1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peran</a:t>
            </a:r>
            <a:r>
              <a:rPr lang="en-US" sz="3399" dirty="0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687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1773890" y="952500"/>
            <a:ext cx="14740219" cy="134873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5460"/>
              </a:lnSpc>
            </a:pPr>
            <a:r>
              <a:rPr lang="en-US" sz="3900" b="1">
                <a:solidFill>
                  <a:srgbClr val="FFFFFF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Aktivitas 2: </a:t>
            </a:r>
          </a:p>
          <a:p>
            <a:pPr algn="ctr">
              <a:lnSpc>
                <a:spcPts val="5460"/>
              </a:lnSpc>
            </a:pPr>
            <a:r>
              <a:rPr lang="en-US" sz="3900" b="1">
                <a:solidFill>
                  <a:srgbClr val="FFFFFF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Latihan Sosiodrama dengan Kartu Skenarioku</a:t>
            </a:r>
          </a:p>
        </p:txBody>
      </p:sp>
      <p:sp>
        <p:nvSpPr>
          <p:cNvPr id="3" name="TextBox 3"/>
          <p:cNvSpPr txBox="1"/>
          <p:nvPr/>
        </p:nvSpPr>
        <p:spPr>
          <a:xfrm>
            <a:off x="1097528" y="2632481"/>
            <a:ext cx="4007871" cy="580390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4759"/>
              </a:lnSpc>
            </a:pPr>
            <a:r>
              <a:rPr lang="en-US" sz="3399" b="1" dirty="0" err="1">
                <a:solidFill>
                  <a:srgbClr val="FFFFFF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Refleksi</a:t>
            </a:r>
            <a:r>
              <a:rPr lang="en-US" sz="3399" b="1" dirty="0">
                <a:solidFill>
                  <a:srgbClr val="FFFFFF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 Bersama</a:t>
            </a:r>
          </a:p>
        </p:txBody>
      </p:sp>
      <p:sp>
        <p:nvSpPr>
          <p:cNvPr id="4" name="TextBox 4"/>
          <p:cNvSpPr txBox="1"/>
          <p:nvPr/>
        </p:nvSpPr>
        <p:spPr>
          <a:xfrm>
            <a:off x="1234996" y="3191688"/>
            <a:ext cx="16024304" cy="308673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734059" lvl="1" indent="-367030" algn="l">
              <a:lnSpc>
                <a:spcPts val="8499"/>
              </a:lnSpc>
              <a:buAutoNum type="arabicPeriod"/>
            </a:pPr>
            <a:r>
              <a:rPr lang="en-US" sz="3399" dirty="0" err="1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Keterampilan</a:t>
            </a:r>
            <a:r>
              <a:rPr lang="en-US" sz="3399" dirty="0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 </a:t>
            </a:r>
            <a:r>
              <a:rPr lang="en-US" sz="3399" dirty="0" err="1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sosial</a:t>
            </a:r>
            <a:r>
              <a:rPr lang="en-US" sz="3399" dirty="0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 </a:t>
            </a:r>
            <a:r>
              <a:rPr lang="en-US" sz="3399" dirty="0" err="1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apa</a:t>
            </a:r>
            <a:r>
              <a:rPr lang="en-US" sz="3399" dirty="0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 yang </a:t>
            </a:r>
            <a:r>
              <a:rPr lang="en-US" sz="3399" dirty="0" err="1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muncul</a:t>
            </a:r>
            <a:r>
              <a:rPr lang="en-US" sz="3399" dirty="0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?</a:t>
            </a:r>
          </a:p>
          <a:p>
            <a:pPr marL="734059" lvl="1" indent="-367030" algn="l">
              <a:lnSpc>
                <a:spcPts val="8499"/>
              </a:lnSpc>
              <a:buAutoNum type="arabicPeriod"/>
            </a:pPr>
            <a:r>
              <a:rPr lang="en-US" sz="3399" dirty="0" err="1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Bagaimana</a:t>
            </a:r>
            <a:r>
              <a:rPr lang="en-US" sz="3399" dirty="0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 </a:t>
            </a:r>
            <a:r>
              <a:rPr lang="en-US" sz="3399" dirty="0" err="1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penyelesaian</a:t>
            </a:r>
            <a:r>
              <a:rPr lang="en-US" sz="3399" dirty="0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 </a:t>
            </a:r>
            <a:r>
              <a:rPr lang="en-US" sz="3399" dirty="0" err="1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masalahnya</a:t>
            </a:r>
            <a:r>
              <a:rPr lang="en-US" sz="3399" dirty="0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?</a:t>
            </a:r>
          </a:p>
          <a:p>
            <a:pPr marL="734059" lvl="1" indent="-367030" algn="l">
              <a:lnSpc>
                <a:spcPts val="8499"/>
              </a:lnSpc>
              <a:buAutoNum type="arabicPeriod"/>
            </a:pPr>
            <a:r>
              <a:rPr lang="en-US" sz="3399" dirty="0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Apa yang </a:t>
            </a:r>
            <a:r>
              <a:rPr lang="en-US" sz="3399" dirty="0" err="1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dapat</a:t>
            </a:r>
            <a:r>
              <a:rPr lang="en-US" sz="3399" dirty="0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 </a:t>
            </a:r>
            <a:r>
              <a:rPr lang="en-US" sz="3399" dirty="0" err="1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dipelajari</a:t>
            </a:r>
            <a:r>
              <a:rPr lang="en-US" sz="3399" dirty="0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?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687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1773889" y="2386679"/>
            <a:ext cx="14740219" cy="243205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9799"/>
              </a:lnSpc>
            </a:pPr>
            <a:r>
              <a:rPr lang="en-US" sz="6999" b="1" dirty="0" err="1">
                <a:solidFill>
                  <a:srgbClr val="FFFFFF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Aktivitas</a:t>
            </a:r>
            <a:r>
              <a:rPr lang="en-US" sz="6999" b="1" dirty="0">
                <a:solidFill>
                  <a:srgbClr val="FFFFFF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 3: </a:t>
            </a:r>
          </a:p>
          <a:p>
            <a:pPr algn="ctr">
              <a:lnSpc>
                <a:spcPts val="9799"/>
              </a:lnSpc>
            </a:pPr>
            <a:r>
              <a:rPr lang="en-US" sz="6999" b="1" dirty="0">
                <a:solidFill>
                  <a:srgbClr val="FFFFFF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Surat </a:t>
            </a:r>
            <a:r>
              <a:rPr lang="en-US" sz="6999" b="1" dirty="0" err="1">
                <a:solidFill>
                  <a:srgbClr val="FFFFFF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Apresiasi</a:t>
            </a:r>
            <a:r>
              <a:rPr lang="en-US" sz="6999" b="1" dirty="0">
                <a:solidFill>
                  <a:srgbClr val="FFFFFF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 </a:t>
            </a:r>
            <a:r>
              <a:rPr lang="en-US" sz="6999" b="1" dirty="0" err="1">
                <a:solidFill>
                  <a:srgbClr val="FFFFFF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untuk</a:t>
            </a:r>
            <a:r>
              <a:rPr lang="en-US" sz="6999" b="1" dirty="0">
                <a:solidFill>
                  <a:srgbClr val="FFFFFF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 </a:t>
            </a:r>
            <a:r>
              <a:rPr lang="en-US" sz="6999" b="1" dirty="0" err="1">
                <a:solidFill>
                  <a:srgbClr val="FFFFFF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Temanku</a:t>
            </a:r>
            <a:endParaRPr lang="en-US" sz="6999" b="1" dirty="0">
              <a:solidFill>
                <a:srgbClr val="FFFFFF"/>
              </a:solidFill>
              <a:latin typeface="Open Sans Bold"/>
              <a:ea typeface="Open Sans Bold"/>
              <a:cs typeface="Open Sans Bold"/>
              <a:sym typeface="Open Sans Bold"/>
            </a:endParaRPr>
          </a:p>
        </p:txBody>
      </p:sp>
      <p:sp>
        <p:nvSpPr>
          <p:cNvPr id="3" name="TextBox 3"/>
          <p:cNvSpPr txBox="1"/>
          <p:nvPr/>
        </p:nvSpPr>
        <p:spPr>
          <a:xfrm>
            <a:off x="1765783" y="5179979"/>
            <a:ext cx="14740219" cy="118046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759"/>
              </a:lnSpc>
            </a:pPr>
            <a:r>
              <a:rPr lang="en-US" sz="3399" i="1" dirty="0">
                <a:solidFill>
                  <a:srgbClr val="FFFFFF"/>
                </a:solidFill>
                <a:latin typeface="Open Sans Italics"/>
                <a:ea typeface="Open Sans Italics"/>
                <a:cs typeface="Open Sans Italics"/>
                <a:sym typeface="Open Sans Italics"/>
              </a:rPr>
              <a:t>"</a:t>
            </a:r>
            <a:r>
              <a:rPr lang="en-US" sz="3399" i="1" dirty="0" err="1">
                <a:solidFill>
                  <a:srgbClr val="FFFFFF"/>
                </a:solidFill>
                <a:latin typeface="Open Sans Italics"/>
                <a:ea typeface="Open Sans Italics"/>
                <a:cs typeface="Open Sans Italics"/>
                <a:sym typeface="Open Sans Italics"/>
              </a:rPr>
              <a:t>Tulislah</a:t>
            </a:r>
            <a:r>
              <a:rPr lang="en-US" sz="3399" i="1" dirty="0">
                <a:solidFill>
                  <a:srgbClr val="FFFFFF"/>
                </a:solidFill>
                <a:latin typeface="Open Sans Italics"/>
                <a:ea typeface="Open Sans Italics"/>
                <a:cs typeface="Open Sans Italics"/>
                <a:sym typeface="Open Sans Italics"/>
              </a:rPr>
              <a:t> </a:t>
            </a:r>
            <a:r>
              <a:rPr lang="en-US" sz="3399" i="1" dirty="0" err="1">
                <a:solidFill>
                  <a:srgbClr val="FFFFFF"/>
                </a:solidFill>
                <a:latin typeface="Open Sans Italics"/>
                <a:ea typeface="Open Sans Italics"/>
                <a:cs typeface="Open Sans Italics"/>
                <a:sym typeface="Open Sans Italics"/>
              </a:rPr>
              <a:t>surat</a:t>
            </a:r>
            <a:r>
              <a:rPr lang="en-US" sz="3399" i="1" dirty="0">
                <a:solidFill>
                  <a:srgbClr val="FFFFFF"/>
                </a:solidFill>
                <a:latin typeface="Open Sans Italics"/>
                <a:ea typeface="Open Sans Italics"/>
                <a:cs typeface="Open Sans Italics"/>
                <a:sym typeface="Open Sans Italics"/>
              </a:rPr>
              <a:t> </a:t>
            </a:r>
            <a:r>
              <a:rPr lang="en-US" sz="3399" i="1" dirty="0" err="1">
                <a:solidFill>
                  <a:srgbClr val="FFFFFF"/>
                </a:solidFill>
                <a:latin typeface="Open Sans Italics"/>
                <a:ea typeface="Open Sans Italics"/>
                <a:cs typeface="Open Sans Italics"/>
                <a:sym typeface="Open Sans Italics"/>
              </a:rPr>
              <a:t>singkat</a:t>
            </a:r>
            <a:r>
              <a:rPr lang="en-US" sz="3399" i="1" dirty="0">
                <a:solidFill>
                  <a:srgbClr val="FFFFFF"/>
                </a:solidFill>
                <a:latin typeface="Open Sans Italics"/>
                <a:ea typeface="Open Sans Italics"/>
                <a:cs typeface="Open Sans Italics"/>
                <a:sym typeface="Open Sans Italics"/>
              </a:rPr>
              <a:t> </a:t>
            </a:r>
            <a:r>
              <a:rPr lang="en-US" sz="3399" i="1" dirty="0" err="1">
                <a:solidFill>
                  <a:srgbClr val="FFFFFF"/>
                </a:solidFill>
                <a:latin typeface="Open Sans Italics"/>
                <a:ea typeface="Open Sans Italics"/>
                <a:cs typeface="Open Sans Italics"/>
                <a:sym typeface="Open Sans Italics"/>
              </a:rPr>
              <a:t>berisi</a:t>
            </a:r>
            <a:r>
              <a:rPr lang="en-US" sz="3399" i="1" dirty="0">
                <a:solidFill>
                  <a:srgbClr val="FFFFFF"/>
                </a:solidFill>
                <a:latin typeface="Open Sans Italics"/>
                <a:ea typeface="Open Sans Italics"/>
                <a:cs typeface="Open Sans Italics"/>
                <a:sym typeface="Open Sans Italics"/>
              </a:rPr>
              <a:t> </a:t>
            </a:r>
            <a:r>
              <a:rPr lang="en-US" sz="3399" i="1" dirty="0" err="1">
                <a:solidFill>
                  <a:srgbClr val="FFFFFF"/>
                </a:solidFill>
                <a:latin typeface="Open Sans Italics"/>
                <a:ea typeface="Open Sans Italics"/>
                <a:cs typeface="Open Sans Italics"/>
                <a:sym typeface="Open Sans Italics"/>
              </a:rPr>
              <a:t>apresiasi</a:t>
            </a:r>
            <a:r>
              <a:rPr lang="en-US" sz="3399" i="1" dirty="0">
                <a:solidFill>
                  <a:srgbClr val="FFFFFF"/>
                </a:solidFill>
                <a:latin typeface="Open Sans Italics"/>
                <a:ea typeface="Open Sans Italics"/>
                <a:cs typeface="Open Sans Italics"/>
                <a:sym typeface="Open Sans Italics"/>
              </a:rPr>
              <a:t> </a:t>
            </a:r>
            <a:r>
              <a:rPr lang="en-US" sz="3399" i="1" dirty="0" err="1">
                <a:solidFill>
                  <a:srgbClr val="FFFFFF"/>
                </a:solidFill>
                <a:latin typeface="Open Sans Italics"/>
                <a:ea typeface="Open Sans Italics"/>
                <a:cs typeface="Open Sans Italics"/>
                <a:sym typeface="Open Sans Italics"/>
              </a:rPr>
              <a:t>kepada</a:t>
            </a:r>
            <a:r>
              <a:rPr lang="en-US" sz="3399" i="1" dirty="0">
                <a:solidFill>
                  <a:srgbClr val="FFFFFF"/>
                </a:solidFill>
                <a:latin typeface="Open Sans Italics"/>
                <a:ea typeface="Open Sans Italics"/>
                <a:cs typeface="Open Sans Italics"/>
                <a:sym typeface="Open Sans Italics"/>
              </a:rPr>
              <a:t> salah </a:t>
            </a:r>
            <a:r>
              <a:rPr lang="en-US" sz="3399" i="1" dirty="0" err="1">
                <a:solidFill>
                  <a:srgbClr val="FFFFFF"/>
                </a:solidFill>
                <a:latin typeface="Open Sans Italics"/>
                <a:ea typeface="Open Sans Italics"/>
                <a:cs typeface="Open Sans Italics"/>
                <a:sym typeface="Open Sans Italics"/>
              </a:rPr>
              <a:t>satu</a:t>
            </a:r>
            <a:r>
              <a:rPr lang="en-US" sz="3399" i="1" dirty="0">
                <a:solidFill>
                  <a:srgbClr val="FFFFFF"/>
                </a:solidFill>
                <a:latin typeface="Open Sans Italics"/>
                <a:ea typeface="Open Sans Italics"/>
                <a:cs typeface="Open Sans Italics"/>
                <a:sym typeface="Open Sans Italics"/>
              </a:rPr>
              <a:t> </a:t>
            </a:r>
            <a:r>
              <a:rPr lang="en-US" sz="3399" i="1" dirty="0" err="1">
                <a:solidFill>
                  <a:srgbClr val="FFFFFF"/>
                </a:solidFill>
                <a:latin typeface="Open Sans Italics"/>
                <a:ea typeface="Open Sans Italics"/>
                <a:cs typeface="Open Sans Italics"/>
                <a:sym typeface="Open Sans Italics"/>
              </a:rPr>
              <a:t>teman</a:t>
            </a:r>
            <a:r>
              <a:rPr lang="en-US" sz="3399" i="1" dirty="0">
                <a:solidFill>
                  <a:srgbClr val="FFFFFF"/>
                </a:solidFill>
                <a:latin typeface="Open Sans Italics"/>
                <a:ea typeface="Open Sans Italics"/>
                <a:cs typeface="Open Sans Italics"/>
                <a:sym typeface="Open Sans Italics"/>
              </a:rPr>
              <a:t> </a:t>
            </a:r>
            <a:r>
              <a:rPr lang="en-US" sz="3399" i="1" dirty="0" err="1">
                <a:solidFill>
                  <a:srgbClr val="FFFFFF"/>
                </a:solidFill>
                <a:latin typeface="Open Sans Italics"/>
                <a:ea typeface="Open Sans Italics"/>
                <a:cs typeface="Open Sans Italics"/>
                <a:sym typeface="Open Sans Italics"/>
              </a:rPr>
              <a:t>sekelas</a:t>
            </a:r>
            <a:r>
              <a:rPr lang="en-US" sz="3399" i="1" dirty="0">
                <a:solidFill>
                  <a:srgbClr val="FFFFFF"/>
                </a:solidFill>
                <a:latin typeface="Open Sans Italics"/>
                <a:ea typeface="Open Sans Italics"/>
                <a:cs typeface="Open Sans Italics"/>
                <a:sym typeface="Open Sans Italics"/>
              </a:rPr>
              <a:t>. </a:t>
            </a:r>
            <a:r>
              <a:rPr lang="en-US" sz="3399" i="1" dirty="0" err="1">
                <a:solidFill>
                  <a:srgbClr val="FFFFFF"/>
                </a:solidFill>
                <a:latin typeface="Open Sans Italics"/>
                <a:ea typeface="Open Sans Italics"/>
                <a:cs typeface="Open Sans Italics"/>
                <a:sym typeface="Open Sans Italics"/>
              </a:rPr>
              <a:t>Fokus</a:t>
            </a:r>
            <a:r>
              <a:rPr lang="en-US" sz="3399" i="1" dirty="0">
                <a:solidFill>
                  <a:srgbClr val="FFFFFF"/>
                </a:solidFill>
                <a:latin typeface="Open Sans Italics"/>
                <a:ea typeface="Open Sans Italics"/>
                <a:cs typeface="Open Sans Italics"/>
                <a:sym typeface="Open Sans Italics"/>
              </a:rPr>
              <a:t> pada </a:t>
            </a:r>
            <a:r>
              <a:rPr lang="en-US" sz="3399" i="1" dirty="0" err="1">
                <a:solidFill>
                  <a:srgbClr val="FFFFFF"/>
                </a:solidFill>
                <a:latin typeface="Open Sans Italics"/>
                <a:ea typeface="Open Sans Italics"/>
                <a:cs typeface="Open Sans Italics"/>
                <a:sym typeface="Open Sans Italics"/>
              </a:rPr>
              <a:t>hal-hal</a:t>
            </a:r>
            <a:r>
              <a:rPr lang="en-US" sz="3399" i="1" dirty="0">
                <a:solidFill>
                  <a:srgbClr val="FFFFFF"/>
                </a:solidFill>
                <a:latin typeface="Open Sans Italics"/>
                <a:ea typeface="Open Sans Italics"/>
                <a:cs typeface="Open Sans Italics"/>
                <a:sym typeface="Open Sans Italics"/>
              </a:rPr>
              <a:t> </a:t>
            </a:r>
            <a:r>
              <a:rPr lang="en-US" sz="3399" i="1" dirty="0" err="1">
                <a:solidFill>
                  <a:srgbClr val="FFFFFF"/>
                </a:solidFill>
                <a:latin typeface="Open Sans Italics"/>
                <a:ea typeface="Open Sans Italics"/>
                <a:cs typeface="Open Sans Italics"/>
                <a:sym typeface="Open Sans Italics"/>
              </a:rPr>
              <a:t>positif</a:t>
            </a:r>
            <a:r>
              <a:rPr lang="en-US" sz="3399" i="1" dirty="0">
                <a:solidFill>
                  <a:srgbClr val="FFFFFF"/>
                </a:solidFill>
                <a:latin typeface="Open Sans Italics"/>
                <a:ea typeface="Open Sans Italics"/>
                <a:cs typeface="Open Sans Italics"/>
                <a:sym typeface="Open Sans Italics"/>
              </a:rPr>
              <a:t> yang </a:t>
            </a:r>
            <a:r>
              <a:rPr lang="en-US" sz="3399" i="1" dirty="0" err="1">
                <a:solidFill>
                  <a:srgbClr val="FFFFFF"/>
                </a:solidFill>
                <a:latin typeface="Open Sans Italics"/>
                <a:ea typeface="Open Sans Italics"/>
                <a:cs typeface="Open Sans Italics"/>
                <a:sym typeface="Open Sans Italics"/>
              </a:rPr>
              <a:t>pernah</a:t>
            </a:r>
            <a:r>
              <a:rPr lang="en-US" sz="3399" i="1" dirty="0">
                <a:solidFill>
                  <a:srgbClr val="FFFFFF"/>
                </a:solidFill>
                <a:latin typeface="Open Sans Italics"/>
                <a:ea typeface="Open Sans Italics"/>
                <a:cs typeface="Open Sans Italics"/>
                <a:sym typeface="Open Sans Italics"/>
              </a:rPr>
              <a:t> </a:t>
            </a:r>
            <a:r>
              <a:rPr lang="en-US" sz="3399" i="1" dirty="0" err="1">
                <a:solidFill>
                  <a:srgbClr val="FFFFFF"/>
                </a:solidFill>
                <a:latin typeface="Open Sans Italics"/>
                <a:ea typeface="Open Sans Italics"/>
                <a:cs typeface="Open Sans Italics"/>
                <a:sym typeface="Open Sans Italics"/>
              </a:rPr>
              <a:t>ia</a:t>
            </a:r>
            <a:r>
              <a:rPr lang="en-US" sz="3399" i="1" dirty="0">
                <a:solidFill>
                  <a:srgbClr val="FFFFFF"/>
                </a:solidFill>
                <a:latin typeface="Open Sans Italics"/>
                <a:ea typeface="Open Sans Italics"/>
                <a:cs typeface="Open Sans Italics"/>
                <a:sym typeface="Open Sans Italics"/>
              </a:rPr>
              <a:t> </a:t>
            </a:r>
            <a:r>
              <a:rPr lang="en-US" sz="3399" i="1" dirty="0" err="1">
                <a:solidFill>
                  <a:srgbClr val="FFFFFF"/>
                </a:solidFill>
                <a:latin typeface="Open Sans Italics"/>
                <a:ea typeface="Open Sans Italics"/>
                <a:cs typeface="Open Sans Italics"/>
                <a:sym typeface="Open Sans Italics"/>
              </a:rPr>
              <a:t>lakukan</a:t>
            </a:r>
            <a:r>
              <a:rPr lang="en-US" sz="3399" i="1" dirty="0">
                <a:solidFill>
                  <a:srgbClr val="FFFFFF"/>
                </a:solidFill>
                <a:latin typeface="Open Sans Italics"/>
                <a:ea typeface="Open Sans Italics"/>
                <a:cs typeface="Open Sans Italics"/>
                <a:sym typeface="Open Sans Italics"/>
              </a:rPr>
              <a:t>."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687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1773890" y="2440600"/>
            <a:ext cx="14740219" cy="119380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9799"/>
              </a:lnSpc>
            </a:pPr>
            <a:r>
              <a:rPr lang="en-US" sz="6999" b="1">
                <a:solidFill>
                  <a:srgbClr val="FFFFFF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Refleksi Kegiatan</a:t>
            </a:r>
          </a:p>
        </p:txBody>
      </p:sp>
      <p:sp>
        <p:nvSpPr>
          <p:cNvPr id="3" name="TextBox 3"/>
          <p:cNvSpPr txBox="1"/>
          <p:nvPr/>
        </p:nvSpPr>
        <p:spPr>
          <a:xfrm>
            <a:off x="1028700" y="3919855"/>
            <a:ext cx="16230600" cy="418084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759"/>
              </a:lnSpc>
            </a:pPr>
            <a:r>
              <a:rPr lang="en-US" sz="3399" i="1">
                <a:solidFill>
                  <a:srgbClr val="FFFFFF"/>
                </a:solidFill>
                <a:latin typeface="Open Sans Italics"/>
                <a:ea typeface="Open Sans Italics"/>
                <a:cs typeface="Open Sans Italics"/>
                <a:sym typeface="Open Sans Italics"/>
              </a:rPr>
              <a:t>"Keterampilan sosial bukan hanya tentang bagaimana kita berbicara, tetapi juga tentang bagaimana kita mendengarkan, memahami, menghargai, dan memperlakukan orang lain dengan baik. Mulailah dari langkah kecil hari ini: menyapa teman, mendengarkan dengan tulus, menghargai perbedaan, dan menyelesaikan masalah dengan cara yang baik. Jadilah pribadi yang membawa kenyamanan dan kebaikan bagi lingkungan sekitarmu."</a:t>
            </a:r>
          </a:p>
          <a:p>
            <a:pPr algn="ctr">
              <a:lnSpc>
                <a:spcPts val="4759"/>
              </a:lnSpc>
            </a:pPr>
            <a:endParaRPr lang="en-US" sz="3399" i="1">
              <a:solidFill>
                <a:srgbClr val="FFFFFF"/>
              </a:solidFill>
              <a:latin typeface="Open Sans Italics"/>
              <a:ea typeface="Open Sans Italics"/>
              <a:cs typeface="Open Sans Italics"/>
              <a:sym typeface="Open Sans Italics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687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1773890" y="3746965"/>
            <a:ext cx="14740219" cy="119380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9799"/>
              </a:lnSpc>
            </a:pPr>
            <a:r>
              <a:rPr lang="en-US" sz="6999" b="1">
                <a:solidFill>
                  <a:srgbClr val="FFFFFF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RENCANA TINDAK LANJUT</a:t>
            </a:r>
          </a:p>
        </p:txBody>
      </p:sp>
      <p:sp>
        <p:nvSpPr>
          <p:cNvPr id="3" name="TextBox 3"/>
          <p:cNvSpPr txBox="1"/>
          <p:nvPr/>
        </p:nvSpPr>
        <p:spPr>
          <a:xfrm>
            <a:off x="1028700" y="5226220"/>
            <a:ext cx="16230600" cy="118046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759"/>
              </a:lnSpc>
            </a:pPr>
            <a:r>
              <a:rPr lang="en-US" sz="3399" i="1">
                <a:solidFill>
                  <a:srgbClr val="FFFFFF"/>
                </a:solidFill>
                <a:latin typeface="Open Sans Italics"/>
                <a:ea typeface="Open Sans Italics"/>
                <a:cs typeface="Open Sans Italics"/>
                <a:sym typeface="Open Sans Italics"/>
              </a:rPr>
              <a:t>"Selama satu minggu ke depan, coba praktikkan satu keterampilan sosial yang ingin kalian tingkatkan dan catat pengalaman kalian."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687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1773890" y="3450535"/>
            <a:ext cx="14740219" cy="119380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9799"/>
              </a:lnSpc>
            </a:pPr>
            <a:r>
              <a:rPr lang="en-US" sz="6999" b="1">
                <a:solidFill>
                  <a:srgbClr val="FFFFFF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KOMITMEN BERSAMA</a:t>
            </a:r>
          </a:p>
        </p:txBody>
      </p:sp>
      <p:sp>
        <p:nvSpPr>
          <p:cNvPr id="3" name="TextBox 3"/>
          <p:cNvSpPr txBox="1"/>
          <p:nvPr/>
        </p:nvSpPr>
        <p:spPr>
          <a:xfrm>
            <a:off x="1028700" y="5197645"/>
            <a:ext cx="16230600" cy="262572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6999"/>
              </a:lnSpc>
            </a:pPr>
            <a:r>
              <a:rPr lang="en-US" sz="4999" i="1" dirty="0">
                <a:solidFill>
                  <a:srgbClr val="FFFFFF"/>
                </a:solidFill>
                <a:latin typeface="Open Sans Italics"/>
                <a:ea typeface="Open Sans Italics"/>
                <a:cs typeface="Open Sans Italics"/>
                <a:sym typeface="Open Sans Italics"/>
              </a:rPr>
              <a:t>'Mulai </a:t>
            </a:r>
            <a:r>
              <a:rPr lang="en-US" sz="4999" i="1" dirty="0" err="1">
                <a:solidFill>
                  <a:srgbClr val="FFFFFF"/>
                </a:solidFill>
                <a:latin typeface="Open Sans Italics"/>
                <a:ea typeface="Open Sans Italics"/>
                <a:cs typeface="Open Sans Italics"/>
                <a:sym typeface="Open Sans Italics"/>
              </a:rPr>
              <a:t>hari</a:t>
            </a:r>
            <a:r>
              <a:rPr lang="en-US" sz="4999" i="1" dirty="0">
                <a:solidFill>
                  <a:srgbClr val="FFFFFF"/>
                </a:solidFill>
                <a:latin typeface="Open Sans Italics"/>
                <a:ea typeface="Open Sans Italics"/>
                <a:cs typeface="Open Sans Italics"/>
                <a:sym typeface="Open Sans Italics"/>
              </a:rPr>
              <a:t> </a:t>
            </a:r>
            <a:r>
              <a:rPr lang="en-US" sz="4999" i="1" dirty="0" err="1">
                <a:solidFill>
                  <a:srgbClr val="FFFFFF"/>
                </a:solidFill>
                <a:latin typeface="Open Sans Italics"/>
                <a:ea typeface="Open Sans Italics"/>
                <a:cs typeface="Open Sans Italics"/>
                <a:sym typeface="Open Sans Italics"/>
              </a:rPr>
              <a:t>ini</a:t>
            </a:r>
            <a:r>
              <a:rPr lang="en-US" sz="4999" i="1" dirty="0">
                <a:solidFill>
                  <a:srgbClr val="FFFFFF"/>
                </a:solidFill>
                <a:latin typeface="Open Sans Italics"/>
                <a:ea typeface="Open Sans Italics"/>
                <a:cs typeface="Open Sans Italics"/>
                <a:sym typeface="Open Sans Italics"/>
              </a:rPr>
              <a:t>, </a:t>
            </a:r>
            <a:r>
              <a:rPr lang="en-US" sz="4999" i="1" dirty="0" err="1">
                <a:solidFill>
                  <a:srgbClr val="FFFFFF"/>
                </a:solidFill>
                <a:latin typeface="Open Sans Italics"/>
                <a:ea typeface="Open Sans Italics"/>
                <a:cs typeface="Open Sans Italics"/>
                <a:sym typeface="Open Sans Italics"/>
              </a:rPr>
              <a:t>saya</a:t>
            </a:r>
            <a:r>
              <a:rPr lang="en-US" sz="4999" i="1" dirty="0">
                <a:solidFill>
                  <a:srgbClr val="FFFFFF"/>
                </a:solidFill>
                <a:latin typeface="Open Sans Italics"/>
                <a:ea typeface="Open Sans Italics"/>
                <a:cs typeface="Open Sans Italics"/>
                <a:sym typeface="Open Sans Italics"/>
              </a:rPr>
              <a:t> </a:t>
            </a:r>
            <a:r>
              <a:rPr lang="en-US" sz="4999" i="1" dirty="0" err="1">
                <a:solidFill>
                  <a:srgbClr val="FFFFFF"/>
                </a:solidFill>
                <a:latin typeface="Open Sans Italics"/>
                <a:ea typeface="Open Sans Italics"/>
                <a:cs typeface="Open Sans Italics"/>
                <a:sym typeface="Open Sans Italics"/>
              </a:rPr>
              <a:t>berkomitmen</a:t>
            </a:r>
            <a:r>
              <a:rPr lang="en-US" sz="4999" i="1" dirty="0">
                <a:solidFill>
                  <a:srgbClr val="FFFFFF"/>
                </a:solidFill>
                <a:latin typeface="Open Sans Italics"/>
                <a:ea typeface="Open Sans Italics"/>
                <a:cs typeface="Open Sans Italics"/>
                <a:sym typeface="Open Sans Italics"/>
              </a:rPr>
              <a:t> </a:t>
            </a:r>
            <a:r>
              <a:rPr lang="en-US" sz="4999" i="1" dirty="0" err="1">
                <a:solidFill>
                  <a:srgbClr val="FFFFFF"/>
                </a:solidFill>
                <a:latin typeface="Open Sans Italics"/>
                <a:ea typeface="Open Sans Italics"/>
                <a:cs typeface="Open Sans Italics"/>
                <a:sym typeface="Open Sans Italics"/>
              </a:rPr>
              <a:t>menjadi</a:t>
            </a:r>
            <a:r>
              <a:rPr lang="en-US" sz="4999" i="1" dirty="0">
                <a:solidFill>
                  <a:srgbClr val="FFFFFF"/>
                </a:solidFill>
                <a:latin typeface="Open Sans Italics"/>
                <a:ea typeface="Open Sans Italics"/>
                <a:cs typeface="Open Sans Italics"/>
                <a:sym typeface="Open Sans Italics"/>
              </a:rPr>
              <a:t> </a:t>
            </a:r>
            <a:r>
              <a:rPr lang="en-US" sz="4999" i="1" dirty="0" err="1">
                <a:solidFill>
                  <a:srgbClr val="FFFFFF"/>
                </a:solidFill>
                <a:latin typeface="Open Sans Italics"/>
                <a:ea typeface="Open Sans Italics"/>
                <a:cs typeface="Open Sans Italics"/>
                <a:sym typeface="Open Sans Italics"/>
              </a:rPr>
              <a:t>teman</a:t>
            </a:r>
            <a:r>
              <a:rPr lang="en-US" sz="4999" i="1" dirty="0">
                <a:solidFill>
                  <a:srgbClr val="FFFFFF"/>
                </a:solidFill>
                <a:latin typeface="Open Sans Italics"/>
                <a:ea typeface="Open Sans Italics"/>
                <a:cs typeface="Open Sans Italics"/>
                <a:sym typeface="Open Sans Italics"/>
              </a:rPr>
              <a:t> yang </a:t>
            </a:r>
            <a:r>
              <a:rPr lang="en-US" sz="4999" i="1" dirty="0" err="1">
                <a:solidFill>
                  <a:srgbClr val="FFFFFF"/>
                </a:solidFill>
                <a:latin typeface="Open Sans Italics"/>
                <a:ea typeface="Open Sans Italics"/>
                <a:cs typeface="Open Sans Italics"/>
                <a:sym typeface="Open Sans Italics"/>
              </a:rPr>
              <a:t>lebih</a:t>
            </a:r>
            <a:r>
              <a:rPr lang="en-US" sz="4999" i="1" dirty="0">
                <a:solidFill>
                  <a:srgbClr val="FFFFFF"/>
                </a:solidFill>
                <a:latin typeface="Open Sans Italics"/>
                <a:ea typeface="Open Sans Italics"/>
                <a:cs typeface="Open Sans Italics"/>
                <a:sym typeface="Open Sans Italics"/>
              </a:rPr>
              <a:t> </a:t>
            </a:r>
            <a:r>
              <a:rPr lang="en-US" sz="4999" i="1" dirty="0" err="1">
                <a:solidFill>
                  <a:srgbClr val="FFFFFF"/>
                </a:solidFill>
                <a:latin typeface="Open Sans Italics"/>
                <a:ea typeface="Open Sans Italics"/>
                <a:cs typeface="Open Sans Italics"/>
                <a:sym typeface="Open Sans Italics"/>
              </a:rPr>
              <a:t>baik</a:t>
            </a:r>
            <a:r>
              <a:rPr lang="en-US" sz="4999" i="1" dirty="0">
                <a:solidFill>
                  <a:srgbClr val="FFFFFF"/>
                </a:solidFill>
                <a:latin typeface="Open Sans Italics"/>
                <a:ea typeface="Open Sans Italics"/>
                <a:cs typeface="Open Sans Italics"/>
                <a:sym typeface="Open Sans Italics"/>
              </a:rPr>
              <a:t>!'</a:t>
            </a:r>
          </a:p>
          <a:p>
            <a:pPr algn="ctr">
              <a:lnSpc>
                <a:spcPts val="6999"/>
              </a:lnSpc>
            </a:pPr>
            <a:endParaRPr lang="en-US" sz="4999" i="1" dirty="0">
              <a:solidFill>
                <a:srgbClr val="FFFFFF"/>
              </a:solidFill>
              <a:latin typeface="Open Sans Italics"/>
              <a:ea typeface="Open Sans Italics"/>
              <a:cs typeface="Open Sans Italics"/>
              <a:sym typeface="Open Sans Italics"/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687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4347268" y="3021546"/>
            <a:ext cx="9593464" cy="216640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7714"/>
              </a:lnSpc>
            </a:pPr>
            <a:r>
              <a:rPr lang="en-US" sz="12653">
                <a:solidFill>
                  <a:srgbClr val="FFFFFF"/>
                </a:solidFill>
                <a:latin typeface="Francois One"/>
                <a:ea typeface="Francois One"/>
                <a:cs typeface="Francois One"/>
                <a:sym typeface="Francois One"/>
              </a:rPr>
              <a:t>TERIMA KASIH</a:t>
            </a:r>
          </a:p>
        </p:txBody>
      </p:sp>
      <p:sp>
        <p:nvSpPr>
          <p:cNvPr id="3" name="TextBox 3"/>
          <p:cNvSpPr txBox="1"/>
          <p:nvPr/>
        </p:nvSpPr>
        <p:spPr>
          <a:xfrm>
            <a:off x="5460454" y="5140327"/>
            <a:ext cx="7645946" cy="422275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3499"/>
              </a:lnSpc>
              <a:spcBef>
                <a:spcPct val="0"/>
              </a:spcBef>
            </a:pPr>
            <a:r>
              <a:rPr lang="en-US" sz="2499" b="1" i="1" dirty="0">
                <a:solidFill>
                  <a:srgbClr val="FFFFFF"/>
                </a:solidFill>
                <a:latin typeface="Open Sans Bold Italics"/>
                <a:ea typeface="Open Sans Bold Italics"/>
                <a:cs typeface="Open Sans Bold Italics"/>
                <a:sym typeface="Open Sans Bold Italics"/>
              </a:rPr>
              <a:t>“</a:t>
            </a:r>
            <a:r>
              <a:rPr lang="en-US" sz="2499" b="1" i="1" dirty="0" err="1">
                <a:solidFill>
                  <a:srgbClr val="FFFFFF"/>
                </a:solidFill>
                <a:latin typeface="Open Sans Bold Italics"/>
                <a:ea typeface="Open Sans Bold Italics"/>
                <a:cs typeface="Open Sans Bold Italics"/>
                <a:sym typeface="Open Sans Bold Italics"/>
              </a:rPr>
              <a:t>Perubahan</a:t>
            </a:r>
            <a:r>
              <a:rPr lang="en-US" sz="2499" b="1" i="1" dirty="0">
                <a:solidFill>
                  <a:srgbClr val="FFFFFF"/>
                </a:solidFill>
                <a:latin typeface="Open Sans Bold Italics"/>
                <a:ea typeface="Open Sans Bold Italics"/>
                <a:cs typeface="Open Sans Bold Italics"/>
                <a:sym typeface="Open Sans Bold Italics"/>
              </a:rPr>
              <a:t> </a:t>
            </a:r>
            <a:r>
              <a:rPr lang="en-US" sz="2499" b="1" i="1" dirty="0" err="1">
                <a:solidFill>
                  <a:srgbClr val="FFFFFF"/>
                </a:solidFill>
                <a:latin typeface="Open Sans Bold Italics"/>
                <a:ea typeface="Open Sans Bold Italics"/>
                <a:cs typeface="Open Sans Bold Italics"/>
                <a:sym typeface="Open Sans Bold Italics"/>
              </a:rPr>
              <a:t>besar</a:t>
            </a:r>
            <a:r>
              <a:rPr lang="en-US" sz="2499" b="1" i="1" dirty="0">
                <a:solidFill>
                  <a:srgbClr val="FFFFFF"/>
                </a:solidFill>
                <a:latin typeface="Open Sans Bold Italics"/>
                <a:ea typeface="Open Sans Bold Italics"/>
                <a:cs typeface="Open Sans Bold Italics"/>
                <a:sym typeface="Open Sans Bold Italics"/>
              </a:rPr>
              <a:t> </a:t>
            </a:r>
            <a:r>
              <a:rPr lang="en-US" sz="2499" b="1" i="1" dirty="0" err="1">
                <a:solidFill>
                  <a:srgbClr val="FFFFFF"/>
                </a:solidFill>
                <a:latin typeface="Open Sans Bold Italics"/>
                <a:ea typeface="Open Sans Bold Italics"/>
                <a:cs typeface="Open Sans Bold Italics"/>
                <a:sym typeface="Open Sans Bold Italics"/>
              </a:rPr>
              <a:t>dimulai</a:t>
            </a:r>
            <a:r>
              <a:rPr lang="en-US" sz="2499" b="1" i="1" dirty="0">
                <a:solidFill>
                  <a:srgbClr val="FFFFFF"/>
                </a:solidFill>
                <a:latin typeface="Open Sans Bold Italics"/>
                <a:ea typeface="Open Sans Bold Italics"/>
                <a:cs typeface="Open Sans Bold Italics"/>
                <a:sym typeface="Open Sans Bold Italics"/>
              </a:rPr>
              <a:t> </a:t>
            </a:r>
            <a:r>
              <a:rPr lang="en-US" sz="2499" b="1" i="1" dirty="0" err="1">
                <a:solidFill>
                  <a:srgbClr val="FFFFFF"/>
                </a:solidFill>
                <a:latin typeface="Open Sans Bold Italics"/>
                <a:ea typeface="Open Sans Bold Italics"/>
                <a:cs typeface="Open Sans Bold Italics"/>
                <a:sym typeface="Open Sans Bold Italics"/>
              </a:rPr>
              <a:t>dari</a:t>
            </a:r>
            <a:r>
              <a:rPr lang="en-US" sz="2499" b="1" i="1" dirty="0">
                <a:solidFill>
                  <a:srgbClr val="FFFFFF"/>
                </a:solidFill>
                <a:latin typeface="Open Sans Bold Italics"/>
                <a:ea typeface="Open Sans Bold Italics"/>
                <a:cs typeface="Open Sans Bold Italics"/>
                <a:sym typeface="Open Sans Bold Italics"/>
              </a:rPr>
              <a:t> </a:t>
            </a:r>
            <a:r>
              <a:rPr lang="en-US" sz="2499" b="1" i="1" dirty="0" err="1">
                <a:solidFill>
                  <a:srgbClr val="FFFFFF"/>
                </a:solidFill>
                <a:latin typeface="Open Sans Bold Italics"/>
                <a:ea typeface="Open Sans Bold Italics"/>
                <a:cs typeface="Open Sans Bold Italics"/>
                <a:sym typeface="Open Sans Bold Italics"/>
              </a:rPr>
              <a:t>kepedulian</a:t>
            </a:r>
            <a:r>
              <a:rPr lang="en-US" sz="2499" b="1" i="1" dirty="0">
                <a:solidFill>
                  <a:srgbClr val="FFFFFF"/>
                </a:solidFill>
                <a:latin typeface="Open Sans Bold Italics"/>
                <a:ea typeface="Open Sans Bold Italics"/>
                <a:cs typeface="Open Sans Bold Italics"/>
                <a:sym typeface="Open Sans Bold Italics"/>
              </a:rPr>
              <a:t> </a:t>
            </a:r>
            <a:r>
              <a:rPr lang="en-US" sz="2499" b="1" i="1" dirty="0" err="1">
                <a:solidFill>
                  <a:srgbClr val="FFFFFF"/>
                </a:solidFill>
                <a:latin typeface="Open Sans Bold Italics"/>
                <a:ea typeface="Open Sans Bold Italics"/>
                <a:cs typeface="Open Sans Bold Italics"/>
                <a:sym typeface="Open Sans Bold Italics"/>
              </a:rPr>
              <a:t>kecil</a:t>
            </a:r>
            <a:r>
              <a:rPr lang="en-US" sz="2499" b="1" i="1" dirty="0">
                <a:solidFill>
                  <a:srgbClr val="FFFFFF"/>
                </a:solidFill>
                <a:latin typeface="Open Sans Bold Italics"/>
                <a:ea typeface="Open Sans Bold Italics"/>
                <a:cs typeface="Open Sans Bold Italics"/>
                <a:sym typeface="Open Sans Bold Italics"/>
              </a:rPr>
              <a:t>.”</a:t>
            </a:r>
          </a:p>
        </p:txBody>
      </p:sp>
      <p:sp>
        <p:nvSpPr>
          <p:cNvPr id="4" name="TextBox 4"/>
          <p:cNvSpPr txBox="1"/>
          <p:nvPr/>
        </p:nvSpPr>
        <p:spPr>
          <a:xfrm>
            <a:off x="2812901" y="6693160"/>
            <a:ext cx="12662198" cy="176586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499"/>
              </a:lnSpc>
            </a:pPr>
            <a:r>
              <a:rPr lang="en-US" sz="2499" dirty="0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Teman </a:t>
            </a:r>
            <a:r>
              <a:rPr lang="en-US" sz="2499" dirty="0" err="1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adalah</a:t>
            </a:r>
            <a:r>
              <a:rPr lang="en-US" sz="2499" dirty="0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 </a:t>
            </a:r>
            <a:r>
              <a:rPr lang="en-US" sz="2499" dirty="0" err="1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kawan</a:t>
            </a:r>
            <a:r>
              <a:rPr lang="en-US" sz="2499" dirty="0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 </a:t>
            </a:r>
            <a:r>
              <a:rPr lang="en-US" sz="2499" dirty="0" err="1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ketika</a:t>
            </a:r>
            <a:r>
              <a:rPr lang="en-US" sz="2499" dirty="0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 </a:t>
            </a:r>
            <a:r>
              <a:rPr lang="en-US" sz="2499" dirty="0" err="1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kita</a:t>
            </a:r>
            <a:r>
              <a:rPr lang="en-US" sz="2499" dirty="0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 </a:t>
            </a:r>
            <a:r>
              <a:rPr lang="en-US" sz="2499" dirty="0" err="1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ingin</a:t>
            </a:r>
            <a:r>
              <a:rPr lang="en-US" sz="2499" dirty="0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 </a:t>
            </a:r>
            <a:r>
              <a:rPr lang="en-US" sz="2499" dirty="0" err="1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berbagi</a:t>
            </a:r>
            <a:r>
              <a:rPr lang="en-US" sz="2499" dirty="0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 rasa,</a:t>
            </a:r>
          </a:p>
          <a:p>
            <a:pPr algn="ctr">
              <a:lnSpc>
                <a:spcPts val="3499"/>
              </a:lnSpc>
            </a:pPr>
            <a:r>
              <a:rPr lang="en-US" sz="2499" dirty="0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Teman </a:t>
            </a:r>
            <a:r>
              <a:rPr lang="en-US" sz="2499" dirty="0" err="1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adalah</a:t>
            </a:r>
            <a:r>
              <a:rPr lang="en-US" sz="2499" dirty="0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 </a:t>
            </a:r>
            <a:r>
              <a:rPr lang="en-US" sz="2499" dirty="0" err="1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lawan</a:t>
            </a:r>
            <a:r>
              <a:rPr lang="en-US" sz="2499" dirty="0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 </a:t>
            </a:r>
            <a:r>
              <a:rPr lang="en-US" sz="2499" dirty="0" err="1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ketika</a:t>
            </a:r>
            <a:r>
              <a:rPr lang="en-US" sz="2499" dirty="0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 </a:t>
            </a:r>
            <a:r>
              <a:rPr lang="en-US" sz="2499" dirty="0" err="1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kita</a:t>
            </a:r>
            <a:r>
              <a:rPr lang="en-US" sz="2499" dirty="0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 </a:t>
            </a:r>
            <a:r>
              <a:rPr lang="en-US" sz="2499" dirty="0" err="1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ingin</a:t>
            </a:r>
            <a:r>
              <a:rPr lang="en-US" sz="2499" dirty="0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 </a:t>
            </a:r>
            <a:r>
              <a:rPr lang="en-US" sz="2499" dirty="0" err="1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berbagi</a:t>
            </a:r>
            <a:r>
              <a:rPr lang="en-US" sz="2499" dirty="0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 </a:t>
            </a:r>
            <a:r>
              <a:rPr lang="en-US" sz="2499" dirty="0" err="1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cerita</a:t>
            </a:r>
            <a:r>
              <a:rPr lang="en-US" sz="2499" dirty="0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,</a:t>
            </a:r>
          </a:p>
          <a:p>
            <a:pPr algn="ctr">
              <a:lnSpc>
                <a:spcPts val="3499"/>
              </a:lnSpc>
            </a:pPr>
            <a:r>
              <a:rPr lang="en-US" sz="2499" dirty="0" err="1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Pemilik</a:t>
            </a:r>
            <a:r>
              <a:rPr lang="en-US" sz="2499" dirty="0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 </a:t>
            </a:r>
            <a:r>
              <a:rPr lang="en-US" sz="2499" dirty="0" err="1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pertemanan</a:t>
            </a:r>
            <a:r>
              <a:rPr lang="en-US" sz="2499" dirty="0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 </a:t>
            </a:r>
            <a:r>
              <a:rPr lang="en-US" sz="2499" dirty="0" err="1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sejati</a:t>
            </a:r>
            <a:r>
              <a:rPr lang="en-US" sz="2499" dirty="0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 </a:t>
            </a:r>
            <a:r>
              <a:rPr lang="en-US" sz="2499" dirty="0" err="1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adalah</a:t>
            </a:r>
            <a:r>
              <a:rPr lang="en-US" sz="2499" dirty="0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 </a:t>
            </a:r>
            <a:r>
              <a:rPr lang="en-US" sz="2499" dirty="0" err="1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mereka</a:t>
            </a:r>
            <a:r>
              <a:rPr lang="en-US" sz="2499" dirty="0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 yang </a:t>
            </a:r>
            <a:r>
              <a:rPr lang="en-US" sz="2499" dirty="0" err="1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selalu</a:t>
            </a:r>
            <a:r>
              <a:rPr lang="en-US" sz="2499" dirty="0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 </a:t>
            </a:r>
            <a:r>
              <a:rPr lang="en-US" sz="2499" dirty="0" err="1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memandang</a:t>
            </a:r>
            <a:r>
              <a:rPr lang="en-US" sz="2499" dirty="0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 </a:t>
            </a:r>
            <a:r>
              <a:rPr lang="en-US" sz="2499" dirty="0" err="1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teman</a:t>
            </a:r>
            <a:r>
              <a:rPr lang="en-US" sz="2499" dirty="0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 </a:t>
            </a:r>
            <a:r>
              <a:rPr lang="en-US" sz="2499" dirty="0" err="1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dari</a:t>
            </a:r>
            <a:r>
              <a:rPr lang="en-US" sz="2499" dirty="0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 </a:t>
            </a:r>
            <a:r>
              <a:rPr lang="en-US" sz="2499" dirty="0" err="1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nurani</a:t>
            </a:r>
            <a:r>
              <a:rPr lang="en-US" sz="2499" dirty="0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,</a:t>
            </a:r>
          </a:p>
          <a:p>
            <a:pPr algn="ctr">
              <a:lnSpc>
                <a:spcPts val="3499"/>
              </a:lnSpc>
              <a:spcBef>
                <a:spcPct val="0"/>
              </a:spcBef>
            </a:pPr>
            <a:r>
              <a:rPr lang="en-US" sz="2499" dirty="0" err="1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Tanpa</a:t>
            </a:r>
            <a:r>
              <a:rPr lang="en-US" sz="2499" dirty="0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 </a:t>
            </a:r>
            <a:r>
              <a:rPr lang="en-US" sz="2499" dirty="0" err="1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memandang</a:t>
            </a:r>
            <a:r>
              <a:rPr lang="en-US" sz="2499" dirty="0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 </a:t>
            </a:r>
            <a:r>
              <a:rPr lang="en-US" sz="2499" dirty="0" err="1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teman</a:t>
            </a:r>
            <a:r>
              <a:rPr lang="en-US" sz="2499" dirty="0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 </a:t>
            </a:r>
            <a:r>
              <a:rPr lang="en-US" sz="2499" dirty="0" err="1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dari</a:t>
            </a:r>
            <a:r>
              <a:rPr lang="en-US" sz="2499" dirty="0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 </a:t>
            </a:r>
            <a:r>
              <a:rPr lang="en-US" sz="2499" dirty="0" err="1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materi</a:t>
            </a:r>
            <a:endParaRPr lang="en-US" sz="2499" dirty="0">
              <a:solidFill>
                <a:srgbClr val="FFFFFF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194</TotalTime>
  <Words>654</Words>
  <Application>Microsoft Office PowerPoint</Application>
  <PresentationFormat>Kustom</PresentationFormat>
  <Paragraphs>86</Paragraphs>
  <Slides>16</Slides>
  <Notes>0</Notes>
  <HiddenSlides>0</HiddenSlides>
  <MMClips>0</MMClips>
  <ScaleCrop>false</ScaleCrop>
  <HeadingPairs>
    <vt:vector size="6" baseType="variant">
      <vt:variant>
        <vt:lpstr>Font Dipakai</vt:lpstr>
      </vt:variant>
      <vt:variant>
        <vt:i4>10</vt:i4>
      </vt:variant>
      <vt:variant>
        <vt:lpstr>Tema</vt:lpstr>
      </vt:variant>
      <vt:variant>
        <vt:i4>1</vt:i4>
      </vt:variant>
      <vt:variant>
        <vt:lpstr>Judul Slide</vt:lpstr>
      </vt:variant>
      <vt:variant>
        <vt:i4>16</vt:i4>
      </vt:variant>
    </vt:vector>
  </HeadingPairs>
  <TitlesOfParts>
    <vt:vector size="27" baseType="lpstr">
      <vt:lpstr>Barlow</vt:lpstr>
      <vt:lpstr>Calibri</vt:lpstr>
      <vt:lpstr>Open Sans Italics</vt:lpstr>
      <vt:lpstr>Open Sans</vt:lpstr>
      <vt:lpstr>Open Sans Bold</vt:lpstr>
      <vt:lpstr>Barlow Bold</vt:lpstr>
      <vt:lpstr>Open Sans Bold Italics</vt:lpstr>
      <vt:lpstr>Francois One</vt:lpstr>
      <vt:lpstr>Arial</vt:lpstr>
      <vt:lpstr>Intro Rust</vt:lpstr>
      <vt:lpstr>Office Theme</vt:lpstr>
      <vt:lpstr>Presentasi PowerPoint</vt:lpstr>
      <vt:lpstr>Presentasi PowerPoint</vt:lpstr>
      <vt:lpstr>Presentasi PowerPoint</vt:lpstr>
      <vt:lpstr>Presentasi PowerPoint</vt:lpstr>
      <vt:lpstr>Presentasi PowerPoint</vt:lpstr>
      <vt:lpstr>Presentasi PowerPoint</vt:lpstr>
      <vt:lpstr>Presentasi PowerPoint</vt:lpstr>
      <vt:lpstr>Presentasi PowerPoint</vt:lpstr>
      <vt:lpstr>Presentasi PowerPoint</vt:lpstr>
      <vt:lpstr>Presentasi PowerPoint</vt:lpstr>
      <vt:lpstr>Presentasi PowerPoint</vt:lpstr>
      <vt:lpstr>Presentasi PowerPoint</vt:lpstr>
      <vt:lpstr>Presentasi PowerPoint</vt:lpstr>
      <vt:lpstr>Presentasi PowerPoint</vt:lpstr>
      <vt:lpstr>Presentasi PowerPoint</vt:lpstr>
      <vt:lpstr>Presentasi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Salinan dari AKU PEDULI, AKU BERPERAN</dc:title>
  <cp:lastModifiedBy>Supriadi J</cp:lastModifiedBy>
  <cp:revision>2</cp:revision>
  <dcterms:created xsi:type="dcterms:W3CDTF">2006-08-16T00:00:00Z</dcterms:created>
  <dcterms:modified xsi:type="dcterms:W3CDTF">2026-06-08T06:45:50Z</dcterms:modified>
  <dc:identifier>DAHLyHfYk5g</dc:identifier>
</cp:coreProperties>
</file>